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ad072385fe895d9531147e609011b2780b2b348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91828"/>
            <a:ext cx="3086100" cy="419100"/>
          </a:xfrm>
          <a:custGeom>
            <a:avLst/>
            <a:gdLst/>
            <a:ahLst/>
            <a:cxnLst/>
            <a:rect l="l" t="t" r="r" b="b"/>
            <a:pathLst>
              <a:path w="3086100" h="419100">
                <a:moveTo>
                  <a:pt x="0" y="0"/>
                </a:moveTo>
                <a:lnTo>
                  <a:pt x="3086100" y="0"/>
                </a:lnTo>
                <a:lnTo>
                  <a:pt x="3086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91828"/>
            <a:ext cx="3152775" cy="4191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PERFORMANCE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15728"/>
            <a:ext cx="899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Blinkit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Sales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49328"/>
            <a:ext cx="65436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5F3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 for Strategic Growth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3863" y="50899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5070872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 Hathim Manaf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71455" y="508992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428643" y="50899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2" name="Text 9"/>
          <p:cNvSpPr/>
          <p:nvPr/>
        </p:nvSpPr>
        <p:spPr>
          <a:xfrm>
            <a:off x="3785830" y="5070872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4" name="Text 11"/>
          <p:cNvSpPr/>
          <p:nvPr/>
        </p:nvSpPr>
        <p:spPr>
          <a:xfrm>
            <a:off x="647700" y="6248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Analysis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043470" y="62865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310170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7" name="Text 14"/>
          <p:cNvSpPr/>
          <p:nvPr/>
        </p:nvSpPr>
        <p:spPr>
          <a:xfrm>
            <a:off x="2548295" y="62484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8,523 Items Tracked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107418" y="62865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3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364593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138" y="21521"/>
                </a:moveTo>
                <a:cubicBezTo>
                  <a:pt x="11192" y="14407"/>
                  <a:pt x="17711" y="9525"/>
                  <a:pt x="25122" y="9525"/>
                </a:cubicBezTo>
                <a:lnTo>
                  <a:pt x="127516" y="9525"/>
                </a:lnTo>
                <a:cubicBezTo>
                  <a:pt x="134928" y="9525"/>
                  <a:pt x="141446" y="14407"/>
                  <a:pt x="143530" y="21521"/>
                </a:cubicBezTo>
                <a:lnTo>
                  <a:pt x="150495" y="45393"/>
                </a:lnTo>
                <a:cubicBezTo>
                  <a:pt x="154305" y="58400"/>
                  <a:pt x="144512" y="71438"/>
                  <a:pt x="130969" y="71438"/>
                </a:cubicBezTo>
                <a:cubicBezTo>
                  <a:pt x="123140" y="71438"/>
                  <a:pt x="116265" y="67002"/>
                  <a:pt x="112871" y="60394"/>
                </a:cubicBezTo>
                <a:cubicBezTo>
                  <a:pt x="109418" y="66913"/>
                  <a:pt x="102572" y="71438"/>
                  <a:pt x="94595" y="71438"/>
                </a:cubicBezTo>
                <a:cubicBezTo>
                  <a:pt x="86678" y="71438"/>
                  <a:pt x="79802" y="66973"/>
                  <a:pt x="76349" y="60424"/>
                </a:cubicBezTo>
                <a:cubicBezTo>
                  <a:pt x="72896" y="66973"/>
                  <a:pt x="66020" y="71438"/>
                  <a:pt x="58103" y="71438"/>
                </a:cubicBezTo>
                <a:cubicBezTo>
                  <a:pt x="50125" y="71438"/>
                  <a:pt x="43279" y="66943"/>
                  <a:pt x="39826" y="60394"/>
                </a:cubicBezTo>
                <a:cubicBezTo>
                  <a:pt x="36433" y="66973"/>
                  <a:pt x="29557" y="71438"/>
                  <a:pt x="21729" y="71438"/>
                </a:cubicBezTo>
                <a:cubicBezTo>
                  <a:pt x="8156" y="71438"/>
                  <a:pt x="-1607" y="58430"/>
                  <a:pt x="2203" y="45393"/>
                </a:cubicBezTo>
                <a:lnTo>
                  <a:pt x="9138" y="21521"/>
                </a:lnTo>
                <a:close/>
                <a:moveTo>
                  <a:pt x="28694" y="104775"/>
                </a:moveTo>
                <a:lnTo>
                  <a:pt x="123944" y="104775"/>
                </a:lnTo>
                <a:lnTo>
                  <a:pt x="123944" y="85011"/>
                </a:lnTo>
                <a:cubicBezTo>
                  <a:pt x="126206" y="85487"/>
                  <a:pt x="128558" y="85725"/>
                  <a:pt x="130939" y="85725"/>
                </a:cubicBezTo>
                <a:cubicBezTo>
                  <a:pt x="135195" y="85725"/>
                  <a:pt x="139273" y="84951"/>
                  <a:pt x="142994" y="83582"/>
                </a:cubicBezTo>
                <a:lnTo>
                  <a:pt x="142994" y="128588"/>
                </a:lnTo>
                <a:cubicBezTo>
                  <a:pt x="142994" y="136475"/>
                  <a:pt x="136594" y="142875"/>
                  <a:pt x="128707" y="142875"/>
                </a:cubicBezTo>
                <a:lnTo>
                  <a:pt x="23932" y="142875"/>
                </a:lnTo>
                <a:cubicBezTo>
                  <a:pt x="16044" y="142875"/>
                  <a:pt x="9644" y="136475"/>
                  <a:pt x="9644" y="128588"/>
                </a:cubicBezTo>
                <a:lnTo>
                  <a:pt x="9644" y="83582"/>
                </a:lnTo>
                <a:cubicBezTo>
                  <a:pt x="13365" y="84951"/>
                  <a:pt x="17413" y="85725"/>
                  <a:pt x="21699" y="85725"/>
                </a:cubicBezTo>
                <a:cubicBezTo>
                  <a:pt x="24110" y="85725"/>
                  <a:pt x="26432" y="85487"/>
                  <a:pt x="28694" y="85011"/>
                </a:cubicBezTo>
                <a:lnTo>
                  <a:pt x="28694" y="104775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0" name="Text 17"/>
          <p:cNvSpPr/>
          <p:nvPr/>
        </p:nvSpPr>
        <p:spPr>
          <a:xfrm>
            <a:off x="4612243" y="62484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Multi-Outlet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426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Executive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5181720"/>
            <a:ext cx="3790950" cy="1295400"/>
          </a:xfrm>
          <a:custGeom>
            <a:avLst/>
            <a:gdLst/>
            <a:ahLst/>
            <a:cxnLst/>
            <a:rect l="l" t="t" r="r" b="b"/>
            <a:pathLst>
              <a:path w="3790950" h="1295400">
                <a:moveTo>
                  <a:pt x="0" y="0"/>
                </a:moveTo>
                <a:lnTo>
                  <a:pt x="3790950" y="0"/>
                </a:lnTo>
                <a:lnTo>
                  <a:pt x="37909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518172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541032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 Sections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" y="5791200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3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across all key business dimensions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14850" y="3810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14850" y="3810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0" name="Shape 8"/>
          <p:cNvSpPr/>
          <p:nvPr/>
        </p:nvSpPr>
        <p:spPr>
          <a:xfrm>
            <a:off x="4686300" y="857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1" name="Text 9"/>
          <p:cNvSpPr/>
          <p:nvPr/>
        </p:nvSpPr>
        <p:spPr>
          <a:xfrm>
            <a:off x="4822269" y="933450"/>
            <a:ext cx="29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841772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1146572"/>
            <a:ext cx="1609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 &amp; requirements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48650" y="3810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8650" y="3810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0100" y="857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876" y="9334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91600" y="841772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91600" y="1146572"/>
            <a:ext cx="1905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scope &amp;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14850" y="19431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14850" y="1943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2419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955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240387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7800" y="2708672"/>
            <a:ext cx="1447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at a glance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48650" y="19431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48650" y="1943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420100" y="2419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9161" y="249555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91600" y="2403872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Performance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91600" y="2708672"/>
            <a:ext cx="1533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14850" y="35052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14850" y="35052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34" name="Shape 32"/>
          <p:cNvSpPr/>
          <p:nvPr/>
        </p:nvSpPr>
        <p:spPr>
          <a:xfrm>
            <a:off x="46863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1672" y="40576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57800" y="3965972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Product Insights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57800" y="4270772"/>
            <a:ext cx="1362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performance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8650" y="35052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48650" y="35052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0" name="Shape 38"/>
          <p:cNvSpPr/>
          <p:nvPr/>
        </p:nvSpPr>
        <p:spPr>
          <a:xfrm>
            <a:off x="84201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1" name="Text 39"/>
          <p:cNvSpPr/>
          <p:nvPr/>
        </p:nvSpPr>
        <p:spPr>
          <a:xfrm>
            <a:off x="8532614" y="40576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91600" y="3965972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Outlet Segmentation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91600" y="4270772"/>
            <a:ext cx="171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Size, tier &amp; type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14850" y="50673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514850" y="50673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6" name="Shape 44"/>
          <p:cNvSpPr/>
          <p:nvPr/>
        </p:nvSpPr>
        <p:spPr>
          <a:xfrm>
            <a:off x="4686300" y="554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7" name="Text 45"/>
          <p:cNvSpPr/>
          <p:nvPr/>
        </p:nvSpPr>
        <p:spPr>
          <a:xfrm>
            <a:off x="4804767" y="561975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257800" y="5528072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Temporal Trends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57800" y="5832872"/>
            <a:ext cx="1457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Year-over-year analysis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48650" y="5067300"/>
            <a:ext cx="3562350" cy="1409700"/>
          </a:xfrm>
          <a:custGeom>
            <a:avLst/>
            <a:gdLst/>
            <a:ahLst/>
            <a:cxnLst/>
            <a:rect l="l" t="t" r="r" b="b"/>
            <a:pathLst>
              <a:path w="3562350" h="1409700">
                <a:moveTo>
                  <a:pt x="0" y="0"/>
                </a:moveTo>
                <a:lnTo>
                  <a:pt x="3562350" y="0"/>
                </a:lnTo>
                <a:lnTo>
                  <a:pt x="3562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248650" y="50673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52" name="Shape 50"/>
          <p:cNvSpPr/>
          <p:nvPr/>
        </p:nvSpPr>
        <p:spPr>
          <a:xfrm>
            <a:off x="8420100" y="554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53" name="Text 51"/>
          <p:cNvSpPr/>
          <p:nvPr/>
        </p:nvSpPr>
        <p:spPr>
          <a:xfrm>
            <a:off x="8530947" y="561975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91600" y="5528072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91600" y="5832872"/>
            <a:ext cx="1552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Context &amp; Analysis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52550"/>
            <a:ext cx="5619750" cy="2990850"/>
          </a:xfrm>
          <a:custGeom>
            <a:avLst/>
            <a:gdLst/>
            <a:ahLst/>
            <a:cxnLst/>
            <a:rect l="l" t="t" r="r" b="b"/>
            <a:pathLst>
              <a:path w="5619750" h="2990850">
                <a:moveTo>
                  <a:pt x="0" y="0"/>
                </a:moveTo>
                <a:lnTo>
                  <a:pt x="5619750" y="0"/>
                </a:lnTo>
                <a:lnTo>
                  <a:pt x="5619750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52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0" y="0"/>
                </a:moveTo>
                <a:lnTo>
                  <a:pt x="5619750" y="0"/>
                </a:lnTo>
                <a:lnTo>
                  <a:pt x="56197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600200"/>
            <a:ext cx="2457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Requirement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86000"/>
            <a:ext cx="5248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Blinkit needs to understand which products, outlet types, and locations contribute the most to sales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order to optimize critical business operations.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5319" y="329326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7443" y="47625"/>
                </a:moveTo>
                <a:lnTo>
                  <a:pt x="124681" y="29766"/>
                </a:lnTo>
                <a:lnTo>
                  <a:pt x="42044" y="29766"/>
                </a:lnTo>
                <a:lnTo>
                  <a:pt x="29282" y="47625"/>
                </a:lnTo>
                <a:lnTo>
                  <a:pt x="137443" y="47625"/>
                </a:lnTo>
                <a:close/>
                <a:moveTo>
                  <a:pt x="0" y="55252"/>
                </a:moveTo>
                <a:cubicBezTo>
                  <a:pt x="0" y="50304"/>
                  <a:pt x="1563" y="45467"/>
                  <a:pt x="4428" y="41411"/>
                </a:cubicBezTo>
                <a:lnTo>
                  <a:pt x="22659" y="15925"/>
                </a:lnTo>
                <a:cubicBezTo>
                  <a:pt x="27124" y="9674"/>
                  <a:pt x="34342" y="5953"/>
                  <a:pt x="42007" y="5953"/>
                </a:cubicBezTo>
                <a:lnTo>
                  <a:pt x="124644" y="5953"/>
                </a:lnTo>
                <a:cubicBezTo>
                  <a:pt x="132345" y="5953"/>
                  <a:pt x="139564" y="9674"/>
                  <a:pt x="144028" y="15925"/>
                </a:cubicBezTo>
                <a:lnTo>
                  <a:pt x="162223" y="41411"/>
                </a:lnTo>
                <a:cubicBezTo>
                  <a:pt x="165125" y="45467"/>
                  <a:pt x="166650" y="50304"/>
                  <a:pt x="166650" y="55252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525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3274219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planning optimization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59806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579019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Outlet strategy refinement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90286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" y="3883819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decisions support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0" y="1352550"/>
            <a:ext cx="5619750" cy="2990850"/>
          </a:xfrm>
          <a:custGeom>
            <a:avLst/>
            <a:gdLst/>
            <a:ahLst/>
            <a:cxnLst/>
            <a:rect l="l" t="t" r="r" b="b"/>
            <a:pathLst>
              <a:path w="5619750" h="2990850">
                <a:moveTo>
                  <a:pt x="0" y="0"/>
                </a:moveTo>
                <a:lnTo>
                  <a:pt x="5619750" y="0"/>
                </a:lnTo>
                <a:lnTo>
                  <a:pt x="5619750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1250" y="1352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0" y="0"/>
                </a:moveTo>
                <a:lnTo>
                  <a:pt x="5619750" y="0"/>
                </a:lnTo>
                <a:lnTo>
                  <a:pt x="56197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985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225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0" name="Text 18"/>
          <p:cNvSpPr/>
          <p:nvPr/>
        </p:nvSpPr>
        <p:spPr>
          <a:xfrm>
            <a:off x="7105650" y="1600200"/>
            <a:ext cx="2143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Analysis Objectives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850" y="2286000"/>
            <a:ext cx="5248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analyze comprehensive sales data and identify high-performing segments across multiple business dimensions.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9850" y="2995613"/>
            <a:ext cx="1647825" cy="723900"/>
          </a:xfrm>
          <a:custGeom>
            <a:avLst/>
            <a:gdLst/>
            <a:ahLst/>
            <a:cxnLst/>
            <a:rect l="l" t="t" r="r" b="b"/>
            <a:pathLst>
              <a:path w="1647825" h="723900">
                <a:moveTo>
                  <a:pt x="0" y="0"/>
                </a:moveTo>
                <a:lnTo>
                  <a:pt x="1647825" y="0"/>
                </a:lnTo>
                <a:lnTo>
                  <a:pt x="16478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142083" y="310991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50006"/>
                </a:moveTo>
                <a:cubicBezTo>
                  <a:pt x="96083" y="50006"/>
                  <a:pt x="92869" y="46792"/>
                  <a:pt x="92869" y="42863"/>
                </a:cubicBezTo>
                <a:lnTo>
                  <a:pt x="92869" y="35719"/>
                </a:lnTo>
                <a:cubicBezTo>
                  <a:pt x="92869" y="15984"/>
                  <a:pt x="108853" y="0"/>
                  <a:pt x="128588" y="0"/>
                </a:cubicBezTo>
                <a:lnTo>
                  <a:pt x="135731" y="0"/>
                </a:lnTo>
                <a:cubicBezTo>
                  <a:pt x="139660" y="0"/>
                  <a:pt x="142875" y="3215"/>
                  <a:pt x="142875" y="7144"/>
                </a:cubicBezTo>
                <a:lnTo>
                  <a:pt x="142875" y="14288"/>
                </a:lnTo>
                <a:cubicBezTo>
                  <a:pt x="142875" y="34022"/>
                  <a:pt x="126891" y="50006"/>
                  <a:pt x="107156" y="50006"/>
                </a:cubicBezTo>
                <a:lnTo>
                  <a:pt x="100013" y="50006"/>
                </a:lnTo>
                <a:close/>
                <a:moveTo>
                  <a:pt x="0" y="128588"/>
                </a:moveTo>
                <a:cubicBezTo>
                  <a:pt x="0" y="94521"/>
                  <a:pt x="15939" y="57150"/>
                  <a:pt x="50006" y="57150"/>
                </a:cubicBezTo>
                <a:cubicBezTo>
                  <a:pt x="62195" y="57150"/>
                  <a:pt x="76661" y="61749"/>
                  <a:pt x="86931" y="65767"/>
                </a:cubicBezTo>
                <a:cubicBezTo>
                  <a:pt x="95324" y="69026"/>
                  <a:pt x="104745" y="69026"/>
                  <a:pt x="113139" y="65767"/>
                </a:cubicBezTo>
                <a:cubicBezTo>
                  <a:pt x="123364" y="61793"/>
                  <a:pt x="137874" y="57150"/>
                  <a:pt x="150063" y="57150"/>
                </a:cubicBezTo>
                <a:cubicBezTo>
                  <a:pt x="184130" y="57150"/>
                  <a:pt x="200070" y="94521"/>
                  <a:pt x="200070" y="128588"/>
                </a:cubicBezTo>
                <a:cubicBezTo>
                  <a:pt x="200070" y="185738"/>
                  <a:pt x="164351" y="228600"/>
                  <a:pt x="128632" y="228600"/>
                </a:cubicBezTo>
                <a:cubicBezTo>
                  <a:pt x="121265" y="228600"/>
                  <a:pt x="111621" y="225653"/>
                  <a:pt x="105638" y="223555"/>
                </a:cubicBezTo>
                <a:cubicBezTo>
                  <a:pt x="102022" y="222305"/>
                  <a:pt x="98093" y="222305"/>
                  <a:pt x="94476" y="223555"/>
                </a:cubicBezTo>
                <a:cubicBezTo>
                  <a:pt x="88493" y="225653"/>
                  <a:pt x="78849" y="228600"/>
                  <a:pt x="71482" y="228600"/>
                </a:cubicBezTo>
                <a:cubicBezTo>
                  <a:pt x="35763" y="228600"/>
                  <a:pt x="45" y="185738"/>
                  <a:pt x="45" y="128588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4" name="Text 22"/>
          <p:cNvSpPr/>
          <p:nvPr/>
        </p:nvSpPr>
        <p:spPr>
          <a:xfrm>
            <a:off x="6500813" y="3414713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Categories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78761" y="2995613"/>
            <a:ext cx="1647825" cy="723900"/>
          </a:xfrm>
          <a:custGeom>
            <a:avLst/>
            <a:gdLst/>
            <a:ahLst/>
            <a:cxnLst/>
            <a:rect l="l" t="t" r="r" b="b"/>
            <a:pathLst>
              <a:path w="1647825" h="723900">
                <a:moveTo>
                  <a:pt x="0" y="0"/>
                </a:moveTo>
                <a:lnTo>
                  <a:pt x="1647825" y="0"/>
                </a:lnTo>
                <a:lnTo>
                  <a:pt x="16478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8886706" y="31099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707" y="32281"/>
                </a:moveTo>
                <a:cubicBezTo>
                  <a:pt x="16788" y="21610"/>
                  <a:pt x="26566" y="14288"/>
                  <a:pt x="37683" y="14288"/>
                </a:cubicBezTo>
                <a:lnTo>
                  <a:pt x="191274" y="14288"/>
                </a:lnTo>
                <a:cubicBezTo>
                  <a:pt x="202391" y="14288"/>
                  <a:pt x="212169" y="21610"/>
                  <a:pt x="215295" y="32281"/>
                </a:cubicBezTo>
                <a:lnTo>
                  <a:pt x="225743" y="68089"/>
                </a:lnTo>
                <a:cubicBezTo>
                  <a:pt x="231458" y="87600"/>
                  <a:pt x="216768" y="107156"/>
                  <a:pt x="196453" y="107156"/>
                </a:cubicBezTo>
                <a:cubicBezTo>
                  <a:pt x="184711" y="107156"/>
                  <a:pt x="174397" y="100504"/>
                  <a:pt x="169307" y="90592"/>
                </a:cubicBezTo>
                <a:cubicBezTo>
                  <a:pt x="164128" y="100370"/>
                  <a:pt x="153859" y="107156"/>
                  <a:pt x="141893" y="107156"/>
                </a:cubicBezTo>
                <a:cubicBezTo>
                  <a:pt x="130016" y="107156"/>
                  <a:pt x="119702" y="100459"/>
                  <a:pt x="114523" y="90636"/>
                </a:cubicBezTo>
                <a:cubicBezTo>
                  <a:pt x="109344" y="100459"/>
                  <a:pt x="99030" y="107156"/>
                  <a:pt x="87154" y="107156"/>
                </a:cubicBezTo>
                <a:cubicBezTo>
                  <a:pt x="75188" y="107156"/>
                  <a:pt x="64919" y="100414"/>
                  <a:pt x="59740" y="90592"/>
                </a:cubicBezTo>
                <a:cubicBezTo>
                  <a:pt x="54650" y="100459"/>
                  <a:pt x="44336" y="107156"/>
                  <a:pt x="32593" y="107156"/>
                </a:cubicBezTo>
                <a:cubicBezTo>
                  <a:pt x="12234" y="107156"/>
                  <a:pt x="-2411" y="87645"/>
                  <a:pt x="3304" y="68089"/>
                </a:cubicBezTo>
                <a:lnTo>
                  <a:pt x="13707" y="32281"/>
                </a:lnTo>
                <a:close/>
                <a:moveTo>
                  <a:pt x="43041" y="157163"/>
                </a:moveTo>
                <a:lnTo>
                  <a:pt x="185916" y="157163"/>
                </a:lnTo>
                <a:lnTo>
                  <a:pt x="185916" y="127516"/>
                </a:lnTo>
                <a:cubicBezTo>
                  <a:pt x="189309" y="128230"/>
                  <a:pt x="192837" y="128588"/>
                  <a:pt x="196408" y="128588"/>
                </a:cubicBezTo>
                <a:cubicBezTo>
                  <a:pt x="202793" y="128588"/>
                  <a:pt x="208910" y="127427"/>
                  <a:pt x="214491" y="125373"/>
                </a:cubicBezTo>
                <a:lnTo>
                  <a:pt x="214491" y="192881"/>
                </a:lnTo>
                <a:cubicBezTo>
                  <a:pt x="214491" y="204713"/>
                  <a:pt x="204892" y="214313"/>
                  <a:pt x="193060" y="214313"/>
                </a:cubicBezTo>
                <a:lnTo>
                  <a:pt x="35897" y="214313"/>
                </a:lnTo>
                <a:cubicBezTo>
                  <a:pt x="24066" y="214313"/>
                  <a:pt x="14466" y="204713"/>
                  <a:pt x="14466" y="192881"/>
                </a:cubicBezTo>
                <a:lnTo>
                  <a:pt x="14466" y="125373"/>
                </a:lnTo>
                <a:cubicBezTo>
                  <a:pt x="20047" y="127427"/>
                  <a:pt x="26119" y="128588"/>
                  <a:pt x="32549" y="128588"/>
                </a:cubicBezTo>
                <a:cubicBezTo>
                  <a:pt x="36165" y="128588"/>
                  <a:pt x="39648" y="128230"/>
                  <a:pt x="43041" y="127516"/>
                </a:cubicBezTo>
                <a:lnTo>
                  <a:pt x="43041" y="157163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7" name="Text 25"/>
          <p:cNvSpPr/>
          <p:nvPr/>
        </p:nvSpPr>
        <p:spPr>
          <a:xfrm>
            <a:off x="8259723" y="3414713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Outlet Segments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37671" y="2995613"/>
            <a:ext cx="1647825" cy="723900"/>
          </a:xfrm>
          <a:custGeom>
            <a:avLst/>
            <a:gdLst/>
            <a:ahLst/>
            <a:cxnLst/>
            <a:rect l="l" t="t" r="r" b="b"/>
            <a:pathLst>
              <a:path w="1647825" h="723900">
                <a:moveTo>
                  <a:pt x="0" y="0"/>
                </a:moveTo>
                <a:lnTo>
                  <a:pt x="1647825" y="0"/>
                </a:lnTo>
                <a:lnTo>
                  <a:pt x="16478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45616" y="31099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107156" y="42863"/>
                </a:moveTo>
                <a:cubicBezTo>
                  <a:pt x="110148" y="42863"/>
                  <a:pt x="113005" y="44113"/>
                  <a:pt x="115059" y="46345"/>
                </a:cubicBezTo>
                <a:lnTo>
                  <a:pt x="146804" y="80948"/>
                </a:lnTo>
                <a:lnTo>
                  <a:pt x="167432" y="60275"/>
                </a:lnTo>
                <a:cubicBezTo>
                  <a:pt x="171629" y="56078"/>
                  <a:pt x="178415" y="56078"/>
                  <a:pt x="182567" y="60275"/>
                </a:cubicBezTo>
                <a:lnTo>
                  <a:pt x="211142" y="88850"/>
                </a:lnTo>
                <a:cubicBezTo>
                  <a:pt x="213152" y="90860"/>
                  <a:pt x="214268" y="93583"/>
                  <a:pt x="214268" y="96441"/>
                </a:cubicBezTo>
                <a:lnTo>
                  <a:pt x="214268" y="146447"/>
                </a:lnTo>
                <a:cubicBezTo>
                  <a:pt x="214268" y="152385"/>
                  <a:pt x="209490" y="157163"/>
                  <a:pt x="203552" y="157163"/>
                </a:cubicBezTo>
                <a:lnTo>
                  <a:pt x="67821" y="157163"/>
                </a:lnTo>
                <a:cubicBezTo>
                  <a:pt x="61883" y="157163"/>
                  <a:pt x="57105" y="152385"/>
                  <a:pt x="57105" y="146447"/>
                </a:cubicBezTo>
                <a:lnTo>
                  <a:pt x="57105" y="96441"/>
                </a:lnTo>
                <a:cubicBezTo>
                  <a:pt x="57105" y="93762"/>
                  <a:pt x="58132" y="91172"/>
                  <a:pt x="59918" y="89208"/>
                </a:cubicBezTo>
                <a:lnTo>
                  <a:pt x="99209" y="46345"/>
                </a:lnTo>
                <a:cubicBezTo>
                  <a:pt x="101218" y="44113"/>
                  <a:pt x="104120" y="42863"/>
                  <a:pt x="107112" y="4286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8634" y="3414713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Trends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4231011"/>
            <a:ext cx="11430000" cy="2626989"/>
          </a:xfrm>
          <a:custGeom>
            <a:avLst/>
            <a:gdLst/>
            <a:ahLst/>
            <a:cxnLst/>
            <a:rect l="l" t="t" r="r" b="b"/>
            <a:pathLst>
              <a:path w="11430000" h="2626989">
                <a:moveTo>
                  <a:pt x="0" y="0"/>
                </a:moveTo>
                <a:lnTo>
                  <a:pt x="11430000" y="0"/>
                </a:lnTo>
                <a:lnTo>
                  <a:pt x="11430000" y="2626989"/>
                </a:lnTo>
                <a:lnTo>
                  <a:pt x="0" y="2626989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2" name="Text 30"/>
          <p:cNvSpPr/>
          <p:nvPr/>
        </p:nvSpPr>
        <p:spPr>
          <a:xfrm>
            <a:off x="666750" y="4343400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Analytical Framework &amp; Tools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9600" y="4724281"/>
            <a:ext cx="3533775" cy="1276350"/>
          </a:xfrm>
          <a:custGeom>
            <a:avLst/>
            <a:gdLst/>
            <a:ahLst/>
            <a:cxnLst/>
            <a:rect l="l" t="t" r="r" b="b"/>
            <a:pathLst>
              <a:path w="3533775" h="1276350">
                <a:moveTo>
                  <a:pt x="0" y="0"/>
                </a:moveTo>
                <a:lnTo>
                  <a:pt x="3533775" y="0"/>
                </a:lnTo>
                <a:lnTo>
                  <a:pt x="3533775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200" y="49147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5" name="Text 33"/>
          <p:cNvSpPr/>
          <p:nvPr/>
        </p:nvSpPr>
        <p:spPr>
          <a:xfrm>
            <a:off x="1271588" y="4924306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0100" y="5314831"/>
            <a:ext cx="3228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3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cleaning, aggregation, and transformation of retail sales data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30660" y="4724281"/>
            <a:ext cx="3533775" cy="1276350"/>
          </a:xfrm>
          <a:custGeom>
            <a:avLst/>
            <a:gdLst/>
            <a:ahLst/>
            <a:cxnLst/>
            <a:rect l="l" t="t" r="r" b="b"/>
            <a:pathLst>
              <a:path w="3533775" h="1276350">
                <a:moveTo>
                  <a:pt x="0" y="0"/>
                </a:moveTo>
                <a:lnTo>
                  <a:pt x="3533775" y="0"/>
                </a:lnTo>
                <a:lnTo>
                  <a:pt x="3533775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41401" y="4914781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9" name="Text 37"/>
          <p:cNvSpPr/>
          <p:nvPr/>
        </p:nvSpPr>
        <p:spPr>
          <a:xfrm>
            <a:off x="4992648" y="4924306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1160" y="5314831"/>
            <a:ext cx="3228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3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 and analytical reports for insight generation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51721" y="4724281"/>
            <a:ext cx="3533775" cy="1276350"/>
          </a:xfrm>
          <a:custGeom>
            <a:avLst/>
            <a:gdLst/>
            <a:ahLst/>
            <a:cxnLst/>
            <a:rect l="l" t="t" r="r" b="b"/>
            <a:pathLst>
              <a:path w="3533775" h="1276350">
                <a:moveTo>
                  <a:pt x="0" y="0"/>
                </a:moveTo>
                <a:lnTo>
                  <a:pt x="3533775" y="0"/>
                </a:lnTo>
                <a:lnTo>
                  <a:pt x="3533775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16039" y="491478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3" name="Text 41"/>
          <p:cNvSpPr/>
          <p:nvPr/>
        </p:nvSpPr>
        <p:spPr>
          <a:xfrm>
            <a:off x="8713708" y="4924306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Insight Generation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42221" y="5314831"/>
            <a:ext cx="3228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3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recommendations supporting strategic decision-making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09600" y="6191131"/>
            <a:ext cx="10972800" cy="533404"/>
          </a:xfrm>
          <a:custGeom>
            <a:avLst/>
            <a:gdLst/>
            <a:ahLst/>
            <a:cxnLst/>
            <a:rect l="l" t="t" r="r" b="b"/>
            <a:pathLst>
              <a:path w="10972800" h="533404">
                <a:moveTo>
                  <a:pt x="0" y="0"/>
                </a:moveTo>
                <a:lnTo>
                  <a:pt x="10972800" y="0"/>
                </a:lnTo>
                <a:lnTo>
                  <a:pt x="10972800" y="533404"/>
                </a:lnTo>
                <a:lnTo>
                  <a:pt x="0" y="533404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2000" y="638163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7" name="Text 45"/>
          <p:cNvSpPr/>
          <p:nvPr/>
        </p:nvSpPr>
        <p:spPr>
          <a:xfrm>
            <a:off x="1162050" y="6412111"/>
            <a:ext cx="6649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055614" y="6343531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384227" y="63816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14288" y="215786"/>
                  <a:pt x="27102" y="228600"/>
                  <a:pt x="42863" y="228600"/>
                </a:cubicBezTo>
                <a:lnTo>
                  <a:pt x="78581" y="228600"/>
                </a:lnTo>
                <a:lnTo>
                  <a:pt x="78581" y="178594"/>
                </a:lnTo>
                <a:cubicBezTo>
                  <a:pt x="78581" y="162833"/>
                  <a:pt x="91395" y="150019"/>
                  <a:pt x="107156" y="150019"/>
                </a:cubicBezTo>
                <a:lnTo>
                  <a:pt x="185738" y="150019"/>
                </a:lnTo>
                <a:lnTo>
                  <a:pt x="185738" y="76126"/>
                </a:lnTo>
                <a:cubicBezTo>
                  <a:pt x="185738" y="68535"/>
                  <a:pt x="182746" y="61258"/>
                  <a:pt x="177388" y="55900"/>
                </a:cubicBezTo>
                <a:lnTo>
                  <a:pt x="129793" y="8349"/>
                </a:lnTo>
                <a:cubicBezTo>
                  <a:pt x="124435" y="2991"/>
                  <a:pt x="117202" y="0"/>
                  <a:pt x="109612" y="0"/>
                </a:cubicBezTo>
                <a:lnTo>
                  <a:pt x="42863" y="0"/>
                </a:lnTo>
                <a:close/>
                <a:moveTo>
                  <a:pt x="159618" y="78581"/>
                </a:moveTo>
                <a:lnTo>
                  <a:pt x="117872" y="78581"/>
                </a:lnTo>
                <a:cubicBezTo>
                  <a:pt x="111934" y="78581"/>
                  <a:pt x="107156" y="73804"/>
                  <a:pt x="107156" y="67866"/>
                </a:cubicBezTo>
                <a:lnTo>
                  <a:pt x="107156" y="26119"/>
                </a:lnTo>
                <a:lnTo>
                  <a:pt x="159618" y="78581"/>
                </a:lnTo>
                <a:close/>
                <a:moveTo>
                  <a:pt x="117872" y="169664"/>
                </a:moveTo>
                <a:cubicBezTo>
                  <a:pt x="107022" y="169664"/>
                  <a:pt x="98227" y="178460"/>
                  <a:pt x="98227" y="189309"/>
                </a:cubicBezTo>
                <a:lnTo>
                  <a:pt x="98227" y="225028"/>
                </a:lnTo>
                <a:cubicBezTo>
                  <a:pt x="98227" y="235878"/>
                  <a:pt x="107022" y="244673"/>
                  <a:pt x="117872" y="244673"/>
                </a:cubicBezTo>
                <a:lnTo>
                  <a:pt x="125016" y="244673"/>
                </a:lnTo>
                <a:cubicBezTo>
                  <a:pt x="135865" y="244673"/>
                  <a:pt x="144661" y="235878"/>
                  <a:pt x="144661" y="225028"/>
                </a:cubicBezTo>
                <a:lnTo>
                  <a:pt x="144661" y="221456"/>
                </a:lnTo>
                <a:cubicBezTo>
                  <a:pt x="144661" y="216545"/>
                  <a:pt x="140643" y="212527"/>
                  <a:pt x="135731" y="212527"/>
                </a:cubicBezTo>
                <a:cubicBezTo>
                  <a:pt x="130820" y="212527"/>
                  <a:pt x="126802" y="216545"/>
                  <a:pt x="126802" y="221456"/>
                </a:cubicBezTo>
                <a:lnTo>
                  <a:pt x="126802" y="225028"/>
                </a:lnTo>
                <a:cubicBezTo>
                  <a:pt x="126802" y="226010"/>
                  <a:pt x="125998" y="226814"/>
                  <a:pt x="125016" y="226814"/>
                </a:cubicBezTo>
                <a:lnTo>
                  <a:pt x="117872" y="226814"/>
                </a:lnTo>
                <a:cubicBezTo>
                  <a:pt x="116890" y="226814"/>
                  <a:pt x="116086" y="226010"/>
                  <a:pt x="116086" y="225028"/>
                </a:cubicBezTo>
                <a:lnTo>
                  <a:pt x="116086" y="189309"/>
                </a:lnTo>
                <a:cubicBezTo>
                  <a:pt x="116086" y="188327"/>
                  <a:pt x="116890" y="187523"/>
                  <a:pt x="117872" y="187523"/>
                </a:cubicBezTo>
                <a:lnTo>
                  <a:pt x="125016" y="187523"/>
                </a:lnTo>
                <a:cubicBezTo>
                  <a:pt x="125998" y="187523"/>
                  <a:pt x="126802" y="188327"/>
                  <a:pt x="126802" y="189309"/>
                </a:cubicBezTo>
                <a:lnTo>
                  <a:pt x="126802" y="192881"/>
                </a:lnTo>
                <a:cubicBezTo>
                  <a:pt x="126802" y="197793"/>
                  <a:pt x="130820" y="201811"/>
                  <a:pt x="135731" y="201811"/>
                </a:cubicBezTo>
                <a:cubicBezTo>
                  <a:pt x="140643" y="201811"/>
                  <a:pt x="144661" y="197793"/>
                  <a:pt x="144661" y="192881"/>
                </a:cubicBezTo>
                <a:lnTo>
                  <a:pt x="144661" y="189309"/>
                </a:lnTo>
                <a:cubicBezTo>
                  <a:pt x="144661" y="178460"/>
                  <a:pt x="135865" y="169664"/>
                  <a:pt x="125016" y="169664"/>
                </a:cubicBezTo>
                <a:lnTo>
                  <a:pt x="117872" y="169664"/>
                </a:lnTo>
                <a:close/>
                <a:moveTo>
                  <a:pt x="178594" y="169664"/>
                </a:moveTo>
                <a:cubicBezTo>
                  <a:pt x="165780" y="169664"/>
                  <a:pt x="155377" y="180067"/>
                  <a:pt x="155377" y="192881"/>
                </a:cubicBezTo>
                <a:cubicBezTo>
                  <a:pt x="155377" y="205695"/>
                  <a:pt x="165780" y="216098"/>
                  <a:pt x="178594" y="216098"/>
                </a:cubicBezTo>
                <a:cubicBezTo>
                  <a:pt x="181541" y="216098"/>
                  <a:pt x="183952" y="218509"/>
                  <a:pt x="183952" y="221456"/>
                </a:cubicBezTo>
                <a:cubicBezTo>
                  <a:pt x="183952" y="224403"/>
                  <a:pt x="181541" y="226814"/>
                  <a:pt x="178594" y="226814"/>
                </a:cubicBezTo>
                <a:lnTo>
                  <a:pt x="164306" y="226814"/>
                </a:lnTo>
                <a:cubicBezTo>
                  <a:pt x="159395" y="226814"/>
                  <a:pt x="155377" y="230832"/>
                  <a:pt x="155377" y="235744"/>
                </a:cubicBezTo>
                <a:cubicBezTo>
                  <a:pt x="155377" y="240655"/>
                  <a:pt x="159395" y="244673"/>
                  <a:pt x="164306" y="244673"/>
                </a:cubicBezTo>
                <a:lnTo>
                  <a:pt x="178594" y="244673"/>
                </a:lnTo>
                <a:cubicBezTo>
                  <a:pt x="191408" y="244673"/>
                  <a:pt x="201811" y="234270"/>
                  <a:pt x="201811" y="221456"/>
                </a:cubicBezTo>
                <a:cubicBezTo>
                  <a:pt x="201811" y="208642"/>
                  <a:pt x="191408" y="198239"/>
                  <a:pt x="178594" y="198239"/>
                </a:cubicBezTo>
                <a:cubicBezTo>
                  <a:pt x="175647" y="198239"/>
                  <a:pt x="173236" y="195828"/>
                  <a:pt x="173236" y="192881"/>
                </a:cubicBezTo>
                <a:cubicBezTo>
                  <a:pt x="173236" y="189934"/>
                  <a:pt x="175647" y="187523"/>
                  <a:pt x="178594" y="187523"/>
                </a:cubicBezTo>
                <a:lnTo>
                  <a:pt x="189309" y="187523"/>
                </a:lnTo>
                <a:cubicBezTo>
                  <a:pt x="194221" y="187523"/>
                  <a:pt x="198239" y="183505"/>
                  <a:pt x="198239" y="178594"/>
                </a:cubicBezTo>
                <a:cubicBezTo>
                  <a:pt x="198239" y="173682"/>
                  <a:pt x="194221" y="169664"/>
                  <a:pt x="189309" y="169664"/>
                </a:cubicBezTo>
                <a:lnTo>
                  <a:pt x="178594" y="169664"/>
                </a:lnTo>
                <a:close/>
                <a:moveTo>
                  <a:pt x="221456" y="169664"/>
                </a:moveTo>
                <a:cubicBezTo>
                  <a:pt x="216545" y="169664"/>
                  <a:pt x="212527" y="173682"/>
                  <a:pt x="212527" y="178594"/>
                </a:cubicBezTo>
                <a:lnTo>
                  <a:pt x="212527" y="192703"/>
                </a:lnTo>
                <a:cubicBezTo>
                  <a:pt x="212527" y="208553"/>
                  <a:pt x="217215" y="224091"/>
                  <a:pt x="226010" y="237262"/>
                </a:cubicBezTo>
                <a:lnTo>
                  <a:pt x="228287" y="240700"/>
                </a:lnTo>
                <a:cubicBezTo>
                  <a:pt x="229939" y="243200"/>
                  <a:pt x="232752" y="244673"/>
                  <a:pt x="235699" y="244673"/>
                </a:cubicBezTo>
                <a:cubicBezTo>
                  <a:pt x="238646" y="244673"/>
                  <a:pt x="241459" y="243200"/>
                  <a:pt x="243111" y="240700"/>
                </a:cubicBezTo>
                <a:lnTo>
                  <a:pt x="245388" y="237262"/>
                </a:lnTo>
                <a:cubicBezTo>
                  <a:pt x="254184" y="224046"/>
                  <a:pt x="258872" y="208553"/>
                  <a:pt x="258872" y="192703"/>
                </a:cubicBezTo>
                <a:lnTo>
                  <a:pt x="258872" y="178594"/>
                </a:lnTo>
                <a:cubicBezTo>
                  <a:pt x="258872" y="173682"/>
                  <a:pt x="254853" y="169664"/>
                  <a:pt x="249942" y="169664"/>
                </a:cubicBezTo>
                <a:cubicBezTo>
                  <a:pt x="245031" y="169664"/>
                  <a:pt x="241012" y="173682"/>
                  <a:pt x="241012" y="178594"/>
                </a:cubicBezTo>
                <a:lnTo>
                  <a:pt x="241012" y="192703"/>
                </a:lnTo>
                <a:cubicBezTo>
                  <a:pt x="241012" y="201454"/>
                  <a:pt x="239182" y="210071"/>
                  <a:pt x="235654" y="218018"/>
                </a:cubicBezTo>
                <a:cubicBezTo>
                  <a:pt x="232127" y="210071"/>
                  <a:pt x="230297" y="201454"/>
                  <a:pt x="230297" y="192703"/>
                </a:cubicBezTo>
                <a:lnTo>
                  <a:pt x="230297" y="178594"/>
                </a:lnTo>
                <a:cubicBezTo>
                  <a:pt x="230297" y="173682"/>
                  <a:pt x="226278" y="169664"/>
                  <a:pt x="221367" y="16966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0" name="Text 48"/>
          <p:cNvSpPr/>
          <p:nvPr/>
        </p:nvSpPr>
        <p:spPr>
          <a:xfrm>
            <a:off x="2769989" y="6412111"/>
            <a:ext cx="8379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 (CSV)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25928" y="6400681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3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analytics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Dataset Overview &amp;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14450"/>
            <a:ext cx="4572000" cy="2400300"/>
          </a:xfrm>
          <a:custGeom>
            <a:avLst/>
            <a:gdLst/>
            <a:ahLst/>
            <a:cxnLst/>
            <a:rect l="l" t="t" r="r" b="b"/>
            <a:pathLst>
              <a:path w="4572000" h="2400300">
                <a:moveTo>
                  <a:pt x="0" y="0"/>
                </a:moveTo>
                <a:lnTo>
                  <a:pt x="4572000" y="0"/>
                </a:lnTo>
                <a:lnTo>
                  <a:pt x="45720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14450"/>
            <a:ext cx="4572000" cy="38100"/>
          </a:xfrm>
          <a:custGeom>
            <a:avLst/>
            <a:gdLst/>
            <a:ahLst/>
            <a:cxnLst/>
            <a:rect l="l" t="t" r="r" b="b"/>
            <a:pathLst>
              <a:path w="4572000" h="38100">
                <a:moveTo>
                  <a:pt x="0" y="0"/>
                </a:moveTo>
                <a:lnTo>
                  <a:pt x="4572000" y="0"/>
                </a:lnTo>
                <a:lnTo>
                  <a:pt x="457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2400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Product Attributes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1985963"/>
            <a:ext cx="4191000" cy="647700"/>
          </a:xfrm>
          <a:custGeom>
            <a:avLst/>
            <a:gdLst/>
            <a:ahLst/>
            <a:cxnLst/>
            <a:rect l="l" t="t" r="r" b="b"/>
            <a:pathLst>
              <a:path w="4191000" h="647700">
                <a:moveTo>
                  <a:pt x="0" y="0"/>
                </a:moveTo>
                <a:lnTo>
                  <a:pt x="4191000" y="0"/>
                </a:lnTo>
                <a:lnTo>
                  <a:pt x="4191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8" name="Shape 6"/>
          <p:cNvSpPr/>
          <p:nvPr/>
        </p:nvSpPr>
        <p:spPr>
          <a:xfrm>
            <a:off x="721519" y="22145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41672"/>
                </a:moveTo>
                <a:cubicBezTo>
                  <a:pt x="80070" y="41672"/>
                  <a:pt x="77391" y="38993"/>
                  <a:pt x="77391" y="35719"/>
                </a:cubicBezTo>
                <a:lnTo>
                  <a:pt x="77391" y="29766"/>
                </a:lnTo>
                <a:cubicBezTo>
                  <a:pt x="77391" y="13320"/>
                  <a:pt x="90711" y="0"/>
                  <a:pt x="107156" y="0"/>
                </a:cubicBezTo>
                <a:lnTo>
                  <a:pt x="113109" y="0"/>
                </a:lnTo>
                <a:cubicBezTo>
                  <a:pt x="116384" y="0"/>
                  <a:pt x="119063" y="2679"/>
                  <a:pt x="119063" y="5953"/>
                </a:cubicBezTo>
                <a:lnTo>
                  <a:pt x="119063" y="11906"/>
                </a:lnTo>
                <a:cubicBezTo>
                  <a:pt x="119063" y="28352"/>
                  <a:pt x="105742" y="41672"/>
                  <a:pt x="89297" y="41672"/>
                </a:cubicBezTo>
                <a:lnTo>
                  <a:pt x="83344" y="41672"/>
                </a:lnTo>
                <a:close/>
                <a:moveTo>
                  <a:pt x="0" y="107156"/>
                </a:moveTo>
                <a:cubicBezTo>
                  <a:pt x="0" y="78767"/>
                  <a:pt x="13283" y="47625"/>
                  <a:pt x="41672" y="47625"/>
                </a:cubicBezTo>
                <a:cubicBezTo>
                  <a:pt x="51829" y="47625"/>
                  <a:pt x="63884" y="51457"/>
                  <a:pt x="72442" y="54806"/>
                </a:cubicBezTo>
                <a:cubicBezTo>
                  <a:pt x="79437" y="57522"/>
                  <a:pt x="87288" y="57522"/>
                  <a:pt x="94283" y="54806"/>
                </a:cubicBezTo>
                <a:cubicBezTo>
                  <a:pt x="102803" y="51495"/>
                  <a:pt x="114895" y="47625"/>
                  <a:pt x="125053" y="47625"/>
                </a:cubicBezTo>
                <a:cubicBezTo>
                  <a:pt x="153442" y="47625"/>
                  <a:pt x="166725" y="78767"/>
                  <a:pt x="166725" y="107156"/>
                </a:cubicBezTo>
                <a:cubicBezTo>
                  <a:pt x="166725" y="154781"/>
                  <a:pt x="136959" y="190500"/>
                  <a:pt x="107193" y="190500"/>
                </a:cubicBezTo>
                <a:cubicBezTo>
                  <a:pt x="101054" y="190500"/>
                  <a:pt x="93018" y="188044"/>
                  <a:pt x="88032" y="186296"/>
                </a:cubicBezTo>
                <a:cubicBezTo>
                  <a:pt x="85018" y="185254"/>
                  <a:pt x="81744" y="185254"/>
                  <a:pt x="78730" y="186296"/>
                </a:cubicBezTo>
                <a:cubicBezTo>
                  <a:pt x="73744" y="188044"/>
                  <a:pt x="65708" y="190500"/>
                  <a:pt x="59568" y="190500"/>
                </a:cubicBezTo>
                <a:cubicBezTo>
                  <a:pt x="29803" y="190500"/>
                  <a:pt x="37" y="154781"/>
                  <a:pt x="37" y="107156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9" name="Text 7"/>
          <p:cNvSpPr/>
          <p:nvPr/>
        </p:nvSpPr>
        <p:spPr>
          <a:xfrm>
            <a:off x="1038225" y="2100263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Type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8225" y="2328863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categories &amp; classification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833688"/>
            <a:ext cx="4191000" cy="647700"/>
          </a:xfrm>
          <a:custGeom>
            <a:avLst/>
            <a:gdLst/>
            <a:ahLst/>
            <a:cxnLst/>
            <a:rect l="l" t="t" r="r" b="b"/>
            <a:pathLst>
              <a:path w="4191000" h="647700">
                <a:moveTo>
                  <a:pt x="0" y="0"/>
                </a:moveTo>
                <a:lnTo>
                  <a:pt x="4191000" y="0"/>
                </a:lnTo>
                <a:lnTo>
                  <a:pt x="4191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9613" y="30622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" y="2947988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 Content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8225" y="3176588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Fat vs Regular products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886200"/>
            <a:ext cx="4572000" cy="2457450"/>
          </a:xfrm>
          <a:custGeom>
            <a:avLst/>
            <a:gdLst/>
            <a:ahLst/>
            <a:cxnLst/>
            <a:rect l="l" t="t" r="r" b="b"/>
            <a:pathLst>
              <a:path w="4572000" h="2457450">
                <a:moveTo>
                  <a:pt x="0" y="0"/>
                </a:moveTo>
                <a:lnTo>
                  <a:pt x="4572000" y="0"/>
                </a:lnTo>
                <a:lnTo>
                  <a:pt x="4572000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81000" y="3886200"/>
            <a:ext cx="4572000" cy="38100"/>
          </a:xfrm>
          <a:custGeom>
            <a:avLst/>
            <a:gdLst/>
            <a:ahLst/>
            <a:cxnLst/>
            <a:rect l="l" t="t" r="r" b="b"/>
            <a:pathLst>
              <a:path w="4572000" h="38100">
                <a:moveTo>
                  <a:pt x="0" y="0"/>
                </a:moveTo>
                <a:lnTo>
                  <a:pt x="4572000" y="0"/>
                </a:lnTo>
                <a:lnTo>
                  <a:pt x="457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409575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514850"/>
            <a:ext cx="2038350" cy="762000"/>
          </a:xfrm>
          <a:custGeom>
            <a:avLst/>
            <a:gdLst/>
            <a:ahLst/>
            <a:cxnLst/>
            <a:rect l="l" t="t" r="r" b="b"/>
            <a:pathLst>
              <a:path w="2038350" h="762000">
                <a:moveTo>
                  <a:pt x="0" y="0"/>
                </a:moveTo>
                <a:lnTo>
                  <a:pt x="2038350" y="0"/>
                </a:lnTo>
                <a:lnTo>
                  <a:pt x="20383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238" y="46291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7700" y="49339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24150" y="4514850"/>
            <a:ext cx="2038350" cy="762000"/>
          </a:xfrm>
          <a:custGeom>
            <a:avLst/>
            <a:gdLst/>
            <a:ahLst/>
            <a:cxnLst/>
            <a:rect l="l" t="t" r="r" b="b"/>
            <a:pathLst>
              <a:path w="2038350" h="762000">
                <a:moveTo>
                  <a:pt x="0" y="0"/>
                </a:moveTo>
                <a:lnTo>
                  <a:pt x="2038350" y="0"/>
                </a:lnTo>
                <a:lnTo>
                  <a:pt x="20383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7025" y="462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3" name="Text 21"/>
          <p:cNvSpPr/>
          <p:nvPr/>
        </p:nvSpPr>
        <p:spPr>
          <a:xfrm>
            <a:off x="2800350" y="49339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Count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391150"/>
            <a:ext cx="2038350" cy="762000"/>
          </a:xfrm>
          <a:custGeom>
            <a:avLst/>
            <a:gdLst/>
            <a:ahLst/>
            <a:cxnLst/>
            <a:rect l="l" t="t" r="r" b="b"/>
            <a:pathLst>
              <a:path w="2038350" h="762000">
                <a:moveTo>
                  <a:pt x="0" y="0"/>
                </a:moveTo>
                <a:lnTo>
                  <a:pt x="2038350" y="0"/>
                </a:lnTo>
                <a:lnTo>
                  <a:pt x="20383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437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7700" y="58102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Sales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24150" y="5391150"/>
            <a:ext cx="2038350" cy="762000"/>
          </a:xfrm>
          <a:custGeom>
            <a:avLst/>
            <a:gdLst/>
            <a:ahLst/>
            <a:cxnLst/>
            <a:rect l="l" t="t" r="r" b="b"/>
            <a:pathLst>
              <a:path w="2038350" h="762000">
                <a:moveTo>
                  <a:pt x="0" y="0"/>
                </a:moveTo>
                <a:lnTo>
                  <a:pt x="2038350" y="0"/>
                </a:lnTo>
                <a:lnTo>
                  <a:pt x="20383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852738" y="5505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9" name="Text 27"/>
          <p:cNvSpPr/>
          <p:nvPr/>
        </p:nvSpPr>
        <p:spPr>
          <a:xfrm>
            <a:off x="2800350" y="58102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Rating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43500" y="1314450"/>
            <a:ext cx="6667500" cy="2305050"/>
          </a:xfrm>
          <a:custGeom>
            <a:avLst/>
            <a:gdLst/>
            <a:ahLst/>
            <a:cxnLst/>
            <a:rect l="l" t="t" r="r" b="b"/>
            <a:pathLst>
              <a:path w="6667500" h="2305050">
                <a:moveTo>
                  <a:pt x="0" y="0"/>
                </a:moveTo>
                <a:lnTo>
                  <a:pt x="6667500" y="0"/>
                </a:lnTo>
                <a:lnTo>
                  <a:pt x="666750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143500" y="1314450"/>
            <a:ext cx="6667500" cy="38100"/>
          </a:xfrm>
          <a:custGeom>
            <a:avLst/>
            <a:gdLst/>
            <a:ahLst/>
            <a:cxnLst/>
            <a:rect l="l" t="t" r="r" b="b"/>
            <a:pathLst>
              <a:path w="6667500" h="38100">
                <a:moveTo>
                  <a:pt x="0" y="0"/>
                </a:moveTo>
                <a:lnTo>
                  <a:pt x="6667500" y="0"/>
                </a:lnTo>
                <a:lnTo>
                  <a:pt x="66675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32" name="Text 30"/>
          <p:cNvSpPr/>
          <p:nvPr/>
        </p:nvSpPr>
        <p:spPr>
          <a:xfrm>
            <a:off x="5334000" y="1524000"/>
            <a:ext cx="638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Outlet Attributes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34000" y="1943100"/>
            <a:ext cx="3086100" cy="685800"/>
          </a:xfrm>
          <a:custGeom>
            <a:avLst/>
            <a:gdLst/>
            <a:ahLst/>
            <a:cxnLst/>
            <a:rect l="l" t="t" r="r" b="b"/>
            <a:pathLst>
              <a:path w="3086100" h="685800">
                <a:moveTo>
                  <a:pt x="0" y="0"/>
                </a:moveTo>
                <a:lnTo>
                  <a:pt x="3086100" y="0"/>
                </a:lnTo>
                <a:lnTo>
                  <a:pt x="3086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2828" y="20859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5" name="Text 33"/>
          <p:cNvSpPr/>
          <p:nvPr/>
        </p:nvSpPr>
        <p:spPr>
          <a:xfrm>
            <a:off x="5738813" y="20574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Outlet Size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8300" y="232410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Small, Medium, High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34400" y="1943100"/>
            <a:ext cx="3086100" cy="685800"/>
          </a:xfrm>
          <a:custGeom>
            <a:avLst/>
            <a:gdLst/>
            <a:ahLst/>
            <a:cxnLst/>
            <a:rect l="l" t="t" r="r" b="b"/>
            <a:pathLst>
              <a:path w="3086100" h="685800">
                <a:moveTo>
                  <a:pt x="0" y="0"/>
                </a:moveTo>
                <a:lnTo>
                  <a:pt x="3086100" y="0"/>
                </a:lnTo>
                <a:lnTo>
                  <a:pt x="3086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8" name="Shape 36"/>
          <p:cNvSpPr/>
          <p:nvPr/>
        </p:nvSpPr>
        <p:spPr>
          <a:xfrm>
            <a:off x="8693944" y="2085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9" name="Text 37"/>
          <p:cNvSpPr/>
          <p:nvPr/>
        </p:nvSpPr>
        <p:spPr>
          <a:xfrm>
            <a:off x="8939213" y="20574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Tier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48700" y="232410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1, 2, 3 cities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0" y="2743200"/>
            <a:ext cx="3086100" cy="685800"/>
          </a:xfrm>
          <a:custGeom>
            <a:avLst/>
            <a:gdLst/>
            <a:ahLst/>
            <a:cxnLst/>
            <a:rect l="l" t="t" r="r" b="b"/>
            <a:pathLst>
              <a:path w="3086100" h="685800">
                <a:moveTo>
                  <a:pt x="0" y="0"/>
                </a:moveTo>
                <a:lnTo>
                  <a:pt x="3086100" y="0"/>
                </a:lnTo>
                <a:lnTo>
                  <a:pt x="3086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2" name="Shape 40"/>
          <p:cNvSpPr/>
          <p:nvPr/>
        </p:nvSpPr>
        <p:spPr>
          <a:xfrm>
            <a:off x="5472113" y="2886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280" y="24211"/>
                </a:moveTo>
                <a:cubicBezTo>
                  <a:pt x="12591" y="16207"/>
                  <a:pt x="19924" y="10716"/>
                  <a:pt x="28262" y="10716"/>
                </a:cubicBezTo>
                <a:lnTo>
                  <a:pt x="143455" y="10716"/>
                </a:lnTo>
                <a:cubicBezTo>
                  <a:pt x="151794" y="10716"/>
                  <a:pt x="159127" y="16207"/>
                  <a:pt x="161471" y="24211"/>
                </a:cubicBezTo>
                <a:lnTo>
                  <a:pt x="169307" y="51067"/>
                </a:lnTo>
                <a:cubicBezTo>
                  <a:pt x="173593" y="65700"/>
                  <a:pt x="162576" y="80367"/>
                  <a:pt x="147340" y="80367"/>
                </a:cubicBezTo>
                <a:cubicBezTo>
                  <a:pt x="138533" y="80367"/>
                  <a:pt x="130798" y="75378"/>
                  <a:pt x="126980" y="67944"/>
                </a:cubicBezTo>
                <a:cubicBezTo>
                  <a:pt x="123096" y="75277"/>
                  <a:pt x="115394" y="80367"/>
                  <a:pt x="106420" y="80367"/>
                </a:cubicBezTo>
                <a:cubicBezTo>
                  <a:pt x="97512" y="80367"/>
                  <a:pt x="89777" y="75344"/>
                  <a:pt x="85892" y="67977"/>
                </a:cubicBezTo>
                <a:cubicBezTo>
                  <a:pt x="82008" y="75344"/>
                  <a:pt x="74273" y="80367"/>
                  <a:pt x="65365" y="80367"/>
                </a:cubicBezTo>
                <a:cubicBezTo>
                  <a:pt x="56391" y="80367"/>
                  <a:pt x="48689" y="75311"/>
                  <a:pt x="44805" y="67944"/>
                </a:cubicBezTo>
                <a:cubicBezTo>
                  <a:pt x="40987" y="75344"/>
                  <a:pt x="33252" y="80367"/>
                  <a:pt x="24445" y="80367"/>
                </a:cubicBezTo>
                <a:cubicBezTo>
                  <a:pt x="9175" y="80367"/>
                  <a:pt x="-1808" y="65734"/>
                  <a:pt x="2478" y="51067"/>
                </a:cubicBezTo>
                <a:lnTo>
                  <a:pt x="10280" y="24211"/>
                </a:lnTo>
                <a:close/>
                <a:moveTo>
                  <a:pt x="32281" y="117872"/>
                </a:moveTo>
                <a:lnTo>
                  <a:pt x="139437" y="117872"/>
                </a:lnTo>
                <a:lnTo>
                  <a:pt x="139437" y="95637"/>
                </a:lnTo>
                <a:cubicBezTo>
                  <a:pt x="141982" y="96173"/>
                  <a:pt x="144627" y="96441"/>
                  <a:pt x="147306" y="96441"/>
                </a:cubicBezTo>
                <a:cubicBezTo>
                  <a:pt x="152095" y="96441"/>
                  <a:pt x="156683" y="95570"/>
                  <a:pt x="160868" y="94030"/>
                </a:cubicBezTo>
                <a:lnTo>
                  <a:pt x="160868" y="144661"/>
                </a:lnTo>
                <a:cubicBezTo>
                  <a:pt x="160868" y="153535"/>
                  <a:pt x="153669" y="160734"/>
                  <a:pt x="144795" y="160734"/>
                </a:cubicBezTo>
                <a:lnTo>
                  <a:pt x="26923" y="160734"/>
                </a:lnTo>
                <a:cubicBezTo>
                  <a:pt x="18049" y="160734"/>
                  <a:pt x="10850" y="153535"/>
                  <a:pt x="10850" y="144661"/>
                </a:cubicBezTo>
                <a:lnTo>
                  <a:pt x="10850" y="94030"/>
                </a:lnTo>
                <a:cubicBezTo>
                  <a:pt x="15035" y="95570"/>
                  <a:pt x="19590" y="96441"/>
                  <a:pt x="24412" y="96441"/>
                </a:cubicBezTo>
                <a:cubicBezTo>
                  <a:pt x="27124" y="96441"/>
                  <a:pt x="29736" y="96173"/>
                  <a:pt x="32281" y="95637"/>
                </a:cubicBezTo>
                <a:lnTo>
                  <a:pt x="32281" y="117872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3" name="Text 41"/>
          <p:cNvSpPr/>
          <p:nvPr/>
        </p:nvSpPr>
        <p:spPr>
          <a:xfrm>
            <a:off x="5738813" y="28575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Outlet Type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48300" y="312420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Supermarket, Grocery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34400" y="2743200"/>
            <a:ext cx="3086100" cy="685800"/>
          </a:xfrm>
          <a:custGeom>
            <a:avLst/>
            <a:gdLst/>
            <a:ahLst/>
            <a:cxnLst/>
            <a:rect l="l" t="t" r="r" b="b"/>
            <a:pathLst>
              <a:path w="3086100" h="685800">
                <a:moveTo>
                  <a:pt x="0" y="0"/>
                </a:moveTo>
                <a:lnTo>
                  <a:pt x="3086100" y="0"/>
                </a:lnTo>
                <a:lnTo>
                  <a:pt x="3086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6" name="Shape 44"/>
          <p:cNvSpPr/>
          <p:nvPr/>
        </p:nvSpPr>
        <p:spPr>
          <a:xfrm>
            <a:off x="8683228" y="2886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7" name="Text 45"/>
          <p:cNvSpPr/>
          <p:nvPr/>
        </p:nvSpPr>
        <p:spPr>
          <a:xfrm>
            <a:off x="8939213" y="28575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Establishment Year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48700" y="312420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2012-2022 period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43500" y="3771900"/>
            <a:ext cx="6667500" cy="1943100"/>
          </a:xfrm>
          <a:custGeom>
            <a:avLst/>
            <a:gdLst/>
            <a:ahLst/>
            <a:cxnLst/>
            <a:rect l="l" t="t" r="r" b="b"/>
            <a:pathLst>
              <a:path w="6667500" h="1943100">
                <a:moveTo>
                  <a:pt x="0" y="0"/>
                </a:moveTo>
                <a:lnTo>
                  <a:pt x="6667500" y="0"/>
                </a:lnTo>
                <a:lnTo>
                  <a:pt x="666750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0" name="Text 48"/>
          <p:cNvSpPr/>
          <p:nvPr/>
        </p:nvSpPr>
        <p:spPr>
          <a:xfrm>
            <a:off x="5334000" y="3962400"/>
            <a:ext cx="638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Analytical Approach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57863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2" name="Shape 50"/>
          <p:cNvSpPr/>
          <p:nvPr/>
        </p:nvSpPr>
        <p:spPr>
          <a:xfrm>
            <a:off x="5934075" y="4572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3" name="Text 51"/>
          <p:cNvSpPr/>
          <p:nvPr/>
        </p:nvSpPr>
        <p:spPr>
          <a:xfrm>
            <a:off x="5295900" y="5067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00663" y="5334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67587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6" name="Shape 54"/>
          <p:cNvSpPr/>
          <p:nvPr/>
        </p:nvSpPr>
        <p:spPr>
          <a:xfrm>
            <a:off x="7586663" y="4572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7" name="Text 55"/>
          <p:cNvSpPr/>
          <p:nvPr/>
        </p:nvSpPr>
        <p:spPr>
          <a:xfrm>
            <a:off x="6905625" y="5067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10388" y="5334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 computation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977313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0" name="Shape 58"/>
          <p:cNvSpPr/>
          <p:nvPr/>
        </p:nvSpPr>
        <p:spPr>
          <a:xfrm>
            <a:off x="9153525" y="4572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1" name="Text 59"/>
          <p:cNvSpPr/>
          <p:nvPr/>
        </p:nvSpPr>
        <p:spPr>
          <a:xfrm>
            <a:off x="8515350" y="5067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20113" y="5334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587038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4" name="Shape 62"/>
          <p:cNvSpPr/>
          <p:nvPr/>
        </p:nvSpPr>
        <p:spPr>
          <a:xfrm>
            <a:off x="10806113" y="4572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5" name="Text 63"/>
          <p:cNvSpPr/>
          <p:nvPr/>
        </p:nvSpPr>
        <p:spPr>
          <a:xfrm>
            <a:off x="10125075" y="5067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129838" y="5334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findings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484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spc="194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599462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Performance Metrics at a Glance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625" y="1216555"/>
            <a:ext cx="2741657" cy="1939436"/>
          </a:xfrm>
          <a:custGeom>
            <a:avLst/>
            <a:gdLst/>
            <a:ahLst/>
            <a:cxnLst/>
            <a:rect l="l" t="t" r="r" b="b"/>
            <a:pathLst>
              <a:path w="2741657" h="1939436">
                <a:moveTo>
                  <a:pt x="0" y="0"/>
                </a:moveTo>
                <a:lnTo>
                  <a:pt x="2741657" y="0"/>
                </a:lnTo>
                <a:lnTo>
                  <a:pt x="2741657" y="1939436"/>
                </a:lnTo>
                <a:lnTo>
                  <a:pt x="0" y="1939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52625" y="1216555"/>
            <a:ext cx="2741657" cy="35262"/>
          </a:xfrm>
          <a:custGeom>
            <a:avLst/>
            <a:gdLst/>
            <a:ahLst/>
            <a:cxnLst/>
            <a:rect l="l" t="t" r="r" b="b"/>
            <a:pathLst>
              <a:path w="2741657" h="35262">
                <a:moveTo>
                  <a:pt x="0" y="0"/>
                </a:moveTo>
                <a:lnTo>
                  <a:pt x="2741657" y="0"/>
                </a:lnTo>
                <a:lnTo>
                  <a:pt x="2741657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Shape 4"/>
          <p:cNvSpPr/>
          <p:nvPr/>
        </p:nvSpPr>
        <p:spPr>
          <a:xfrm>
            <a:off x="649050" y="1445761"/>
            <a:ext cx="165293" cy="264469"/>
          </a:xfrm>
          <a:custGeom>
            <a:avLst/>
            <a:gdLst/>
            <a:ahLst/>
            <a:cxnLst/>
            <a:rect l="l" t="t" r="r" b="b"/>
            <a:pathLst>
              <a:path w="165293" h="264469">
                <a:moveTo>
                  <a:pt x="70249" y="12397"/>
                </a:moveTo>
                <a:cubicBezTo>
                  <a:pt x="70249" y="5527"/>
                  <a:pt x="75776" y="0"/>
                  <a:pt x="82646" y="0"/>
                </a:cubicBezTo>
                <a:cubicBezTo>
                  <a:pt x="89516" y="0"/>
                  <a:pt x="95043" y="5527"/>
                  <a:pt x="95043" y="12397"/>
                </a:cubicBezTo>
                <a:lnTo>
                  <a:pt x="95043" y="33059"/>
                </a:lnTo>
                <a:lnTo>
                  <a:pt x="123970" y="33059"/>
                </a:lnTo>
                <a:cubicBezTo>
                  <a:pt x="133112" y="33059"/>
                  <a:pt x="140499" y="40445"/>
                  <a:pt x="140499" y="49588"/>
                </a:cubicBezTo>
                <a:cubicBezTo>
                  <a:pt x="140499" y="58731"/>
                  <a:pt x="133112" y="66117"/>
                  <a:pt x="123970" y="66117"/>
                </a:cubicBezTo>
                <a:lnTo>
                  <a:pt x="64619" y="66117"/>
                </a:lnTo>
                <a:cubicBezTo>
                  <a:pt x="51757" y="66117"/>
                  <a:pt x="41323" y="76551"/>
                  <a:pt x="41323" y="89413"/>
                </a:cubicBezTo>
                <a:cubicBezTo>
                  <a:pt x="41323" y="101035"/>
                  <a:pt x="49846" y="110850"/>
                  <a:pt x="61313" y="112502"/>
                </a:cubicBezTo>
                <a:lnTo>
                  <a:pt x="108628" y="119269"/>
                </a:lnTo>
                <a:cubicBezTo>
                  <a:pt x="136418" y="123246"/>
                  <a:pt x="157028" y="147007"/>
                  <a:pt x="157028" y="175055"/>
                </a:cubicBezTo>
                <a:cubicBezTo>
                  <a:pt x="157028" y="206203"/>
                  <a:pt x="131769" y="231410"/>
                  <a:pt x="100674" y="231410"/>
                </a:cubicBezTo>
                <a:lnTo>
                  <a:pt x="95043" y="231410"/>
                </a:lnTo>
                <a:lnTo>
                  <a:pt x="95043" y="252072"/>
                </a:lnTo>
                <a:cubicBezTo>
                  <a:pt x="95043" y="258942"/>
                  <a:pt x="89516" y="264469"/>
                  <a:pt x="82646" y="264469"/>
                </a:cubicBezTo>
                <a:cubicBezTo>
                  <a:pt x="75776" y="264469"/>
                  <a:pt x="70249" y="258942"/>
                  <a:pt x="70249" y="252072"/>
                </a:cubicBezTo>
                <a:lnTo>
                  <a:pt x="70249" y="231410"/>
                </a:lnTo>
                <a:lnTo>
                  <a:pt x="33059" y="231410"/>
                </a:lnTo>
                <a:cubicBezTo>
                  <a:pt x="23916" y="231410"/>
                  <a:pt x="16529" y="224023"/>
                  <a:pt x="16529" y="214881"/>
                </a:cubicBezTo>
                <a:cubicBezTo>
                  <a:pt x="16529" y="205738"/>
                  <a:pt x="23916" y="198351"/>
                  <a:pt x="33059" y="198351"/>
                </a:cubicBezTo>
                <a:lnTo>
                  <a:pt x="100674" y="198351"/>
                </a:lnTo>
                <a:cubicBezTo>
                  <a:pt x="113536" y="198351"/>
                  <a:pt x="123970" y="187917"/>
                  <a:pt x="123970" y="175055"/>
                </a:cubicBezTo>
                <a:cubicBezTo>
                  <a:pt x="123970" y="163433"/>
                  <a:pt x="115447" y="153619"/>
                  <a:pt x="103980" y="151966"/>
                </a:cubicBezTo>
                <a:lnTo>
                  <a:pt x="56664" y="145199"/>
                </a:lnTo>
                <a:cubicBezTo>
                  <a:pt x="28875" y="141274"/>
                  <a:pt x="8265" y="117461"/>
                  <a:pt x="8265" y="89413"/>
                </a:cubicBezTo>
                <a:cubicBezTo>
                  <a:pt x="8265" y="58317"/>
                  <a:pt x="33523" y="33059"/>
                  <a:pt x="64619" y="33059"/>
                </a:cubicBezTo>
                <a:lnTo>
                  <a:pt x="70249" y="33059"/>
                </a:lnTo>
                <a:lnTo>
                  <a:pt x="70249" y="12397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" name="Shape 5"/>
          <p:cNvSpPr/>
          <p:nvPr/>
        </p:nvSpPr>
        <p:spPr>
          <a:xfrm>
            <a:off x="2248754" y="1454577"/>
            <a:ext cx="634725" cy="246837"/>
          </a:xfrm>
          <a:custGeom>
            <a:avLst/>
            <a:gdLst/>
            <a:ahLst/>
            <a:cxnLst/>
            <a:rect l="l" t="t" r="r" b="b"/>
            <a:pathLst>
              <a:path w="634725" h="246837">
                <a:moveTo>
                  <a:pt x="0" y="0"/>
                </a:moveTo>
                <a:lnTo>
                  <a:pt x="634725" y="0"/>
                </a:lnTo>
                <a:lnTo>
                  <a:pt x="634725" y="246837"/>
                </a:lnTo>
                <a:lnTo>
                  <a:pt x="0" y="24683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8" name="Text 6"/>
          <p:cNvSpPr/>
          <p:nvPr/>
        </p:nvSpPr>
        <p:spPr>
          <a:xfrm>
            <a:off x="2248754" y="1454577"/>
            <a:ext cx="696434" cy="246837"/>
          </a:xfrm>
          <a:prstGeom prst="rect">
            <a:avLst/>
          </a:prstGeom>
          <a:noFill/>
          <a:ln/>
        </p:spPr>
        <p:txBody>
          <a:bodyPr wrap="square" lIns="105787" tIns="35262" rIns="105787" bIns="35262" rtlCol="0" anchor="ctr"/>
          <a:lstStyle/>
          <a:p>
            <a:pPr>
              <a:lnSpc>
                <a:spcPct val="120000"/>
              </a:lnSpc>
            </a:pPr>
            <a:r>
              <a:rPr lang="en-US" sz="972" b="1" spc="49" kern="0" dirty="0">
                <a:solidFill>
                  <a:srgbClr val="3A4F4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4200" y="1816017"/>
            <a:ext cx="238903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Sales Revenue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4200" y="2098117"/>
            <a:ext cx="2530082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$1,201,682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200" y="2591792"/>
            <a:ext cx="2380217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A8A1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revenue across all outlets and categories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68611" y="1216555"/>
            <a:ext cx="2741657" cy="1939436"/>
          </a:xfrm>
          <a:custGeom>
            <a:avLst/>
            <a:gdLst/>
            <a:ahLst/>
            <a:cxnLst/>
            <a:rect l="l" t="t" r="r" b="b"/>
            <a:pathLst>
              <a:path w="2741657" h="1939436">
                <a:moveTo>
                  <a:pt x="0" y="0"/>
                </a:moveTo>
                <a:lnTo>
                  <a:pt x="2741657" y="0"/>
                </a:lnTo>
                <a:lnTo>
                  <a:pt x="2741657" y="1939436"/>
                </a:lnTo>
                <a:lnTo>
                  <a:pt x="0" y="1939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8611" y="1216555"/>
            <a:ext cx="2741657" cy="35262"/>
          </a:xfrm>
          <a:custGeom>
            <a:avLst/>
            <a:gdLst/>
            <a:ahLst/>
            <a:cxnLst/>
            <a:rect l="l" t="t" r="r" b="b"/>
            <a:pathLst>
              <a:path w="2741657" h="35262">
                <a:moveTo>
                  <a:pt x="0" y="0"/>
                </a:moveTo>
                <a:lnTo>
                  <a:pt x="2741657" y="0"/>
                </a:lnTo>
                <a:lnTo>
                  <a:pt x="2741657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5448" y="1445761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15705" y="0"/>
                </a:moveTo>
                <a:lnTo>
                  <a:pt x="115705" y="33059"/>
                </a:lnTo>
                <a:cubicBezTo>
                  <a:pt x="115705" y="37604"/>
                  <a:pt x="119424" y="41323"/>
                  <a:pt x="123970" y="41323"/>
                </a:cubicBezTo>
                <a:lnTo>
                  <a:pt x="140499" y="41323"/>
                </a:lnTo>
                <a:cubicBezTo>
                  <a:pt x="145044" y="41323"/>
                  <a:pt x="148764" y="37604"/>
                  <a:pt x="148764" y="33059"/>
                </a:cubicBezTo>
                <a:lnTo>
                  <a:pt x="148764" y="0"/>
                </a:lnTo>
                <a:lnTo>
                  <a:pt x="165293" y="0"/>
                </a:lnTo>
                <a:cubicBezTo>
                  <a:pt x="183527" y="0"/>
                  <a:pt x="198351" y="14825"/>
                  <a:pt x="198351" y="33059"/>
                </a:cubicBezTo>
                <a:lnTo>
                  <a:pt x="198351" y="99176"/>
                </a:lnTo>
                <a:cubicBezTo>
                  <a:pt x="198351" y="102017"/>
                  <a:pt x="197990" y="104806"/>
                  <a:pt x="197318" y="107440"/>
                </a:cubicBezTo>
                <a:lnTo>
                  <a:pt x="67150" y="107440"/>
                </a:lnTo>
                <a:cubicBezTo>
                  <a:pt x="66479" y="104806"/>
                  <a:pt x="66117" y="102017"/>
                  <a:pt x="66117" y="99176"/>
                </a:cubicBezTo>
                <a:lnTo>
                  <a:pt x="66117" y="33059"/>
                </a:lnTo>
                <a:cubicBezTo>
                  <a:pt x="66117" y="14825"/>
                  <a:pt x="80942" y="0"/>
                  <a:pt x="99176" y="0"/>
                </a:cubicBezTo>
                <a:lnTo>
                  <a:pt x="115705" y="0"/>
                </a:lnTo>
                <a:close/>
                <a:moveTo>
                  <a:pt x="165293" y="264469"/>
                </a:moveTo>
                <a:cubicBezTo>
                  <a:pt x="159508" y="264469"/>
                  <a:pt x="154032" y="262971"/>
                  <a:pt x="149280" y="260336"/>
                </a:cubicBezTo>
                <a:cubicBezTo>
                  <a:pt x="154187" y="251813"/>
                  <a:pt x="157028" y="241947"/>
                  <a:pt x="157028" y="231410"/>
                </a:cubicBezTo>
                <a:lnTo>
                  <a:pt x="157028" y="165293"/>
                </a:lnTo>
                <a:cubicBezTo>
                  <a:pt x="157028" y="154755"/>
                  <a:pt x="154187" y="144890"/>
                  <a:pt x="149280" y="136367"/>
                </a:cubicBezTo>
                <a:cubicBezTo>
                  <a:pt x="154032" y="133732"/>
                  <a:pt x="159456" y="132234"/>
                  <a:pt x="165293" y="132234"/>
                </a:cubicBezTo>
                <a:lnTo>
                  <a:pt x="181822" y="132234"/>
                </a:lnTo>
                <a:lnTo>
                  <a:pt x="181822" y="165293"/>
                </a:lnTo>
                <a:cubicBezTo>
                  <a:pt x="181822" y="169838"/>
                  <a:pt x="185541" y="173557"/>
                  <a:pt x="190087" y="173557"/>
                </a:cubicBezTo>
                <a:lnTo>
                  <a:pt x="206616" y="173557"/>
                </a:lnTo>
                <a:cubicBezTo>
                  <a:pt x="211162" y="173557"/>
                  <a:pt x="214881" y="169838"/>
                  <a:pt x="214881" y="165293"/>
                </a:cubicBezTo>
                <a:lnTo>
                  <a:pt x="214881" y="132234"/>
                </a:lnTo>
                <a:lnTo>
                  <a:pt x="231410" y="132234"/>
                </a:lnTo>
                <a:cubicBezTo>
                  <a:pt x="249644" y="132234"/>
                  <a:pt x="264469" y="147059"/>
                  <a:pt x="264469" y="165293"/>
                </a:cubicBezTo>
                <a:lnTo>
                  <a:pt x="264469" y="231410"/>
                </a:lnTo>
                <a:cubicBezTo>
                  <a:pt x="264469" y="249644"/>
                  <a:pt x="249644" y="264469"/>
                  <a:pt x="231410" y="264469"/>
                </a:cubicBezTo>
                <a:lnTo>
                  <a:pt x="165293" y="264469"/>
                </a:lnTo>
                <a:close/>
                <a:moveTo>
                  <a:pt x="0" y="165293"/>
                </a:moveTo>
                <a:cubicBezTo>
                  <a:pt x="0" y="147059"/>
                  <a:pt x="14825" y="132234"/>
                  <a:pt x="33059" y="132234"/>
                </a:cubicBezTo>
                <a:lnTo>
                  <a:pt x="49588" y="132234"/>
                </a:lnTo>
                <a:lnTo>
                  <a:pt x="49588" y="165293"/>
                </a:lnTo>
                <a:cubicBezTo>
                  <a:pt x="49588" y="169838"/>
                  <a:pt x="53307" y="173557"/>
                  <a:pt x="57852" y="173557"/>
                </a:cubicBezTo>
                <a:lnTo>
                  <a:pt x="74382" y="173557"/>
                </a:lnTo>
                <a:cubicBezTo>
                  <a:pt x="78927" y="173557"/>
                  <a:pt x="82646" y="169838"/>
                  <a:pt x="82646" y="165293"/>
                </a:cubicBezTo>
                <a:lnTo>
                  <a:pt x="82646" y="132234"/>
                </a:lnTo>
                <a:lnTo>
                  <a:pt x="99176" y="132234"/>
                </a:lnTo>
                <a:cubicBezTo>
                  <a:pt x="117410" y="132234"/>
                  <a:pt x="132234" y="147059"/>
                  <a:pt x="132234" y="165293"/>
                </a:cubicBezTo>
                <a:lnTo>
                  <a:pt x="132234" y="231410"/>
                </a:lnTo>
                <a:cubicBezTo>
                  <a:pt x="132234" y="249644"/>
                  <a:pt x="117410" y="264469"/>
                  <a:pt x="99176" y="264469"/>
                </a:cubicBezTo>
                <a:lnTo>
                  <a:pt x="33059" y="264469"/>
                </a:lnTo>
                <a:cubicBezTo>
                  <a:pt x="14825" y="264469"/>
                  <a:pt x="0" y="249644"/>
                  <a:pt x="0" y="231410"/>
                </a:cubicBezTo>
                <a:lnTo>
                  <a:pt x="0" y="165293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36804" y="1454577"/>
            <a:ext cx="758143" cy="246837"/>
          </a:xfrm>
          <a:custGeom>
            <a:avLst/>
            <a:gdLst/>
            <a:ahLst/>
            <a:cxnLst/>
            <a:rect l="l" t="t" r="r" b="b"/>
            <a:pathLst>
              <a:path w="758143" h="246837">
                <a:moveTo>
                  <a:pt x="0" y="0"/>
                </a:moveTo>
                <a:lnTo>
                  <a:pt x="758143" y="0"/>
                </a:lnTo>
                <a:lnTo>
                  <a:pt x="758143" y="246837"/>
                </a:lnTo>
                <a:lnTo>
                  <a:pt x="0" y="24683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6" name="Text 14"/>
          <p:cNvSpPr/>
          <p:nvPr/>
        </p:nvSpPr>
        <p:spPr>
          <a:xfrm>
            <a:off x="5036804" y="1454577"/>
            <a:ext cx="819852" cy="246837"/>
          </a:xfrm>
          <a:prstGeom prst="rect">
            <a:avLst/>
          </a:prstGeom>
          <a:noFill/>
          <a:ln/>
        </p:spPr>
        <p:txBody>
          <a:bodyPr wrap="square" lIns="105787" tIns="35262" rIns="105787" bIns="35262" rtlCol="0" anchor="ctr"/>
          <a:lstStyle/>
          <a:p>
            <a:pPr>
              <a:lnSpc>
                <a:spcPct val="120000"/>
              </a:lnSpc>
            </a:pPr>
            <a:r>
              <a:rPr lang="en-US" sz="972" b="1" spc="49" kern="0" dirty="0">
                <a:solidFill>
                  <a:srgbClr val="3A4F4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80186" y="1816017"/>
            <a:ext cx="238903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Items Sold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80186" y="2098117"/>
            <a:ext cx="2530082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8,523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0186" y="2591792"/>
            <a:ext cx="238021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A8A1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Units sold across entire product portfolio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4597" y="1216555"/>
            <a:ext cx="2741657" cy="1939436"/>
          </a:xfrm>
          <a:custGeom>
            <a:avLst/>
            <a:gdLst/>
            <a:ahLst/>
            <a:cxnLst/>
            <a:rect l="l" t="t" r="r" b="b"/>
            <a:pathLst>
              <a:path w="2741657" h="1939436">
                <a:moveTo>
                  <a:pt x="0" y="0"/>
                </a:moveTo>
                <a:lnTo>
                  <a:pt x="2741657" y="0"/>
                </a:lnTo>
                <a:lnTo>
                  <a:pt x="2741657" y="1939436"/>
                </a:lnTo>
                <a:lnTo>
                  <a:pt x="0" y="1939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4597" y="1216555"/>
            <a:ext cx="2741657" cy="35262"/>
          </a:xfrm>
          <a:custGeom>
            <a:avLst/>
            <a:gdLst/>
            <a:ahLst/>
            <a:cxnLst/>
            <a:rect l="l" t="t" r="r" b="b"/>
            <a:pathLst>
              <a:path w="2741657" h="35262">
                <a:moveTo>
                  <a:pt x="0" y="0"/>
                </a:moveTo>
                <a:lnTo>
                  <a:pt x="2741657" y="0"/>
                </a:lnTo>
                <a:lnTo>
                  <a:pt x="2741657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1434" y="1445761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6529" y="16529"/>
                </a:moveTo>
                <a:cubicBezTo>
                  <a:pt x="25672" y="16529"/>
                  <a:pt x="33059" y="23916"/>
                  <a:pt x="33059" y="33059"/>
                </a:cubicBezTo>
                <a:lnTo>
                  <a:pt x="33059" y="206616"/>
                </a:lnTo>
                <a:cubicBezTo>
                  <a:pt x="33059" y="211162"/>
                  <a:pt x="36778" y="214881"/>
                  <a:pt x="41323" y="214881"/>
                </a:cubicBezTo>
                <a:lnTo>
                  <a:pt x="247939" y="214881"/>
                </a:lnTo>
                <a:cubicBezTo>
                  <a:pt x="257082" y="214881"/>
                  <a:pt x="264469" y="222267"/>
                  <a:pt x="264469" y="231410"/>
                </a:cubicBezTo>
                <a:cubicBezTo>
                  <a:pt x="264469" y="240553"/>
                  <a:pt x="257082" y="247939"/>
                  <a:pt x="247939" y="247939"/>
                </a:cubicBezTo>
                <a:lnTo>
                  <a:pt x="41323" y="247939"/>
                </a:lnTo>
                <a:cubicBezTo>
                  <a:pt x="18492" y="247939"/>
                  <a:pt x="0" y="229447"/>
                  <a:pt x="0" y="206616"/>
                </a:cubicBezTo>
                <a:lnTo>
                  <a:pt x="0" y="33059"/>
                </a:lnTo>
                <a:cubicBezTo>
                  <a:pt x="0" y="23916"/>
                  <a:pt x="7387" y="16529"/>
                  <a:pt x="16529" y="16529"/>
                </a:cubicBezTo>
                <a:close/>
                <a:moveTo>
                  <a:pt x="66117" y="49588"/>
                </a:moveTo>
                <a:cubicBezTo>
                  <a:pt x="66117" y="40445"/>
                  <a:pt x="73504" y="33059"/>
                  <a:pt x="82646" y="33059"/>
                </a:cubicBezTo>
                <a:lnTo>
                  <a:pt x="181822" y="33059"/>
                </a:lnTo>
                <a:cubicBezTo>
                  <a:pt x="190965" y="33059"/>
                  <a:pt x="198351" y="40445"/>
                  <a:pt x="198351" y="49588"/>
                </a:cubicBezTo>
                <a:cubicBezTo>
                  <a:pt x="198351" y="58731"/>
                  <a:pt x="190965" y="66117"/>
                  <a:pt x="181822" y="66117"/>
                </a:cubicBezTo>
                <a:lnTo>
                  <a:pt x="82646" y="66117"/>
                </a:lnTo>
                <a:cubicBezTo>
                  <a:pt x="73504" y="66117"/>
                  <a:pt x="66117" y="58731"/>
                  <a:pt x="66117" y="49588"/>
                </a:cubicBezTo>
                <a:close/>
                <a:moveTo>
                  <a:pt x="82646" y="90911"/>
                </a:moveTo>
                <a:lnTo>
                  <a:pt x="148764" y="90911"/>
                </a:lnTo>
                <a:cubicBezTo>
                  <a:pt x="157906" y="90911"/>
                  <a:pt x="165293" y="98298"/>
                  <a:pt x="165293" y="107440"/>
                </a:cubicBezTo>
                <a:cubicBezTo>
                  <a:pt x="165293" y="116583"/>
                  <a:pt x="157906" y="123970"/>
                  <a:pt x="148764" y="123970"/>
                </a:cubicBezTo>
                <a:lnTo>
                  <a:pt x="82646" y="123970"/>
                </a:lnTo>
                <a:cubicBezTo>
                  <a:pt x="73504" y="123970"/>
                  <a:pt x="66117" y="116583"/>
                  <a:pt x="66117" y="107440"/>
                </a:cubicBezTo>
                <a:cubicBezTo>
                  <a:pt x="66117" y="98298"/>
                  <a:pt x="73504" y="90911"/>
                  <a:pt x="82646" y="90911"/>
                </a:cubicBezTo>
                <a:close/>
                <a:moveTo>
                  <a:pt x="82646" y="148764"/>
                </a:moveTo>
                <a:lnTo>
                  <a:pt x="214881" y="148764"/>
                </a:lnTo>
                <a:cubicBezTo>
                  <a:pt x="224023" y="148764"/>
                  <a:pt x="231410" y="156150"/>
                  <a:pt x="231410" y="165293"/>
                </a:cubicBezTo>
                <a:cubicBezTo>
                  <a:pt x="231410" y="174436"/>
                  <a:pt x="224023" y="181822"/>
                  <a:pt x="214881" y="181822"/>
                </a:cubicBezTo>
                <a:lnTo>
                  <a:pt x="82646" y="181822"/>
                </a:lnTo>
                <a:cubicBezTo>
                  <a:pt x="73504" y="181822"/>
                  <a:pt x="66117" y="174436"/>
                  <a:pt x="66117" y="165293"/>
                </a:cubicBezTo>
                <a:cubicBezTo>
                  <a:pt x="66117" y="156150"/>
                  <a:pt x="73504" y="148764"/>
                  <a:pt x="82646" y="14876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1989" y="1454577"/>
            <a:ext cx="811037" cy="246837"/>
          </a:xfrm>
          <a:custGeom>
            <a:avLst/>
            <a:gdLst/>
            <a:ahLst/>
            <a:cxnLst/>
            <a:rect l="l" t="t" r="r" b="b"/>
            <a:pathLst>
              <a:path w="811037" h="246837">
                <a:moveTo>
                  <a:pt x="0" y="0"/>
                </a:moveTo>
                <a:lnTo>
                  <a:pt x="811037" y="0"/>
                </a:lnTo>
                <a:lnTo>
                  <a:pt x="811037" y="246837"/>
                </a:lnTo>
                <a:lnTo>
                  <a:pt x="0" y="24683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4" name="Text 22"/>
          <p:cNvSpPr/>
          <p:nvPr/>
        </p:nvSpPr>
        <p:spPr>
          <a:xfrm>
            <a:off x="7901989" y="1454577"/>
            <a:ext cx="872746" cy="246837"/>
          </a:xfrm>
          <a:prstGeom prst="rect">
            <a:avLst/>
          </a:prstGeom>
          <a:noFill/>
          <a:ln/>
        </p:spPr>
        <p:txBody>
          <a:bodyPr wrap="square" lIns="105787" tIns="35262" rIns="105787" bIns="35262" rtlCol="0" anchor="ctr"/>
          <a:lstStyle/>
          <a:p>
            <a:pPr>
              <a:lnSpc>
                <a:spcPct val="120000"/>
              </a:lnSpc>
            </a:pPr>
            <a:r>
              <a:rPr lang="en-US" sz="972" b="1" spc="49" kern="0" dirty="0">
                <a:solidFill>
                  <a:srgbClr val="3A4F4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6172" y="1816017"/>
            <a:ext cx="238903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Sales per Item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6172" y="2098117"/>
            <a:ext cx="2530082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$141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96172" y="2591792"/>
            <a:ext cx="2380217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A8A1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revenue generated per individual product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00584" y="1216555"/>
            <a:ext cx="2741657" cy="1939436"/>
          </a:xfrm>
          <a:custGeom>
            <a:avLst/>
            <a:gdLst/>
            <a:ahLst/>
            <a:cxnLst/>
            <a:rect l="l" t="t" r="r" b="b"/>
            <a:pathLst>
              <a:path w="2741657" h="1939436">
                <a:moveTo>
                  <a:pt x="0" y="0"/>
                </a:moveTo>
                <a:lnTo>
                  <a:pt x="2741657" y="0"/>
                </a:lnTo>
                <a:lnTo>
                  <a:pt x="2741657" y="1939436"/>
                </a:lnTo>
                <a:lnTo>
                  <a:pt x="0" y="1939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100584" y="1216555"/>
            <a:ext cx="2741657" cy="35262"/>
          </a:xfrm>
          <a:custGeom>
            <a:avLst/>
            <a:gdLst/>
            <a:ahLst/>
            <a:cxnLst/>
            <a:rect l="l" t="t" r="r" b="b"/>
            <a:pathLst>
              <a:path w="2741657" h="35262">
                <a:moveTo>
                  <a:pt x="0" y="0"/>
                </a:moveTo>
                <a:lnTo>
                  <a:pt x="2741657" y="0"/>
                </a:lnTo>
                <a:lnTo>
                  <a:pt x="2741657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330892" y="1445761"/>
            <a:ext cx="297527" cy="264469"/>
          </a:xfrm>
          <a:custGeom>
            <a:avLst/>
            <a:gdLst/>
            <a:ahLst/>
            <a:cxnLst/>
            <a:rect l="l" t="t" r="r" b="b"/>
            <a:pathLst>
              <a:path w="297527" h="264469">
                <a:moveTo>
                  <a:pt x="159869" y="-9763"/>
                </a:moveTo>
                <a:cubicBezTo>
                  <a:pt x="157751" y="-13895"/>
                  <a:pt x="153464" y="-16529"/>
                  <a:pt x="148815" y="-16529"/>
                </a:cubicBezTo>
                <a:cubicBezTo>
                  <a:pt x="144166" y="-16529"/>
                  <a:pt x="139879" y="-13895"/>
                  <a:pt x="137761" y="-9763"/>
                </a:cubicBezTo>
                <a:lnTo>
                  <a:pt x="99744" y="64722"/>
                </a:lnTo>
                <a:lnTo>
                  <a:pt x="17149" y="77843"/>
                </a:lnTo>
                <a:cubicBezTo>
                  <a:pt x="12552" y="78566"/>
                  <a:pt x="8730" y="81820"/>
                  <a:pt x="7283" y="86262"/>
                </a:cubicBezTo>
                <a:cubicBezTo>
                  <a:pt x="5837" y="90704"/>
                  <a:pt x="7025" y="95560"/>
                  <a:pt x="10279" y="98866"/>
                </a:cubicBezTo>
                <a:lnTo>
                  <a:pt x="69371" y="158010"/>
                </a:lnTo>
                <a:lnTo>
                  <a:pt x="56355" y="240604"/>
                </a:lnTo>
                <a:cubicBezTo>
                  <a:pt x="55631" y="245202"/>
                  <a:pt x="57543" y="249850"/>
                  <a:pt x="61313" y="252588"/>
                </a:cubicBezTo>
                <a:cubicBezTo>
                  <a:pt x="65084" y="255326"/>
                  <a:pt x="70043" y="255739"/>
                  <a:pt x="74227" y="253621"/>
                </a:cubicBezTo>
                <a:lnTo>
                  <a:pt x="148815" y="215707"/>
                </a:lnTo>
                <a:lnTo>
                  <a:pt x="223352" y="253621"/>
                </a:lnTo>
                <a:cubicBezTo>
                  <a:pt x="227484" y="255739"/>
                  <a:pt x="232495" y="255326"/>
                  <a:pt x="236265" y="252588"/>
                </a:cubicBezTo>
                <a:cubicBezTo>
                  <a:pt x="240036" y="249850"/>
                  <a:pt x="241947" y="245253"/>
                  <a:pt x="241224" y="240604"/>
                </a:cubicBezTo>
                <a:lnTo>
                  <a:pt x="228156" y="158010"/>
                </a:lnTo>
                <a:lnTo>
                  <a:pt x="287248" y="98866"/>
                </a:lnTo>
                <a:cubicBezTo>
                  <a:pt x="290554" y="95560"/>
                  <a:pt x="291690" y="90704"/>
                  <a:pt x="290244" y="86262"/>
                </a:cubicBezTo>
                <a:cubicBezTo>
                  <a:pt x="288798" y="81820"/>
                  <a:pt x="285027" y="78566"/>
                  <a:pt x="280378" y="77843"/>
                </a:cubicBezTo>
                <a:lnTo>
                  <a:pt x="197835" y="64722"/>
                </a:lnTo>
                <a:lnTo>
                  <a:pt x="159869" y="-9763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63156" y="1454577"/>
            <a:ext cx="766959" cy="246837"/>
          </a:xfrm>
          <a:custGeom>
            <a:avLst/>
            <a:gdLst/>
            <a:ahLst/>
            <a:cxnLst/>
            <a:rect l="l" t="t" r="r" b="b"/>
            <a:pathLst>
              <a:path w="766959" h="246837">
                <a:moveTo>
                  <a:pt x="0" y="0"/>
                </a:moveTo>
                <a:lnTo>
                  <a:pt x="766959" y="0"/>
                </a:lnTo>
                <a:lnTo>
                  <a:pt x="766959" y="246837"/>
                </a:lnTo>
                <a:lnTo>
                  <a:pt x="0" y="24683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2" name="Text 30"/>
          <p:cNvSpPr/>
          <p:nvPr/>
        </p:nvSpPr>
        <p:spPr>
          <a:xfrm>
            <a:off x="10863156" y="1454577"/>
            <a:ext cx="828668" cy="246837"/>
          </a:xfrm>
          <a:prstGeom prst="rect">
            <a:avLst/>
          </a:prstGeom>
          <a:noFill/>
          <a:ln/>
        </p:spPr>
        <p:txBody>
          <a:bodyPr wrap="square" lIns="105787" tIns="35262" rIns="105787" bIns="35262" rtlCol="0" anchor="ctr"/>
          <a:lstStyle/>
          <a:p>
            <a:pPr>
              <a:lnSpc>
                <a:spcPct val="120000"/>
              </a:lnSpc>
            </a:pPr>
            <a:r>
              <a:rPr lang="en-US" sz="972" b="1" spc="49" kern="0" dirty="0">
                <a:solidFill>
                  <a:srgbClr val="3A4F4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12159" y="1816017"/>
            <a:ext cx="238903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D2D2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Product Rating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12159" y="2098117"/>
            <a:ext cx="2530082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2159" y="2591792"/>
            <a:ext cx="2380217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A8A1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 score across portfolio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2625" y="3332304"/>
            <a:ext cx="3711375" cy="3173623"/>
          </a:xfrm>
          <a:custGeom>
            <a:avLst/>
            <a:gdLst/>
            <a:ahLst/>
            <a:cxnLst/>
            <a:rect l="l" t="t" r="r" b="b"/>
            <a:pathLst>
              <a:path w="3711375" h="3173623">
                <a:moveTo>
                  <a:pt x="0" y="0"/>
                </a:moveTo>
                <a:lnTo>
                  <a:pt x="3711375" y="0"/>
                </a:lnTo>
                <a:lnTo>
                  <a:pt x="3711375" y="3173623"/>
                </a:lnTo>
                <a:lnTo>
                  <a:pt x="0" y="3173623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7" name="Text 35"/>
          <p:cNvSpPr/>
          <p:nvPr/>
        </p:nvSpPr>
        <p:spPr>
          <a:xfrm>
            <a:off x="528937" y="3508616"/>
            <a:ext cx="343809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Context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8937" y="3861241"/>
            <a:ext cx="3429275" cy="91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F5F3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four metrics provide a comprehensive view of Blinkit's sales performance, encompassing revenue scale, operational volume, product-level efficiency, and customer satisfaction.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6568" y="4936746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0" name="Text 38"/>
          <p:cNvSpPr/>
          <p:nvPr/>
        </p:nvSpPr>
        <p:spPr>
          <a:xfrm>
            <a:off x="775774" y="4919115"/>
            <a:ext cx="201877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revenue generation capability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6568" y="5183584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2" name="Text 40"/>
          <p:cNvSpPr/>
          <p:nvPr/>
        </p:nvSpPr>
        <p:spPr>
          <a:xfrm>
            <a:off x="775774" y="5165952"/>
            <a:ext cx="2785735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sales volume indicating market acceptance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6568" y="5430421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4" name="Text 42"/>
          <p:cNvSpPr/>
          <p:nvPr/>
        </p:nvSpPr>
        <p:spPr>
          <a:xfrm>
            <a:off x="775774" y="5412790"/>
            <a:ext cx="227443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per-unit revenue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6568" y="5677258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93776" y="58596"/>
                </a:moveTo>
                <a:lnTo>
                  <a:pt x="71737" y="93859"/>
                </a:lnTo>
                <a:cubicBezTo>
                  <a:pt x="70580" y="95705"/>
                  <a:pt x="68597" y="96862"/>
                  <a:pt x="66420" y="96972"/>
                </a:cubicBezTo>
                <a:cubicBezTo>
                  <a:pt x="64244" y="97082"/>
                  <a:pt x="62150" y="96090"/>
                  <a:pt x="60855" y="94327"/>
                </a:cubicBezTo>
                <a:lnTo>
                  <a:pt x="47632" y="76696"/>
                </a:lnTo>
                <a:cubicBezTo>
                  <a:pt x="45428" y="73776"/>
                  <a:pt x="46034" y="69643"/>
                  <a:pt x="48954" y="67439"/>
                </a:cubicBezTo>
                <a:cubicBezTo>
                  <a:pt x="51874" y="65236"/>
                  <a:pt x="56007" y="65842"/>
                  <a:pt x="58211" y="68762"/>
                </a:cubicBezTo>
                <a:lnTo>
                  <a:pt x="65649" y="78679"/>
                </a:lnTo>
                <a:lnTo>
                  <a:pt x="82564" y="51599"/>
                </a:lnTo>
                <a:cubicBezTo>
                  <a:pt x="84492" y="48513"/>
                  <a:pt x="88569" y="47549"/>
                  <a:pt x="91682" y="49505"/>
                </a:cubicBezTo>
                <a:cubicBezTo>
                  <a:pt x="94795" y="51461"/>
                  <a:pt x="95732" y="55511"/>
                  <a:pt x="93776" y="58624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6" name="Text 44"/>
          <p:cNvSpPr/>
          <p:nvPr/>
        </p:nvSpPr>
        <p:spPr>
          <a:xfrm>
            <a:off x="775774" y="5659627"/>
            <a:ext cx="187772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 customer satisfaction ratings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0533" y="3349935"/>
            <a:ext cx="7599063" cy="3155991"/>
          </a:xfrm>
          <a:custGeom>
            <a:avLst/>
            <a:gdLst/>
            <a:ahLst/>
            <a:cxnLst/>
            <a:rect l="l" t="t" r="r" b="b"/>
            <a:pathLst>
              <a:path w="7599063" h="3155991">
                <a:moveTo>
                  <a:pt x="0" y="0"/>
                </a:moveTo>
                <a:lnTo>
                  <a:pt x="7599063" y="0"/>
                </a:lnTo>
                <a:lnTo>
                  <a:pt x="7599063" y="3155991"/>
                </a:lnTo>
                <a:lnTo>
                  <a:pt x="0" y="31559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40533" y="3349935"/>
            <a:ext cx="7599063" cy="35262"/>
          </a:xfrm>
          <a:custGeom>
            <a:avLst/>
            <a:gdLst/>
            <a:ahLst/>
            <a:cxnLst/>
            <a:rect l="l" t="t" r="r" b="b"/>
            <a:pathLst>
              <a:path w="7599063" h="35262">
                <a:moveTo>
                  <a:pt x="0" y="0"/>
                </a:moveTo>
                <a:lnTo>
                  <a:pt x="7599063" y="0"/>
                </a:lnTo>
                <a:lnTo>
                  <a:pt x="7599063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9" name="Text 47"/>
          <p:cNvSpPr/>
          <p:nvPr/>
        </p:nvSpPr>
        <p:spPr>
          <a:xfrm>
            <a:off x="4381583" y="3508616"/>
            <a:ext cx="739630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Metric Distribution Analysis</a:t>
            </a:r>
            <a:endParaRPr lang="en-US" sz="1600" dirty="0"/>
          </a:p>
        </p:txBody>
      </p:sp>
      <p:pic>
        <p:nvPicPr>
          <p:cNvPr id="50" name="Image 0" descr="https://kimi-img.moonshot.cn/pub/slides/26-01-23-20:50:56-d5pmtc2i597ees96rco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83" y="3825978"/>
            <a:ext cx="6708685" cy="2468373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208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Sales Performance by Product Category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264495"/>
            <a:ext cx="6775430" cy="5218402"/>
          </a:xfrm>
          <a:custGeom>
            <a:avLst/>
            <a:gdLst/>
            <a:ahLst/>
            <a:cxnLst/>
            <a:rect l="l" t="t" r="r" b="b"/>
            <a:pathLst>
              <a:path w="6775430" h="5218402">
                <a:moveTo>
                  <a:pt x="0" y="0"/>
                </a:moveTo>
                <a:lnTo>
                  <a:pt x="6775430" y="0"/>
                </a:lnTo>
                <a:lnTo>
                  <a:pt x="6775430" y="5218402"/>
                </a:lnTo>
                <a:lnTo>
                  <a:pt x="0" y="52184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77461" y="1264495"/>
            <a:ext cx="6775430" cy="37746"/>
          </a:xfrm>
          <a:custGeom>
            <a:avLst/>
            <a:gdLst/>
            <a:ahLst/>
            <a:cxnLst/>
            <a:rect l="l" t="t" r="r" b="b"/>
            <a:pathLst>
              <a:path w="6775430" h="37746">
                <a:moveTo>
                  <a:pt x="0" y="0"/>
                </a:moveTo>
                <a:lnTo>
                  <a:pt x="6775430" y="0"/>
                </a:lnTo>
                <a:lnTo>
                  <a:pt x="6775430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Text 4"/>
          <p:cNvSpPr/>
          <p:nvPr/>
        </p:nvSpPr>
        <p:spPr>
          <a:xfrm>
            <a:off x="528446" y="1434353"/>
            <a:ext cx="656782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Revenue by Item Type</a:t>
            </a:r>
            <a:endParaRPr lang="en-US" sz="1600" dirty="0"/>
          </a:p>
        </p:txBody>
      </p:sp>
      <p:pic>
        <p:nvPicPr>
          <p:cNvPr id="7" name="Image 0" descr="https://kimi-img.moonshot.cn/pub/slides/26-01-23-20:50:57-d5pmtcai597ees96rcq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46" y="1774068"/>
            <a:ext cx="6407406" cy="4529536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04230" y="1264495"/>
            <a:ext cx="4510663" cy="2868706"/>
          </a:xfrm>
          <a:custGeom>
            <a:avLst/>
            <a:gdLst/>
            <a:ahLst/>
            <a:cxnLst/>
            <a:rect l="l" t="t" r="r" b="b"/>
            <a:pathLst>
              <a:path w="4510663" h="2868706">
                <a:moveTo>
                  <a:pt x="0" y="0"/>
                </a:moveTo>
                <a:lnTo>
                  <a:pt x="4510663" y="0"/>
                </a:lnTo>
                <a:lnTo>
                  <a:pt x="4510663" y="2868706"/>
                </a:lnTo>
                <a:lnTo>
                  <a:pt x="0" y="28687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304230" y="1264495"/>
            <a:ext cx="4510663" cy="37746"/>
          </a:xfrm>
          <a:custGeom>
            <a:avLst/>
            <a:gdLst/>
            <a:ahLst/>
            <a:cxnLst/>
            <a:rect l="l" t="t" r="r" b="b"/>
            <a:pathLst>
              <a:path w="4510663" h="37746">
                <a:moveTo>
                  <a:pt x="0" y="0"/>
                </a:moveTo>
                <a:lnTo>
                  <a:pt x="4510663" y="0"/>
                </a:lnTo>
                <a:lnTo>
                  <a:pt x="4510663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0" name="Text 7"/>
          <p:cNvSpPr/>
          <p:nvPr/>
        </p:nvSpPr>
        <p:spPr>
          <a:xfrm>
            <a:off x="7455215" y="1434353"/>
            <a:ext cx="430305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Fat Content Analysis</a:t>
            </a:r>
            <a:endParaRPr lang="en-US" sz="1600" dirty="0"/>
          </a:p>
        </p:txBody>
      </p:sp>
      <p:pic>
        <p:nvPicPr>
          <p:cNvPr id="11" name="Image 1" descr="https://kimi-img.moonshot.cn/pub/slides/26-01-23-20:50:56-d5pmtc2mvvhic8rs9f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15" y="1811814"/>
            <a:ext cx="4161511" cy="2170402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8"/>
          <p:cNvSpPr/>
          <p:nvPr/>
        </p:nvSpPr>
        <p:spPr>
          <a:xfrm>
            <a:off x="7304230" y="4246440"/>
            <a:ext cx="4510663" cy="2541338"/>
          </a:xfrm>
          <a:custGeom>
            <a:avLst/>
            <a:gdLst/>
            <a:ahLst/>
            <a:cxnLst/>
            <a:rect l="l" t="t" r="r" b="b"/>
            <a:pathLst>
              <a:path w="4510663" h="2541338">
                <a:moveTo>
                  <a:pt x="0" y="0"/>
                </a:moveTo>
                <a:lnTo>
                  <a:pt x="4510663" y="0"/>
                </a:lnTo>
                <a:lnTo>
                  <a:pt x="4510663" y="2541338"/>
                </a:lnTo>
                <a:lnTo>
                  <a:pt x="0" y="2541338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3" name="Text 9"/>
          <p:cNvSpPr/>
          <p:nvPr/>
        </p:nvSpPr>
        <p:spPr>
          <a:xfrm>
            <a:off x="7455215" y="4397424"/>
            <a:ext cx="429362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Performers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455215" y="4774885"/>
            <a:ext cx="4208693" cy="415207"/>
          </a:xfrm>
          <a:custGeom>
            <a:avLst/>
            <a:gdLst/>
            <a:ahLst/>
            <a:cxnLst/>
            <a:rect l="l" t="t" r="r" b="b"/>
            <a:pathLst>
              <a:path w="4208693" h="415207">
                <a:moveTo>
                  <a:pt x="0" y="0"/>
                </a:moveTo>
                <a:lnTo>
                  <a:pt x="4208693" y="0"/>
                </a:lnTo>
                <a:lnTo>
                  <a:pt x="4208693" y="415207"/>
                </a:lnTo>
                <a:lnTo>
                  <a:pt x="0" y="415207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530707" y="4850378"/>
            <a:ext cx="22647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C75D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#1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52348" y="4869251"/>
            <a:ext cx="133055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Fruits &amp; Vegetables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996392" y="4869251"/>
            <a:ext cx="66999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$178,124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455215" y="5265585"/>
            <a:ext cx="4208693" cy="415207"/>
          </a:xfrm>
          <a:custGeom>
            <a:avLst/>
            <a:gdLst/>
            <a:ahLst/>
            <a:cxnLst/>
            <a:rect l="l" t="t" r="r" b="b"/>
            <a:pathLst>
              <a:path w="4208693" h="415207">
                <a:moveTo>
                  <a:pt x="0" y="0"/>
                </a:moveTo>
                <a:lnTo>
                  <a:pt x="4208693" y="0"/>
                </a:lnTo>
                <a:lnTo>
                  <a:pt x="4208693" y="415207"/>
                </a:lnTo>
                <a:lnTo>
                  <a:pt x="0" y="415207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530707" y="5341077"/>
            <a:ext cx="26422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C75D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#2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783724" y="5359950"/>
            <a:ext cx="89647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Snack Foods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972211" y="5359950"/>
            <a:ext cx="69830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$175,434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455215" y="5756285"/>
            <a:ext cx="4208693" cy="415207"/>
          </a:xfrm>
          <a:custGeom>
            <a:avLst/>
            <a:gdLst/>
            <a:ahLst/>
            <a:cxnLst/>
            <a:rect l="l" t="t" r="r" b="b"/>
            <a:pathLst>
              <a:path w="4208693" h="415207">
                <a:moveTo>
                  <a:pt x="0" y="0"/>
                </a:moveTo>
                <a:lnTo>
                  <a:pt x="4208693" y="0"/>
                </a:lnTo>
                <a:lnTo>
                  <a:pt x="4208693" y="415207"/>
                </a:lnTo>
                <a:lnTo>
                  <a:pt x="0" y="415207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7530707" y="5831777"/>
            <a:ext cx="26422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C75D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#3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784550" y="5850650"/>
            <a:ext cx="78323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0982473" y="5850650"/>
            <a:ext cx="68886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$135,977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455215" y="6246985"/>
            <a:ext cx="4208693" cy="415207"/>
          </a:xfrm>
          <a:custGeom>
            <a:avLst/>
            <a:gdLst/>
            <a:ahLst/>
            <a:cxnLst/>
            <a:rect l="l" t="t" r="r" b="b"/>
            <a:pathLst>
              <a:path w="4208693" h="415207">
                <a:moveTo>
                  <a:pt x="0" y="0"/>
                </a:moveTo>
                <a:lnTo>
                  <a:pt x="4208693" y="0"/>
                </a:lnTo>
                <a:lnTo>
                  <a:pt x="4208693" y="415207"/>
                </a:lnTo>
                <a:lnTo>
                  <a:pt x="0" y="415207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7530707" y="6322477"/>
            <a:ext cx="27365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C75D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792217" y="6341350"/>
            <a:ext cx="94365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Frozen Foods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986129" y="6341350"/>
            <a:ext cx="67943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$118,559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208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Outlet Segmentation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264495"/>
            <a:ext cx="5643046" cy="3378279"/>
          </a:xfrm>
          <a:custGeom>
            <a:avLst/>
            <a:gdLst/>
            <a:ahLst/>
            <a:cxnLst/>
            <a:rect l="l" t="t" r="r" b="b"/>
            <a:pathLst>
              <a:path w="5643046" h="3378279">
                <a:moveTo>
                  <a:pt x="0" y="0"/>
                </a:moveTo>
                <a:lnTo>
                  <a:pt x="5643046" y="0"/>
                </a:lnTo>
                <a:lnTo>
                  <a:pt x="5643046" y="3378279"/>
                </a:lnTo>
                <a:lnTo>
                  <a:pt x="0" y="33782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77461" y="1264495"/>
            <a:ext cx="5643046" cy="37746"/>
          </a:xfrm>
          <a:custGeom>
            <a:avLst/>
            <a:gdLst/>
            <a:ahLst/>
            <a:cxnLst/>
            <a:rect l="l" t="t" r="r" b="b"/>
            <a:pathLst>
              <a:path w="5643046" h="37746">
                <a:moveTo>
                  <a:pt x="0" y="0"/>
                </a:moveTo>
                <a:lnTo>
                  <a:pt x="5643046" y="0"/>
                </a:lnTo>
                <a:lnTo>
                  <a:pt x="5643046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Text 4"/>
          <p:cNvSpPr/>
          <p:nvPr/>
        </p:nvSpPr>
        <p:spPr>
          <a:xfrm>
            <a:off x="528446" y="1434353"/>
            <a:ext cx="542600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by Outlet Size</a:t>
            </a:r>
            <a:endParaRPr lang="en-US" sz="1600" dirty="0"/>
          </a:p>
        </p:txBody>
      </p:sp>
      <p:pic>
        <p:nvPicPr>
          <p:cNvPr id="7" name="Image 0" descr="https://kimi-img.moonshot.cn/pub/slides/26-01-23-20:50:56-d5pmtc2j4egnfor6idr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46" y="1774068"/>
            <a:ext cx="5284458" cy="2736594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73616" y="1264495"/>
            <a:ext cx="5643046" cy="3378279"/>
          </a:xfrm>
          <a:custGeom>
            <a:avLst/>
            <a:gdLst/>
            <a:ahLst/>
            <a:cxnLst/>
            <a:rect l="l" t="t" r="r" b="b"/>
            <a:pathLst>
              <a:path w="5643046" h="3378279">
                <a:moveTo>
                  <a:pt x="0" y="0"/>
                </a:moveTo>
                <a:lnTo>
                  <a:pt x="5643046" y="0"/>
                </a:lnTo>
                <a:lnTo>
                  <a:pt x="5643046" y="3378279"/>
                </a:lnTo>
                <a:lnTo>
                  <a:pt x="0" y="33782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173616" y="1264495"/>
            <a:ext cx="5643046" cy="37746"/>
          </a:xfrm>
          <a:custGeom>
            <a:avLst/>
            <a:gdLst/>
            <a:ahLst/>
            <a:cxnLst/>
            <a:rect l="l" t="t" r="r" b="b"/>
            <a:pathLst>
              <a:path w="5643046" h="37746">
                <a:moveTo>
                  <a:pt x="0" y="0"/>
                </a:moveTo>
                <a:lnTo>
                  <a:pt x="5643046" y="0"/>
                </a:lnTo>
                <a:lnTo>
                  <a:pt x="5643046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10" name="Text 7"/>
          <p:cNvSpPr/>
          <p:nvPr/>
        </p:nvSpPr>
        <p:spPr>
          <a:xfrm>
            <a:off x="6324600" y="1434353"/>
            <a:ext cx="542600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by Location Tier</a:t>
            </a:r>
            <a:endParaRPr lang="en-US" sz="1600" dirty="0"/>
          </a:p>
        </p:txBody>
      </p:sp>
      <p:pic>
        <p:nvPicPr>
          <p:cNvPr id="11" name="Image 1" descr="https://kimi-img.moonshot.cn/pub/slides/26-01-23-20:50:56-d5pmtc4rhkl1anjgr1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774068"/>
            <a:ext cx="5284458" cy="2736594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8"/>
          <p:cNvSpPr/>
          <p:nvPr/>
        </p:nvSpPr>
        <p:spPr>
          <a:xfrm>
            <a:off x="377461" y="4812632"/>
            <a:ext cx="7473734" cy="1679703"/>
          </a:xfrm>
          <a:custGeom>
            <a:avLst/>
            <a:gdLst/>
            <a:ahLst/>
            <a:cxnLst/>
            <a:rect l="l" t="t" r="r" b="b"/>
            <a:pathLst>
              <a:path w="7473734" h="1679703">
                <a:moveTo>
                  <a:pt x="0" y="0"/>
                </a:moveTo>
                <a:lnTo>
                  <a:pt x="7473734" y="0"/>
                </a:lnTo>
                <a:lnTo>
                  <a:pt x="7473734" y="1679703"/>
                </a:lnTo>
                <a:lnTo>
                  <a:pt x="0" y="16797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77461" y="4812632"/>
            <a:ext cx="7473734" cy="37746"/>
          </a:xfrm>
          <a:custGeom>
            <a:avLst/>
            <a:gdLst/>
            <a:ahLst/>
            <a:cxnLst/>
            <a:rect l="l" t="t" r="r" b="b"/>
            <a:pathLst>
              <a:path w="7473734" h="37746">
                <a:moveTo>
                  <a:pt x="0" y="0"/>
                </a:moveTo>
                <a:lnTo>
                  <a:pt x="7473734" y="0"/>
                </a:lnTo>
                <a:lnTo>
                  <a:pt x="7473734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4" name="Text 10"/>
          <p:cNvSpPr/>
          <p:nvPr/>
        </p:nvSpPr>
        <p:spPr>
          <a:xfrm>
            <a:off x="528446" y="4982489"/>
            <a:ext cx="725669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by Outlet Type</a:t>
            </a:r>
            <a:endParaRPr lang="en-US" sz="1600" dirty="0"/>
          </a:p>
        </p:txBody>
      </p:sp>
      <p:pic>
        <p:nvPicPr>
          <p:cNvPr id="15" name="Image 2" descr="https://kimi-img.moonshot.cn/pub/slides/26-01-23-20:50:57-d5pmtcbv466gkq1ki2d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46" y="5322204"/>
            <a:ext cx="7096272" cy="1038019"/>
          </a:xfrm>
          <a:prstGeom prst="roundRect">
            <a:avLst>
              <a:gd name="adj" fmla="val 0"/>
            </a:avLst>
          </a:prstGeom>
        </p:spPr>
      </p:pic>
      <p:sp>
        <p:nvSpPr>
          <p:cNvPr id="16" name="Shape 11"/>
          <p:cNvSpPr/>
          <p:nvPr/>
        </p:nvSpPr>
        <p:spPr>
          <a:xfrm>
            <a:off x="8005010" y="4793759"/>
            <a:ext cx="3812359" cy="1698576"/>
          </a:xfrm>
          <a:custGeom>
            <a:avLst/>
            <a:gdLst/>
            <a:ahLst/>
            <a:cxnLst/>
            <a:rect l="l" t="t" r="r" b="b"/>
            <a:pathLst>
              <a:path w="3812359" h="1698576">
                <a:moveTo>
                  <a:pt x="0" y="0"/>
                </a:moveTo>
                <a:lnTo>
                  <a:pt x="3812359" y="0"/>
                </a:lnTo>
                <a:lnTo>
                  <a:pt x="3812359" y="1698576"/>
                </a:lnTo>
                <a:lnTo>
                  <a:pt x="0" y="1698576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7" name="Text 12"/>
          <p:cNvSpPr/>
          <p:nvPr/>
        </p:nvSpPr>
        <p:spPr>
          <a:xfrm>
            <a:off x="8155995" y="4944743"/>
            <a:ext cx="359531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74868" y="5359950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42553" y="0"/>
                </a:moveTo>
                <a:lnTo>
                  <a:pt x="108609" y="0"/>
                </a:lnTo>
                <a:cubicBezTo>
                  <a:pt x="116423" y="0"/>
                  <a:pt x="122793" y="6429"/>
                  <a:pt x="122498" y="14214"/>
                </a:cubicBezTo>
                <a:cubicBezTo>
                  <a:pt x="122439" y="15777"/>
                  <a:pt x="122380" y="17340"/>
                  <a:pt x="122292" y="18873"/>
                </a:cubicBezTo>
                <a:lnTo>
                  <a:pt x="136918" y="18873"/>
                </a:lnTo>
                <a:cubicBezTo>
                  <a:pt x="144615" y="18873"/>
                  <a:pt x="151397" y="25243"/>
                  <a:pt x="150808" y="33559"/>
                </a:cubicBezTo>
                <a:cubicBezTo>
                  <a:pt x="148596" y="64139"/>
                  <a:pt x="132967" y="80948"/>
                  <a:pt x="116010" y="89736"/>
                </a:cubicBezTo>
                <a:cubicBezTo>
                  <a:pt x="111351" y="92154"/>
                  <a:pt x="106603" y="93952"/>
                  <a:pt x="102091" y="95279"/>
                </a:cubicBezTo>
                <a:cubicBezTo>
                  <a:pt x="96135" y="103713"/>
                  <a:pt x="89942" y="108166"/>
                  <a:pt x="85017" y="110555"/>
                </a:cubicBezTo>
                <a:lnTo>
                  <a:pt x="85017" y="132111"/>
                </a:lnTo>
                <a:lnTo>
                  <a:pt x="103890" y="132111"/>
                </a:lnTo>
                <a:cubicBezTo>
                  <a:pt x="109110" y="132111"/>
                  <a:pt x="113327" y="136328"/>
                  <a:pt x="113327" y="141548"/>
                </a:cubicBezTo>
                <a:cubicBezTo>
                  <a:pt x="113327" y="146768"/>
                  <a:pt x="109110" y="150985"/>
                  <a:pt x="103890" y="150985"/>
                </a:cubicBezTo>
                <a:lnTo>
                  <a:pt x="47271" y="150985"/>
                </a:lnTo>
                <a:cubicBezTo>
                  <a:pt x="42052" y="150985"/>
                  <a:pt x="37835" y="146768"/>
                  <a:pt x="37835" y="141548"/>
                </a:cubicBezTo>
                <a:cubicBezTo>
                  <a:pt x="37835" y="136328"/>
                  <a:pt x="42052" y="132111"/>
                  <a:pt x="47271" y="132111"/>
                </a:cubicBezTo>
                <a:lnTo>
                  <a:pt x="66144" y="132111"/>
                </a:lnTo>
                <a:lnTo>
                  <a:pt x="66144" y="110555"/>
                </a:lnTo>
                <a:cubicBezTo>
                  <a:pt x="61426" y="108284"/>
                  <a:pt x="55558" y="104067"/>
                  <a:pt x="49837" y="96312"/>
                </a:cubicBezTo>
                <a:cubicBezTo>
                  <a:pt x="44411" y="94896"/>
                  <a:pt x="38513" y="92743"/>
                  <a:pt x="32762" y="89500"/>
                </a:cubicBezTo>
                <a:cubicBezTo>
                  <a:pt x="16809" y="80564"/>
                  <a:pt x="2418" y="63726"/>
                  <a:pt x="354" y="33500"/>
                </a:cubicBezTo>
                <a:cubicBezTo>
                  <a:pt x="-206" y="25213"/>
                  <a:pt x="6547" y="18844"/>
                  <a:pt x="14243" y="18844"/>
                </a:cubicBezTo>
                <a:lnTo>
                  <a:pt x="28870" y="18844"/>
                </a:lnTo>
                <a:cubicBezTo>
                  <a:pt x="28781" y="17310"/>
                  <a:pt x="28722" y="15777"/>
                  <a:pt x="28663" y="14184"/>
                </a:cubicBezTo>
                <a:cubicBezTo>
                  <a:pt x="28369" y="6370"/>
                  <a:pt x="34738" y="-29"/>
                  <a:pt x="42553" y="-29"/>
                </a:cubicBezTo>
                <a:close/>
                <a:moveTo>
                  <a:pt x="29932" y="33028"/>
                </a:moveTo>
                <a:lnTo>
                  <a:pt x="14479" y="33028"/>
                </a:lnTo>
                <a:cubicBezTo>
                  <a:pt x="16308" y="58005"/>
                  <a:pt x="27779" y="70509"/>
                  <a:pt x="39604" y="77144"/>
                </a:cubicBezTo>
                <a:cubicBezTo>
                  <a:pt x="35358" y="66144"/>
                  <a:pt x="31848" y="51783"/>
                  <a:pt x="29932" y="33028"/>
                </a:cubicBezTo>
                <a:close/>
                <a:moveTo>
                  <a:pt x="112059" y="75728"/>
                </a:moveTo>
                <a:cubicBezTo>
                  <a:pt x="124002" y="68710"/>
                  <a:pt x="134795" y="56236"/>
                  <a:pt x="136623" y="33028"/>
                </a:cubicBezTo>
                <a:lnTo>
                  <a:pt x="121200" y="33028"/>
                </a:lnTo>
                <a:cubicBezTo>
                  <a:pt x="119372" y="50987"/>
                  <a:pt x="116069" y="64935"/>
                  <a:pt x="112059" y="75728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9" name="Text 14"/>
          <p:cNvSpPr/>
          <p:nvPr/>
        </p:nvSpPr>
        <p:spPr>
          <a:xfrm>
            <a:off x="8420218" y="5322204"/>
            <a:ext cx="242518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outlets</a:t>
            </a:r>
            <a:pPr>
              <a:lnSpc>
                <a:spcPct val="120000"/>
              </a:lnSpc>
            </a:pPr>
            <a:r>
              <a:rPr lang="en-US" sz="104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highest revenue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193741" y="5624173"/>
            <a:ext cx="113238" cy="150985"/>
          </a:xfrm>
          <a:custGeom>
            <a:avLst/>
            <a:gdLst/>
            <a:ahLst/>
            <a:cxnLst/>
            <a:rect l="l" t="t" r="r" b="b"/>
            <a:pathLst>
              <a:path w="113238" h="150985">
                <a:moveTo>
                  <a:pt x="0" y="55617"/>
                </a:moveTo>
                <a:cubicBezTo>
                  <a:pt x="0" y="24889"/>
                  <a:pt x="25361" y="0"/>
                  <a:pt x="56619" y="0"/>
                </a:cubicBezTo>
                <a:cubicBezTo>
                  <a:pt x="87878" y="0"/>
                  <a:pt x="113238" y="24889"/>
                  <a:pt x="113238" y="55617"/>
                </a:cubicBezTo>
                <a:cubicBezTo>
                  <a:pt x="113238" y="90797"/>
                  <a:pt x="77792" y="132967"/>
                  <a:pt x="62989" y="149038"/>
                </a:cubicBezTo>
                <a:cubicBezTo>
                  <a:pt x="59509" y="152813"/>
                  <a:pt x="53700" y="152813"/>
                  <a:pt x="50220" y="149038"/>
                </a:cubicBezTo>
                <a:cubicBezTo>
                  <a:pt x="35416" y="132967"/>
                  <a:pt x="-29" y="90797"/>
                  <a:pt x="-29" y="55617"/>
                </a:cubicBezTo>
                <a:close/>
                <a:moveTo>
                  <a:pt x="56619" y="75492"/>
                </a:moveTo>
                <a:cubicBezTo>
                  <a:pt x="67036" y="75492"/>
                  <a:pt x="75492" y="67036"/>
                  <a:pt x="75492" y="56619"/>
                </a:cubicBezTo>
                <a:cubicBezTo>
                  <a:pt x="75492" y="46203"/>
                  <a:pt x="67036" y="37746"/>
                  <a:pt x="56619" y="37746"/>
                </a:cubicBezTo>
                <a:cubicBezTo>
                  <a:pt x="46203" y="37746"/>
                  <a:pt x="37746" y="46203"/>
                  <a:pt x="37746" y="56619"/>
                </a:cubicBezTo>
                <a:cubicBezTo>
                  <a:pt x="37746" y="67036"/>
                  <a:pt x="46203" y="75492"/>
                  <a:pt x="56619" y="75492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1" name="Text 16"/>
          <p:cNvSpPr/>
          <p:nvPr/>
        </p:nvSpPr>
        <p:spPr>
          <a:xfrm>
            <a:off x="8420218" y="5586427"/>
            <a:ext cx="225533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 locations</a:t>
            </a:r>
            <a:pPr>
              <a:lnSpc>
                <a:spcPct val="120000"/>
              </a:lnSpc>
            </a:pPr>
            <a:r>
              <a:rPr lang="en-US" sz="104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outperform urban tiers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174868" y="5888396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9053" y="21321"/>
                </a:moveTo>
                <a:cubicBezTo>
                  <a:pt x="11088" y="14273"/>
                  <a:pt x="17546" y="9437"/>
                  <a:pt x="24889" y="9437"/>
                </a:cubicBezTo>
                <a:lnTo>
                  <a:pt x="126332" y="9437"/>
                </a:lnTo>
                <a:cubicBezTo>
                  <a:pt x="133674" y="9437"/>
                  <a:pt x="140133" y="14273"/>
                  <a:pt x="142197" y="21321"/>
                </a:cubicBezTo>
                <a:lnTo>
                  <a:pt x="149097" y="44971"/>
                </a:lnTo>
                <a:cubicBezTo>
                  <a:pt x="152872" y="57858"/>
                  <a:pt x="143170" y="70774"/>
                  <a:pt x="129752" y="70774"/>
                </a:cubicBezTo>
                <a:cubicBezTo>
                  <a:pt x="121997" y="70774"/>
                  <a:pt x="115185" y="66380"/>
                  <a:pt x="111823" y="59834"/>
                </a:cubicBezTo>
                <a:cubicBezTo>
                  <a:pt x="108402" y="66292"/>
                  <a:pt x="101620" y="70774"/>
                  <a:pt x="93717" y="70774"/>
                </a:cubicBezTo>
                <a:cubicBezTo>
                  <a:pt x="85872" y="70774"/>
                  <a:pt x="79060" y="66351"/>
                  <a:pt x="75640" y="59863"/>
                </a:cubicBezTo>
                <a:cubicBezTo>
                  <a:pt x="72219" y="66351"/>
                  <a:pt x="65407" y="70774"/>
                  <a:pt x="57563" y="70774"/>
                </a:cubicBezTo>
                <a:cubicBezTo>
                  <a:pt x="49660" y="70774"/>
                  <a:pt x="42877" y="66321"/>
                  <a:pt x="39457" y="59834"/>
                </a:cubicBezTo>
                <a:cubicBezTo>
                  <a:pt x="36095" y="66351"/>
                  <a:pt x="29283" y="70774"/>
                  <a:pt x="21527" y="70774"/>
                </a:cubicBezTo>
                <a:cubicBezTo>
                  <a:pt x="8080" y="70774"/>
                  <a:pt x="-1592" y="57887"/>
                  <a:pt x="2182" y="44971"/>
                </a:cubicBezTo>
                <a:lnTo>
                  <a:pt x="9053" y="21321"/>
                </a:lnTo>
                <a:close/>
                <a:moveTo>
                  <a:pt x="28428" y="103802"/>
                </a:moveTo>
                <a:lnTo>
                  <a:pt x="122793" y="103802"/>
                </a:lnTo>
                <a:lnTo>
                  <a:pt x="122793" y="84221"/>
                </a:lnTo>
                <a:cubicBezTo>
                  <a:pt x="125034" y="84693"/>
                  <a:pt x="127364" y="84929"/>
                  <a:pt x="129723" y="84929"/>
                </a:cubicBezTo>
                <a:cubicBezTo>
                  <a:pt x="133940" y="84929"/>
                  <a:pt x="137980" y="84162"/>
                  <a:pt x="141666" y="82806"/>
                </a:cubicBezTo>
                <a:lnTo>
                  <a:pt x="141666" y="127393"/>
                </a:lnTo>
                <a:cubicBezTo>
                  <a:pt x="141666" y="135208"/>
                  <a:pt x="135326" y="141548"/>
                  <a:pt x="127511" y="141548"/>
                </a:cubicBezTo>
                <a:lnTo>
                  <a:pt x="23709" y="141548"/>
                </a:lnTo>
                <a:cubicBezTo>
                  <a:pt x="15895" y="141548"/>
                  <a:pt x="9554" y="135208"/>
                  <a:pt x="9554" y="127393"/>
                </a:cubicBezTo>
                <a:lnTo>
                  <a:pt x="9554" y="82806"/>
                </a:lnTo>
                <a:cubicBezTo>
                  <a:pt x="13241" y="84162"/>
                  <a:pt x="17251" y="84929"/>
                  <a:pt x="21498" y="84929"/>
                </a:cubicBezTo>
                <a:cubicBezTo>
                  <a:pt x="23886" y="84929"/>
                  <a:pt x="26186" y="84693"/>
                  <a:pt x="28428" y="84221"/>
                </a:cubicBezTo>
                <a:lnTo>
                  <a:pt x="28428" y="10380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3" name="Text 18"/>
          <p:cNvSpPr/>
          <p:nvPr/>
        </p:nvSpPr>
        <p:spPr>
          <a:xfrm>
            <a:off x="8420218" y="5850650"/>
            <a:ext cx="24629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Supermarket Type1</a:t>
            </a:r>
            <a:pPr>
              <a:lnSpc>
                <a:spcPct val="120000"/>
              </a:lnSpc>
            </a:pPr>
            <a:r>
              <a:rPr lang="en-US" sz="104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dominates with 65.5%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208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Sales Trends by Establishment Year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264495"/>
            <a:ext cx="7502043" cy="5218402"/>
          </a:xfrm>
          <a:custGeom>
            <a:avLst/>
            <a:gdLst/>
            <a:ahLst/>
            <a:cxnLst/>
            <a:rect l="l" t="t" r="r" b="b"/>
            <a:pathLst>
              <a:path w="7502043" h="5218402">
                <a:moveTo>
                  <a:pt x="0" y="0"/>
                </a:moveTo>
                <a:lnTo>
                  <a:pt x="7502043" y="0"/>
                </a:lnTo>
                <a:lnTo>
                  <a:pt x="7502043" y="5218402"/>
                </a:lnTo>
                <a:lnTo>
                  <a:pt x="0" y="52184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77461" y="1264495"/>
            <a:ext cx="7502043" cy="37746"/>
          </a:xfrm>
          <a:custGeom>
            <a:avLst/>
            <a:gdLst/>
            <a:ahLst/>
            <a:cxnLst/>
            <a:rect l="l" t="t" r="r" b="b"/>
            <a:pathLst>
              <a:path w="7502043" h="37746">
                <a:moveTo>
                  <a:pt x="0" y="0"/>
                </a:moveTo>
                <a:lnTo>
                  <a:pt x="7502043" y="0"/>
                </a:lnTo>
                <a:lnTo>
                  <a:pt x="7502043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Text 4"/>
          <p:cNvSpPr/>
          <p:nvPr/>
        </p:nvSpPr>
        <p:spPr>
          <a:xfrm>
            <a:off x="566192" y="1472099"/>
            <a:ext cx="721894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Evolution (2012-2022)</a:t>
            </a:r>
            <a:endParaRPr lang="en-US" sz="1600" dirty="0"/>
          </a:p>
        </p:txBody>
      </p:sp>
      <p:pic>
        <p:nvPicPr>
          <p:cNvPr id="7" name="Image 0" descr="https://kimi-img.moonshot.cn/pub/slides/26-01-23-21:00:07-d5pn1lrdjm8j6gsdruag.png">    </p:cNvPr>
          <p:cNvPicPr>
            <a:picLocks noChangeAspect="1"/>
          </p:cNvPicPr>
          <p:nvPr/>
        </p:nvPicPr>
        <p:blipFill>
          <a:blip r:embed="rId1"/>
          <a:srcRect l="13238" r="13238" t="0" b="0"/>
          <a:stretch/>
        </p:blipFill>
        <p:spPr>
          <a:xfrm>
            <a:off x="377461" y="1803034"/>
            <a:ext cx="7502043" cy="4679864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070005" y="1264495"/>
            <a:ext cx="3746303" cy="3642502"/>
          </a:xfrm>
          <a:custGeom>
            <a:avLst/>
            <a:gdLst/>
            <a:ahLst/>
            <a:cxnLst/>
            <a:rect l="l" t="t" r="r" b="b"/>
            <a:pathLst>
              <a:path w="3746303" h="3642502">
                <a:moveTo>
                  <a:pt x="0" y="0"/>
                </a:moveTo>
                <a:lnTo>
                  <a:pt x="3746303" y="0"/>
                </a:lnTo>
                <a:lnTo>
                  <a:pt x="3746303" y="3642502"/>
                </a:lnTo>
                <a:lnTo>
                  <a:pt x="0" y="36425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070005" y="1264495"/>
            <a:ext cx="3746303" cy="37746"/>
          </a:xfrm>
          <a:custGeom>
            <a:avLst/>
            <a:gdLst/>
            <a:ahLst/>
            <a:cxnLst/>
            <a:rect l="l" t="t" r="r" b="b"/>
            <a:pathLst>
              <a:path w="3746303" h="37746">
                <a:moveTo>
                  <a:pt x="0" y="0"/>
                </a:moveTo>
                <a:lnTo>
                  <a:pt x="3746303" y="0"/>
                </a:lnTo>
                <a:lnTo>
                  <a:pt x="3746303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0" name="Text 7"/>
          <p:cNvSpPr/>
          <p:nvPr/>
        </p:nvSpPr>
        <p:spPr>
          <a:xfrm>
            <a:off x="8258735" y="1472099"/>
            <a:ext cx="346320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Peak Performance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58735" y="1887307"/>
            <a:ext cx="3368842" cy="1849560"/>
          </a:xfrm>
          <a:custGeom>
            <a:avLst/>
            <a:gdLst/>
            <a:ahLst/>
            <a:cxnLst/>
            <a:rect l="l" t="t" r="r" b="b"/>
            <a:pathLst>
              <a:path w="3368842" h="1849560">
                <a:moveTo>
                  <a:pt x="0" y="0"/>
                </a:moveTo>
                <a:lnTo>
                  <a:pt x="3368842" y="0"/>
                </a:lnTo>
                <a:lnTo>
                  <a:pt x="3368842" y="1849560"/>
                </a:lnTo>
                <a:lnTo>
                  <a:pt x="0" y="184956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2" name="Shape 9"/>
          <p:cNvSpPr/>
          <p:nvPr/>
        </p:nvSpPr>
        <p:spPr>
          <a:xfrm>
            <a:off x="9642367" y="2076037"/>
            <a:ext cx="603938" cy="603938"/>
          </a:xfrm>
          <a:custGeom>
            <a:avLst/>
            <a:gdLst/>
            <a:ahLst/>
            <a:cxnLst/>
            <a:rect l="l" t="t" r="r" b="b"/>
            <a:pathLst>
              <a:path w="603938" h="603938">
                <a:moveTo>
                  <a:pt x="301969" y="0"/>
                </a:moveTo>
                <a:lnTo>
                  <a:pt x="301969" y="0"/>
                </a:lnTo>
                <a:cubicBezTo>
                  <a:pt x="468630" y="0"/>
                  <a:pt x="603938" y="135308"/>
                  <a:pt x="603938" y="301969"/>
                </a:cubicBezTo>
                <a:lnTo>
                  <a:pt x="603938" y="301969"/>
                </a:lnTo>
                <a:cubicBezTo>
                  <a:pt x="603938" y="468630"/>
                  <a:pt x="468630" y="603938"/>
                  <a:pt x="301969" y="603938"/>
                </a:cubicBezTo>
                <a:lnTo>
                  <a:pt x="301969" y="603938"/>
                </a:lnTo>
                <a:cubicBezTo>
                  <a:pt x="135308" y="603938"/>
                  <a:pt x="0" y="468630"/>
                  <a:pt x="0" y="301969"/>
                </a:cubicBezTo>
                <a:lnTo>
                  <a:pt x="0" y="301969"/>
                </a:lnTo>
                <a:cubicBezTo>
                  <a:pt x="0" y="135308"/>
                  <a:pt x="135308" y="0"/>
                  <a:pt x="301969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3" name="Shape 10"/>
          <p:cNvSpPr/>
          <p:nvPr/>
        </p:nvSpPr>
        <p:spPr>
          <a:xfrm>
            <a:off x="9787454" y="2236458"/>
            <a:ext cx="318483" cy="283096"/>
          </a:xfrm>
          <a:custGeom>
            <a:avLst/>
            <a:gdLst/>
            <a:ahLst/>
            <a:cxnLst/>
            <a:rect l="l" t="t" r="r" b="b"/>
            <a:pathLst>
              <a:path w="318483" h="283096">
                <a:moveTo>
                  <a:pt x="173065" y="48215"/>
                </a:moveTo>
                <a:cubicBezTo>
                  <a:pt x="178151" y="44178"/>
                  <a:pt x="181358" y="37930"/>
                  <a:pt x="181358" y="30964"/>
                </a:cubicBezTo>
                <a:cubicBezTo>
                  <a:pt x="181358" y="18744"/>
                  <a:pt x="171461" y="8847"/>
                  <a:pt x="159241" y="8847"/>
                </a:cubicBezTo>
                <a:cubicBezTo>
                  <a:pt x="147022" y="8847"/>
                  <a:pt x="137125" y="18744"/>
                  <a:pt x="137125" y="30964"/>
                </a:cubicBezTo>
                <a:cubicBezTo>
                  <a:pt x="137125" y="37930"/>
                  <a:pt x="140387" y="44178"/>
                  <a:pt x="145418" y="48215"/>
                </a:cubicBezTo>
                <a:lnTo>
                  <a:pt x="107599" y="107709"/>
                </a:lnTo>
                <a:cubicBezTo>
                  <a:pt x="102069" y="116390"/>
                  <a:pt x="90292" y="118546"/>
                  <a:pt x="82054" y="112354"/>
                </a:cubicBezTo>
                <a:lnTo>
                  <a:pt x="49155" y="87749"/>
                </a:lnTo>
                <a:cubicBezTo>
                  <a:pt x="51643" y="84210"/>
                  <a:pt x="53080" y="79842"/>
                  <a:pt x="53080" y="75197"/>
                </a:cubicBezTo>
                <a:cubicBezTo>
                  <a:pt x="53080" y="62978"/>
                  <a:pt x="43183" y="53080"/>
                  <a:pt x="30964" y="53080"/>
                </a:cubicBezTo>
                <a:cubicBezTo>
                  <a:pt x="18744" y="53080"/>
                  <a:pt x="8847" y="62978"/>
                  <a:pt x="8847" y="75197"/>
                </a:cubicBezTo>
                <a:cubicBezTo>
                  <a:pt x="8847" y="87251"/>
                  <a:pt x="18523" y="97093"/>
                  <a:pt x="30521" y="97314"/>
                </a:cubicBezTo>
                <a:lnTo>
                  <a:pt x="48547" y="217575"/>
                </a:lnTo>
                <a:cubicBezTo>
                  <a:pt x="51145" y="234881"/>
                  <a:pt x="66019" y="247709"/>
                  <a:pt x="83546" y="247709"/>
                </a:cubicBezTo>
                <a:lnTo>
                  <a:pt x="234936" y="247709"/>
                </a:lnTo>
                <a:cubicBezTo>
                  <a:pt x="252464" y="247709"/>
                  <a:pt x="267338" y="234881"/>
                  <a:pt x="269936" y="217575"/>
                </a:cubicBezTo>
                <a:lnTo>
                  <a:pt x="287962" y="97314"/>
                </a:lnTo>
                <a:cubicBezTo>
                  <a:pt x="299960" y="97093"/>
                  <a:pt x="309636" y="87251"/>
                  <a:pt x="309636" y="75197"/>
                </a:cubicBezTo>
                <a:cubicBezTo>
                  <a:pt x="309636" y="62978"/>
                  <a:pt x="299739" y="53080"/>
                  <a:pt x="287519" y="53080"/>
                </a:cubicBezTo>
                <a:cubicBezTo>
                  <a:pt x="275300" y="53080"/>
                  <a:pt x="265402" y="62978"/>
                  <a:pt x="265402" y="75197"/>
                </a:cubicBezTo>
                <a:cubicBezTo>
                  <a:pt x="265402" y="79842"/>
                  <a:pt x="266840" y="84210"/>
                  <a:pt x="269328" y="87749"/>
                </a:cubicBezTo>
                <a:lnTo>
                  <a:pt x="236485" y="112409"/>
                </a:lnTo>
                <a:cubicBezTo>
                  <a:pt x="228246" y="118602"/>
                  <a:pt x="216469" y="116445"/>
                  <a:pt x="210940" y="107764"/>
                </a:cubicBezTo>
                <a:lnTo>
                  <a:pt x="173065" y="48215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4" name="Text 11"/>
          <p:cNvSpPr/>
          <p:nvPr/>
        </p:nvSpPr>
        <p:spPr>
          <a:xfrm>
            <a:off x="8409720" y="2793214"/>
            <a:ext cx="306687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Year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4228" y="3095183"/>
            <a:ext cx="3217858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2016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58735" y="3887851"/>
            <a:ext cx="3368842" cy="830415"/>
          </a:xfrm>
          <a:custGeom>
            <a:avLst/>
            <a:gdLst/>
            <a:ahLst/>
            <a:cxnLst/>
            <a:rect l="l" t="t" r="r" b="b"/>
            <a:pathLst>
              <a:path w="3368842" h="830415">
                <a:moveTo>
                  <a:pt x="0" y="0"/>
                </a:moveTo>
                <a:lnTo>
                  <a:pt x="3368842" y="0"/>
                </a:lnTo>
                <a:lnTo>
                  <a:pt x="3368842" y="830415"/>
                </a:lnTo>
                <a:lnTo>
                  <a:pt x="0" y="830415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7" name="Text 14"/>
          <p:cNvSpPr/>
          <p:nvPr/>
        </p:nvSpPr>
        <p:spPr>
          <a:xfrm>
            <a:off x="8334228" y="4001090"/>
            <a:ext cx="3217858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Sales Revenue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01200" y="4265313"/>
            <a:ext cx="3283913" cy="33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9" b="1" dirty="0">
                <a:solidFill>
                  <a:srgbClr val="C75D4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$205,000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0005" y="5057981"/>
            <a:ext cx="3746303" cy="1685525"/>
          </a:xfrm>
          <a:custGeom>
            <a:avLst/>
            <a:gdLst/>
            <a:ahLst/>
            <a:cxnLst/>
            <a:rect l="l" t="t" r="r" b="b"/>
            <a:pathLst>
              <a:path w="3746303" h="1685525">
                <a:moveTo>
                  <a:pt x="0" y="0"/>
                </a:moveTo>
                <a:lnTo>
                  <a:pt x="3746303" y="0"/>
                </a:lnTo>
                <a:lnTo>
                  <a:pt x="3746303" y="1685525"/>
                </a:lnTo>
                <a:lnTo>
                  <a:pt x="0" y="1685525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Text 17"/>
          <p:cNvSpPr/>
          <p:nvPr/>
        </p:nvSpPr>
        <p:spPr>
          <a:xfrm>
            <a:off x="8220989" y="5208966"/>
            <a:ext cx="352926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0989" y="5586427"/>
            <a:ext cx="3444334" cy="490700"/>
          </a:xfrm>
          <a:custGeom>
            <a:avLst/>
            <a:gdLst/>
            <a:ahLst/>
            <a:cxnLst/>
            <a:rect l="l" t="t" r="r" b="b"/>
            <a:pathLst>
              <a:path w="3444334" h="490700">
                <a:moveTo>
                  <a:pt x="0" y="0"/>
                </a:moveTo>
                <a:lnTo>
                  <a:pt x="3444334" y="0"/>
                </a:lnTo>
                <a:lnTo>
                  <a:pt x="3444334" y="490700"/>
                </a:lnTo>
                <a:lnTo>
                  <a:pt x="0" y="4907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341305" y="5671356"/>
            <a:ext cx="127393" cy="169858"/>
          </a:xfrm>
          <a:custGeom>
            <a:avLst/>
            <a:gdLst/>
            <a:ahLst/>
            <a:cxnLst/>
            <a:rect l="l" t="t" r="r" b="b"/>
            <a:pathLst>
              <a:path w="127393" h="169858">
                <a:moveTo>
                  <a:pt x="71194" y="5773"/>
                </a:moveTo>
                <a:cubicBezTo>
                  <a:pt x="67047" y="1626"/>
                  <a:pt x="60313" y="1626"/>
                  <a:pt x="56166" y="5773"/>
                </a:cubicBezTo>
                <a:lnTo>
                  <a:pt x="3085" y="58853"/>
                </a:lnTo>
                <a:cubicBezTo>
                  <a:pt x="-1062" y="63000"/>
                  <a:pt x="-1062" y="69735"/>
                  <a:pt x="3085" y="73881"/>
                </a:cubicBezTo>
                <a:cubicBezTo>
                  <a:pt x="7232" y="78028"/>
                  <a:pt x="13967" y="78028"/>
                  <a:pt x="18114" y="73881"/>
                </a:cubicBezTo>
                <a:lnTo>
                  <a:pt x="53080" y="38915"/>
                </a:lnTo>
                <a:lnTo>
                  <a:pt x="53080" y="161896"/>
                </a:lnTo>
                <a:cubicBezTo>
                  <a:pt x="53080" y="167768"/>
                  <a:pt x="57825" y="172512"/>
                  <a:pt x="63697" y="172512"/>
                </a:cubicBezTo>
                <a:cubicBezTo>
                  <a:pt x="69569" y="172512"/>
                  <a:pt x="74313" y="167768"/>
                  <a:pt x="74313" y="161896"/>
                </a:cubicBezTo>
                <a:lnTo>
                  <a:pt x="74313" y="38915"/>
                </a:lnTo>
                <a:lnTo>
                  <a:pt x="109279" y="73881"/>
                </a:lnTo>
                <a:cubicBezTo>
                  <a:pt x="113426" y="78028"/>
                  <a:pt x="120161" y="78028"/>
                  <a:pt x="124308" y="73881"/>
                </a:cubicBezTo>
                <a:cubicBezTo>
                  <a:pt x="128455" y="69735"/>
                  <a:pt x="128455" y="63000"/>
                  <a:pt x="124308" y="58853"/>
                </a:cubicBezTo>
                <a:lnTo>
                  <a:pt x="71227" y="5773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3" name="Text 20"/>
          <p:cNvSpPr/>
          <p:nvPr/>
        </p:nvSpPr>
        <p:spPr>
          <a:xfrm>
            <a:off x="8584296" y="5661920"/>
            <a:ext cx="86816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Phase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22958" y="5850650"/>
            <a:ext cx="312349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2012-2016: Steady expansion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20989" y="6152499"/>
            <a:ext cx="3444334" cy="490700"/>
          </a:xfrm>
          <a:custGeom>
            <a:avLst/>
            <a:gdLst/>
            <a:ahLst/>
            <a:cxnLst/>
            <a:rect l="l" t="t" r="r" b="b"/>
            <a:pathLst>
              <a:path w="3444334" h="490700">
                <a:moveTo>
                  <a:pt x="0" y="0"/>
                </a:moveTo>
                <a:lnTo>
                  <a:pt x="3444334" y="0"/>
                </a:lnTo>
                <a:lnTo>
                  <a:pt x="3444334" y="490700"/>
                </a:lnTo>
                <a:lnTo>
                  <a:pt x="0" y="4907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341305" y="6237428"/>
            <a:ext cx="127393" cy="169858"/>
          </a:xfrm>
          <a:custGeom>
            <a:avLst/>
            <a:gdLst/>
            <a:ahLst/>
            <a:cxnLst/>
            <a:rect l="l" t="t" r="r" b="b"/>
            <a:pathLst>
              <a:path w="127393" h="169858">
                <a:moveTo>
                  <a:pt x="56199" y="166739"/>
                </a:moveTo>
                <a:cubicBezTo>
                  <a:pt x="60346" y="170886"/>
                  <a:pt x="67080" y="170886"/>
                  <a:pt x="71227" y="166739"/>
                </a:cubicBezTo>
                <a:lnTo>
                  <a:pt x="124308" y="113659"/>
                </a:lnTo>
                <a:cubicBezTo>
                  <a:pt x="128455" y="109512"/>
                  <a:pt x="128455" y="102777"/>
                  <a:pt x="124308" y="98630"/>
                </a:cubicBezTo>
                <a:cubicBezTo>
                  <a:pt x="120161" y="94483"/>
                  <a:pt x="113426" y="94483"/>
                  <a:pt x="109279" y="98630"/>
                </a:cubicBezTo>
                <a:lnTo>
                  <a:pt x="74313" y="133597"/>
                </a:lnTo>
                <a:lnTo>
                  <a:pt x="74313" y="10616"/>
                </a:lnTo>
                <a:cubicBezTo>
                  <a:pt x="74313" y="4744"/>
                  <a:pt x="69569" y="0"/>
                  <a:pt x="63697" y="0"/>
                </a:cubicBezTo>
                <a:cubicBezTo>
                  <a:pt x="57825" y="0"/>
                  <a:pt x="53080" y="4744"/>
                  <a:pt x="53080" y="10616"/>
                </a:cubicBezTo>
                <a:lnTo>
                  <a:pt x="53080" y="133597"/>
                </a:lnTo>
                <a:lnTo>
                  <a:pt x="18114" y="98630"/>
                </a:lnTo>
                <a:cubicBezTo>
                  <a:pt x="13967" y="94483"/>
                  <a:pt x="7232" y="94483"/>
                  <a:pt x="3085" y="98630"/>
                </a:cubicBezTo>
                <a:cubicBezTo>
                  <a:pt x="-1062" y="102777"/>
                  <a:pt x="-1062" y="109512"/>
                  <a:pt x="3085" y="113659"/>
                </a:cubicBezTo>
                <a:lnTo>
                  <a:pt x="56166" y="166739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7" name="Text 24"/>
          <p:cNvSpPr/>
          <p:nvPr/>
        </p:nvSpPr>
        <p:spPr>
          <a:xfrm>
            <a:off x="8584296" y="6227992"/>
            <a:ext cx="85872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Decline Phase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522958" y="6416722"/>
            <a:ext cx="312349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2018-2022: Performance drop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7221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spc="187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577337"/>
            <a:ext cx="11716546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Critical Insights &amp; Performance Drivers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591" y="1120713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56591" y="1120713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" name="Shape 4"/>
          <p:cNvSpPr/>
          <p:nvPr/>
        </p:nvSpPr>
        <p:spPr>
          <a:xfrm>
            <a:off x="509415" y="1256557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" name="Text 5"/>
          <p:cNvSpPr/>
          <p:nvPr/>
        </p:nvSpPr>
        <p:spPr>
          <a:xfrm>
            <a:off x="630613" y="1324479"/>
            <a:ext cx="26319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8830" y="1256557"/>
            <a:ext cx="178295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Revenue Categories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9415" y="1732011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Fruits &amp; Vegetables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Snack Foods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emerge as the highest revenue-generating categories, collectively contributing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$353,558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(29.4% of total sales).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415" y="2411231"/>
            <a:ext cx="543376" cy="237727"/>
          </a:xfrm>
          <a:custGeom>
            <a:avLst/>
            <a:gdLst/>
            <a:ahLst/>
            <a:cxnLst/>
            <a:rect l="l" t="t" r="r" b="b"/>
            <a:pathLst>
              <a:path w="543376" h="237727">
                <a:moveTo>
                  <a:pt x="0" y="0"/>
                </a:moveTo>
                <a:lnTo>
                  <a:pt x="543376" y="0"/>
                </a:lnTo>
                <a:lnTo>
                  <a:pt x="543376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1" name="Text 9"/>
          <p:cNvSpPr/>
          <p:nvPr/>
        </p:nvSpPr>
        <p:spPr>
          <a:xfrm>
            <a:off x="509415" y="2411231"/>
            <a:ext cx="602808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$178,124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1880" y="2411231"/>
            <a:ext cx="568847" cy="237727"/>
          </a:xfrm>
          <a:custGeom>
            <a:avLst/>
            <a:gdLst/>
            <a:ahLst/>
            <a:cxnLst/>
            <a:rect l="l" t="t" r="r" b="b"/>
            <a:pathLst>
              <a:path w="568847" h="237727">
                <a:moveTo>
                  <a:pt x="0" y="0"/>
                </a:moveTo>
                <a:lnTo>
                  <a:pt x="568847" y="0"/>
                </a:lnTo>
                <a:lnTo>
                  <a:pt x="568847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121880" y="2411231"/>
            <a:ext cx="628279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$175,434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591" y="2886685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591" y="2886685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9415" y="3022529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23" y="3090451"/>
            <a:ext cx="30564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8830" y="3022529"/>
            <a:ext cx="206313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Low-Fat Product Dominance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415" y="3497983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Low-fat products contribute the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 of total sales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$776,320, representing 64.6% of revenue. This indicates strong health-conscious consumer preferences.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9415" y="4177203"/>
            <a:ext cx="772613" cy="237727"/>
          </a:xfrm>
          <a:custGeom>
            <a:avLst/>
            <a:gdLst/>
            <a:ahLst/>
            <a:cxnLst/>
            <a:rect l="l" t="t" r="r" b="b"/>
            <a:pathLst>
              <a:path w="772613" h="237727">
                <a:moveTo>
                  <a:pt x="0" y="0"/>
                </a:moveTo>
                <a:lnTo>
                  <a:pt x="772613" y="0"/>
                </a:lnTo>
                <a:lnTo>
                  <a:pt x="772613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9415" y="4177203"/>
            <a:ext cx="832045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64.6% Share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52285" y="4177203"/>
            <a:ext cx="1078262" cy="237727"/>
          </a:xfrm>
          <a:custGeom>
            <a:avLst/>
            <a:gdLst/>
            <a:ahLst/>
            <a:cxnLst/>
            <a:rect l="l" t="t" r="r" b="b"/>
            <a:pathLst>
              <a:path w="1078262" h="237727">
                <a:moveTo>
                  <a:pt x="0" y="0"/>
                </a:moveTo>
                <a:lnTo>
                  <a:pt x="1078262" y="0"/>
                </a:lnTo>
                <a:lnTo>
                  <a:pt x="1078262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352285" y="4177203"/>
            <a:ext cx="1137694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$776,320 Revenue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0668" y="1120713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0668" y="1120713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93493" y="1256557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27" name="Text 25"/>
          <p:cNvSpPr/>
          <p:nvPr/>
        </p:nvSpPr>
        <p:spPr>
          <a:xfrm>
            <a:off x="4495376" y="1324479"/>
            <a:ext cx="30564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02908" y="1256557"/>
            <a:ext cx="234330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Medium-Sized Outlet Excellence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3493" y="1732011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Medium-sized outlets generate the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revenue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$507,896, followed by small outlets. This suggests optimal operational efficiency in medium-scale setups.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3493" y="2411231"/>
            <a:ext cx="764123" cy="237727"/>
          </a:xfrm>
          <a:custGeom>
            <a:avLst/>
            <a:gdLst/>
            <a:ahLst/>
            <a:cxnLst/>
            <a:rect l="l" t="t" r="r" b="b"/>
            <a:pathLst>
              <a:path w="764123" h="237727">
                <a:moveTo>
                  <a:pt x="0" y="0"/>
                </a:moveTo>
                <a:lnTo>
                  <a:pt x="764123" y="0"/>
                </a:lnTo>
                <a:lnTo>
                  <a:pt x="764123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1" name="Text 29"/>
          <p:cNvSpPr/>
          <p:nvPr/>
        </p:nvSpPr>
        <p:spPr>
          <a:xfrm>
            <a:off x="4393493" y="2411231"/>
            <a:ext cx="823554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42.3% Share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29464" y="2411231"/>
            <a:ext cx="1095242" cy="237727"/>
          </a:xfrm>
          <a:custGeom>
            <a:avLst/>
            <a:gdLst/>
            <a:ahLst/>
            <a:cxnLst/>
            <a:rect l="l" t="t" r="r" b="b"/>
            <a:pathLst>
              <a:path w="1095242" h="237727">
                <a:moveTo>
                  <a:pt x="0" y="0"/>
                </a:moveTo>
                <a:lnTo>
                  <a:pt x="1095242" y="0"/>
                </a:lnTo>
                <a:lnTo>
                  <a:pt x="1095242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3" name="Text 31"/>
          <p:cNvSpPr/>
          <p:nvPr/>
        </p:nvSpPr>
        <p:spPr>
          <a:xfrm>
            <a:off x="5229464" y="2411231"/>
            <a:ext cx="1154674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$507,896 Revenue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0668" y="2886685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240668" y="2886685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6" name="Shape 34"/>
          <p:cNvSpPr/>
          <p:nvPr/>
        </p:nvSpPr>
        <p:spPr>
          <a:xfrm>
            <a:off x="4393493" y="3022529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7" name="Text 35"/>
          <p:cNvSpPr/>
          <p:nvPr/>
        </p:nvSpPr>
        <p:spPr>
          <a:xfrm>
            <a:off x="4490706" y="3090451"/>
            <a:ext cx="31413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02908" y="3022529"/>
            <a:ext cx="188483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Tier 3 Location Advantage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93493" y="3497983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 locations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outperform Tier 1 and Tier 2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$472,130 in sales, challenging assumptions about urban market superiority.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93493" y="4177203"/>
            <a:ext cx="772613" cy="237727"/>
          </a:xfrm>
          <a:custGeom>
            <a:avLst/>
            <a:gdLst/>
            <a:ahLst/>
            <a:cxnLst/>
            <a:rect l="l" t="t" r="r" b="b"/>
            <a:pathLst>
              <a:path w="772613" h="237727">
                <a:moveTo>
                  <a:pt x="0" y="0"/>
                </a:moveTo>
                <a:lnTo>
                  <a:pt x="772613" y="0"/>
                </a:lnTo>
                <a:lnTo>
                  <a:pt x="772613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1" name="Text 39"/>
          <p:cNvSpPr/>
          <p:nvPr/>
        </p:nvSpPr>
        <p:spPr>
          <a:xfrm>
            <a:off x="4393493" y="4177203"/>
            <a:ext cx="832045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39.3% Share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37742" y="4177203"/>
            <a:ext cx="1052791" cy="237727"/>
          </a:xfrm>
          <a:custGeom>
            <a:avLst/>
            <a:gdLst/>
            <a:ahLst/>
            <a:cxnLst/>
            <a:rect l="l" t="t" r="r" b="b"/>
            <a:pathLst>
              <a:path w="1052791" h="237727">
                <a:moveTo>
                  <a:pt x="0" y="0"/>
                </a:moveTo>
                <a:lnTo>
                  <a:pt x="1052791" y="0"/>
                </a:lnTo>
                <a:lnTo>
                  <a:pt x="1052791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3" name="Text 41"/>
          <p:cNvSpPr/>
          <p:nvPr/>
        </p:nvSpPr>
        <p:spPr>
          <a:xfrm>
            <a:off x="5237742" y="4177203"/>
            <a:ext cx="1112223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$472,130 Revenue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84602" y="1120713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4746" y="1120713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6" name="Shape 44"/>
          <p:cNvSpPr/>
          <p:nvPr/>
        </p:nvSpPr>
        <p:spPr>
          <a:xfrm>
            <a:off x="8277570" y="1256557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7" name="Text 45"/>
          <p:cNvSpPr/>
          <p:nvPr/>
        </p:nvSpPr>
        <p:spPr>
          <a:xfrm>
            <a:off x="8380408" y="1324479"/>
            <a:ext cx="30564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86986" y="1256557"/>
            <a:ext cx="224991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Supermarket Type1 Dominance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77570" y="1732011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Supermarket Type1 outlets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dominate both revenue and volume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contributing $787,550 (65.5% of total sales) with consistent performance metrics.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7570" y="2411231"/>
            <a:ext cx="781103" cy="237727"/>
          </a:xfrm>
          <a:custGeom>
            <a:avLst/>
            <a:gdLst/>
            <a:ahLst/>
            <a:cxnLst/>
            <a:rect l="l" t="t" r="r" b="b"/>
            <a:pathLst>
              <a:path w="781103" h="237727">
                <a:moveTo>
                  <a:pt x="0" y="0"/>
                </a:moveTo>
                <a:lnTo>
                  <a:pt x="781103" y="0"/>
                </a:lnTo>
                <a:lnTo>
                  <a:pt x="781103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1" name="Text 49"/>
          <p:cNvSpPr/>
          <p:nvPr/>
        </p:nvSpPr>
        <p:spPr>
          <a:xfrm>
            <a:off x="8277570" y="2411231"/>
            <a:ext cx="840535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65.5% Share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22456" y="2411231"/>
            <a:ext cx="713181" cy="237727"/>
          </a:xfrm>
          <a:custGeom>
            <a:avLst/>
            <a:gdLst/>
            <a:ahLst/>
            <a:cxnLst/>
            <a:rect l="l" t="t" r="r" b="b"/>
            <a:pathLst>
              <a:path w="713181" h="237727">
                <a:moveTo>
                  <a:pt x="0" y="0"/>
                </a:moveTo>
                <a:lnTo>
                  <a:pt x="713181" y="0"/>
                </a:lnTo>
                <a:lnTo>
                  <a:pt x="713181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3" name="Text 51"/>
          <p:cNvSpPr/>
          <p:nvPr/>
        </p:nvSpPr>
        <p:spPr>
          <a:xfrm>
            <a:off x="9122456" y="2411231"/>
            <a:ext cx="772613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5,577 Items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4746" y="2886685"/>
            <a:ext cx="3727220" cy="1664089"/>
          </a:xfrm>
          <a:custGeom>
            <a:avLst/>
            <a:gdLst/>
            <a:ahLst/>
            <a:cxnLst/>
            <a:rect l="l" t="t" r="r" b="b"/>
            <a:pathLst>
              <a:path w="3727220" h="1664089">
                <a:moveTo>
                  <a:pt x="0" y="0"/>
                </a:moveTo>
                <a:lnTo>
                  <a:pt x="3727220" y="0"/>
                </a:lnTo>
                <a:lnTo>
                  <a:pt x="3727220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8124746" y="2886685"/>
            <a:ext cx="33961" cy="1664089"/>
          </a:xfrm>
          <a:custGeom>
            <a:avLst/>
            <a:gdLst/>
            <a:ahLst/>
            <a:cxnLst/>
            <a:rect l="l" t="t" r="r" b="b"/>
            <a:pathLst>
              <a:path w="33961" h="1664089">
                <a:moveTo>
                  <a:pt x="0" y="0"/>
                </a:moveTo>
                <a:lnTo>
                  <a:pt x="33961" y="0"/>
                </a:lnTo>
                <a:lnTo>
                  <a:pt x="33961" y="1664089"/>
                </a:lnTo>
                <a:lnTo>
                  <a:pt x="0" y="1664089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56" name="Shape 54"/>
          <p:cNvSpPr/>
          <p:nvPr/>
        </p:nvSpPr>
        <p:spPr>
          <a:xfrm>
            <a:off x="8277570" y="3022529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101883" y="0"/>
                </a:moveTo>
                <a:lnTo>
                  <a:pt x="305649" y="0"/>
                </a:lnTo>
                <a:cubicBezTo>
                  <a:pt x="361917" y="0"/>
                  <a:pt x="407532" y="45615"/>
                  <a:pt x="407532" y="101883"/>
                </a:cubicBezTo>
                <a:lnTo>
                  <a:pt x="407532" y="305649"/>
                </a:lnTo>
                <a:cubicBezTo>
                  <a:pt x="407532" y="361917"/>
                  <a:pt x="361917" y="407532"/>
                  <a:pt x="305649" y="407532"/>
                </a:cubicBezTo>
                <a:lnTo>
                  <a:pt x="101883" y="407532"/>
                </a:lnTo>
                <a:cubicBezTo>
                  <a:pt x="45615" y="407532"/>
                  <a:pt x="0" y="361917"/>
                  <a:pt x="0" y="305649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57" name="Text 55"/>
          <p:cNvSpPr/>
          <p:nvPr/>
        </p:nvSpPr>
        <p:spPr>
          <a:xfrm>
            <a:off x="8377861" y="3090451"/>
            <a:ext cx="30564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86986" y="3022529"/>
            <a:ext cx="173201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Post-2016 Sales Decline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77570" y="3497983"/>
            <a:ext cx="350647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</a:t>
            </a:r>
            <a:pPr>
              <a:lnSpc>
                <a:spcPct val="130000"/>
              </a:lnSpc>
            </a:pPr>
            <a:r>
              <a:rPr lang="en-US" sz="1070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peaked in 2016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$205,000, followed by a consistent decline post-2018, indicating need for strategic intervention.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7570" y="4177203"/>
            <a:ext cx="645259" cy="237727"/>
          </a:xfrm>
          <a:custGeom>
            <a:avLst/>
            <a:gdLst/>
            <a:ahLst/>
            <a:cxnLst/>
            <a:rect l="l" t="t" r="r" b="b"/>
            <a:pathLst>
              <a:path w="645259" h="237727">
                <a:moveTo>
                  <a:pt x="0" y="0"/>
                </a:moveTo>
                <a:lnTo>
                  <a:pt x="645259" y="0"/>
                </a:lnTo>
                <a:lnTo>
                  <a:pt x="645259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1" name="Text 59"/>
          <p:cNvSpPr/>
          <p:nvPr/>
        </p:nvSpPr>
        <p:spPr>
          <a:xfrm>
            <a:off x="8277570" y="4177203"/>
            <a:ext cx="704691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 Peak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991175" y="4177203"/>
            <a:ext cx="806574" cy="237727"/>
          </a:xfrm>
          <a:custGeom>
            <a:avLst/>
            <a:gdLst/>
            <a:ahLst/>
            <a:cxnLst/>
            <a:rect l="l" t="t" r="r" b="b"/>
            <a:pathLst>
              <a:path w="806574" h="237727">
                <a:moveTo>
                  <a:pt x="0" y="0"/>
                </a:moveTo>
                <a:lnTo>
                  <a:pt x="806574" y="0"/>
                </a:lnTo>
                <a:lnTo>
                  <a:pt x="806574" y="237727"/>
                </a:lnTo>
                <a:lnTo>
                  <a:pt x="0" y="237727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3" name="Text 61"/>
          <p:cNvSpPr/>
          <p:nvPr/>
        </p:nvSpPr>
        <p:spPr>
          <a:xfrm>
            <a:off x="8991175" y="4177203"/>
            <a:ext cx="866006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-36.6% Drop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07765" y="4652657"/>
            <a:ext cx="3744201" cy="2205343"/>
          </a:xfrm>
          <a:custGeom>
            <a:avLst/>
            <a:gdLst/>
            <a:ahLst/>
            <a:cxnLst/>
            <a:rect l="l" t="t" r="r" b="b"/>
            <a:pathLst>
              <a:path w="3744201" h="2205343">
                <a:moveTo>
                  <a:pt x="0" y="0"/>
                </a:moveTo>
                <a:lnTo>
                  <a:pt x="3744201" y="0"/>
                </a:lnTo>
                <a:lnTo>
                  <a:pt x="3744201" y="2205343"/>
                </a:lnTo>
                <a:lnTo>
                  <a:pt x="0" y="2205343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5" name="Text 63"/>
          <p:cNvSpPr/>
          <p:nvPr/>
        </p:nvSpPr>
        <p:spPr>
          <a:xfrm>
            <a:off x="8243609" y="4788501"/>
            <a:ext cx="354892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Implications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43609" y="5128111"/>
            <a:ext cx="3540435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5F3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insights reveal clear performance drivers and strategic opportunities for Blinkit's growth and optimization.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60590" y="5866763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8" name="Text 66"/>
          <p:cNvSpPr/>
          <p:nvPr/>
        </p:nvSpPr>
        <p:spPr>
          <a:xfrm>
            <a:off x="8460110" y="5841292"/>
            <a:ext cx="195275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high-performing categories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60590" y="6104490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0" name="Text 68"/>
          <p:cNvSpPr/>
          <p:nvPr/>
        </p:nvSpPr>
        <p:spPr>
          <a:xfrm>
            <a:off x="8460110" y="6079019"/>
            <a:ext cx="1825404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low-fat product strength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60590" y="6342217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2" name="Text 70"/>
          <p:cNvSpPr/>
          <p:nvPr/>
        </p:nvSpPr>
        <p:spPr>
          <a:xfrm>
            <a:off x="8460110" y="6316747"/>
            <a:ext cx="132447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in Tier 3 markets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60590" y="6579944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4" name="Text 72"/>
          <p:cNvSpPr/>
          <p:nvPr/>
        </p:nvSpPr>
        <p:spPr>
          <a:xfrm>
            <a:off x="8460110" y="6554474"/>
            <a:ext cx="146032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sales decline trend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208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 for Growth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6334" y="1245622"/>
            <a:ext cx="6728248" cy="2547864"/>
          </a:xfrm>
          <a:custGeom>
            <a:avLst/>
            <a:gdLst/>
            <a:ahLst/>
            <a:cxnLst/>
            <a:rect l="l" t="t" r="r" b="b"/>
            <a:pathLst>
              <a:path w="6728248" h="2547864">
                <a:moveTo>
                  <a:pt x="0" y="0"/>
                </a:moveTo>
                <a:lnTo>
                  <a:pt x="6728248" y="0"/>
                </a:lnTo>
                <a:lnTo>
                  <a:pt x="6728248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96334" y="1245622"/>
            <a:ext cx="37746" cy="2547864"/>
          </a:xfrm>
          <a:custGeom>
            <a:avLst/>
            <a:gdLst/>
            <a:ahLst/>
            <a:cxnLst/>
            <a:rect l="l" t="t" r="r" b="b"/>
            <a:pathLst>
              <a:path w="37746" h="2547864">
                <a:moveTo>
                  <a:pt x="0" y="0"/>
                </a:moveTo>
                <a:lnTo>
                  <a:pt x="37746" y="0"/>
                </a:lnTo>
                <a:lnTo>
                  <a:pt x="37746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" name="Shape 4"/>
          <p:cNvSpPr/>
          <p:nvPr/>
        </p:nvSpPr>
        <p:spPr>
          <a:xfrm>
            <a:off x="603938" y="1434353"/>
            <a:ext cx="528446" cy="528446"/>
          </a:xfrm>
          <a:custGeom>
            <a:avLst/>
            <a:gdLst/>
            <a:ahLst/>
            <a:cxnLst/>
            <a:rect l="l" t="t" r="r" b="b"/>
            <a:pathLst>
              <a:path w="528446" h="528446">
                <a:moveTo>
                  <a:pt x="113241" y="0"/>
                </a:moveTo>
                <a:lnTo>
                  <a:pt x="415205" y="0"/>
                </a:lnTo>
                <a:cubicBezTo>
                  <a:pt x="477746" y="0"/>
                  <a:pt x="528446" y="50700"/>
                  <a:pt x="528446" y="113241"/>
                </a:cubicBezTo>
                <a:lnTo>
                  <a:pt x="528446" y="415205"/>
                </a:lnTo>
                <a:cubicBezTo>
                  <a:pt x="528446" y="477746"/>
                  <a:pt x="477746" y="528446"/>
                  <a:pt x="415205" y="528446"/>
                </a:cubicBezTo>
                <a:lnTo>
                  <a:pt x="113241" y="528446"/>
                </a:lnTo>
                <a:cubicBezTo>
                  <a:pt x="50700" y="528446"/>
                  <a:pt x="0" y="477746"/>
                  <a:pt x="0" y="415205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" name="Shape 5"/>
          <p:cNvSpPr/>
          <p:nvPr/>
        </p:nvSpPr>
        <p:spPr>
          <a:xfrm>
            <a:off x="754923" y="1585337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99084" y="0"/>
                </a:moveTo>
                <a:lnTo>
                  <a:pt x="99084" y="28310"/>
                </a:lnTo>
                <a:cubicBezTo>
                  <a:pt x="99084" y="32202"/>
                  <a:pt x="102268" y="35387"/>
                  <a:pt x="106161" y="35387"/>
                </a:cubicBezTo>
                <a:lnTo>
                  <a:pt x="120316" y="35387"/>
                </a:lnTo>
                <a:cubicBezTo>
                  <a:pt x="124208" y="35387"/>
                  <a:pt x="127393" y="32202"/>
                  <a:pt x="127393" y="28310"/>
                </a:cubicBezTo>
                <a:lnTo>
                  <a:pt x="127393" y="0"/>
                </a:lnTo>
                <a:lnTo>
                  <a:pt x="141548" y="0"/>
                </a:lnTo>
                <a:cubicBezTo>
                  <a:pt x="157163" y="0"/>
                  <a:pt x="169858" y="12695"/>
                  <a:pt x="169858" y="28310"/>
                </a:cubicBezTo>
                <a:lnTo>
                  <a:pt x="169858" y="84929"/>
                </a:lnTo>
                <a:cubicBezTo>
                  <a:pt x="169858" y="87362"/>
                  <a:pt x="169548" y="89750"/>
                  <a:pt x="168973" y="92006"/>
                </a:cubicBezTo>
                <a:lnTo>
                  <a:pt x="57504" y="92006"/>
                </a:lnTo>
                <a:cubicBezTo>
                  <a:pt x="56929" y="89750"/>
                  <a:pt x="56619" y="87362"/>
                  <a:pt x="56619" y="84929"/>
                </a:cubicBezTo>
                <a:lnTo>
                  <a:pt x="56619" y="28310"/>
                </a:lnTo>
                <a:cubicBezTo>
                  <a:pt x="56619" y="12695"/>
                  <a:pt x="69314" y="0"/>
                  <a:pt x="84929" y="0"/>
                </a:cubicBezTo>
                <a:lnTo>
                  <a:pt x="99084" y="0"/>
                </a:lnTo>
                <a:close/>
                <a:moveTo>
                  <a:pt x="141548" y="226477"/>
                </a:moveTo>
                <a:cubicBezTo>
                  <a:pt x="136594" y="226477"/>
                  <a:pt x="131905" y="225194"/>
                  <a:pt x="127836" y="222938"/>
                </a:cubicBezTo>
                <a:cubicBezTo>
                  <a:pt x="132038" y="215640"/>
                  <a:pt x="134471" y="207191"/>
                  <a:pt x="134471" y="198167"/>
                </a:cubicBezTo>
                <a:lnTo>
                  <a:pt x="134471" y="141548"/>
                </a:lnTo>
                <a:cubicBezTo>
                  <a:pt x="134471" y="132524"/>
                  <a:pt x="132038" y="124076"/>
                  <a:pt x="127836" y="116777"/>
                </a:cubicBezTo>
                <a:cubicBezTo>
                  <a:pt x="131905" y="114521"/>
                  <a:pt x="136550" y="113238"/>
                  <a:pt x="141548" y="113238"/>
                </a:cubicBezTo>
                <a:lnTo>
                  <a:pt x="155703" y="113238"/>
                </a:lnTo>
                <a:lnTo>
                  <a:pt x="155703" y="141548"/>
                </a:lnTo>
                <a:cubicBezTo>
                  <a:pt x="155703" y="145441"/>
                  <a:pt x="158888" y="148625"/>
                  <a:pt x="162780" y="148625"/>
                </a:cubicBezTo>
                <a:lnTo>
                  <a:pt x="176935" y="148625"/>
                </a:lnTo>
                <a:cubicBezTo>
                  <a:pt x="180828" y="148625"/>
                  <a:pt x="184012" y="145441"/>
                  <a:pt x="184012" y="141548"/>
                </a:cubicBezTo>
                <a:lnTo>
                  <a:pt x="184012" y="113238"/>
                </a:lnTo>
                <a:lnTo>
                  <a:pt x="198167" y="113238"/>
                </a:lnTo>
                <a:cubicBezTo>
                  <a:pt x="213782" y="113238"/>
                  <a:pt x="226477" y="125933"/>
                  <a:pt x="226477" y="141548"/>
                </a:cubicBezTo>
                <a:lnTo>
                  <a:pt x="226477" y="198167"/>
                </a:lnTo>
                <a:cubicBezTo>
                  <a:pt x="226477" y="213782"/>
                  <a:pt x="213782" y="226477"/>
                  <a:pt x="198167" y="226477"/>
                </a:cubicBezTo>
                <a:lnTo>
                  <a:pt x="141548" y="226477"/>
                </a:lnTo>
                <a:close/>
                <a:moveTo>
                  <a:pt x="0" y="141548"/>
                </a:moveTo>
                <a:cubicBezTo>
                  <a:pt x="0" y="125933"/>
                  <a:pt x="12695" y="113238"/>
                  <a:pt x="28310" y="113238"/>
                </a:cubicBezTo>
                <a:lnTo>
                  <a:pt x="42464" y="113238"/>
                </a:lnTo>
                <a:lnTo>
                  <a:pt x="42464" y="141548"/>
                </a:lnTo>
                <a:cubicBezTo>
                  <a:pt x="42464" y="145441"/>
                  <a:pt x="45649" y="148625"/>
                  <a:pt x="49542" y="148625"/>
                </a:cubicBezTo>
                <a:lnTo>
                  <a:pt x="63697" y="148625"/>
                </a:lnTo>
                <a:cubicBezTo>
                  <a:pt x="67589" y="148625"/>
                  <a:pt x="70774" y="145441"/>
                  <a:pt x="70774" y="141548"/>
                </a:cubicBezTo>
                <a:lnTo>
                  <a:pt x="70774" y="113238"/>
                </a:lnTo>
                <a:lnTo>
                  <a:pt x="84929" y="113238"/>
                </a:lnTo>
                <a:cubicBezTo>
                  <a:pt x="100543" y="113238"/>
                  <a:pt x="113238" y="125933"/>
                  <a:pt x="113238" y="141548"/>
                </a:cubicBezTo>
                <a:lnTo>
                  <a:pt x="113238" y="198167"/>
                </a:lnTo>
                <a:cubicBezTo>
                  <a:pt x="113238" y="213782"/>
                  <a:pt x="100543" y="226477"/>
                  <a:pt x="84929" y="226477"/>
                </a:cubicBezTo>
                <a:lnTo>
                  <a:pt x="28310" y="226477"/>
                </a:lnTo>
                <a:cubicBezTo>
                  <a:pt x="12695" y="226477"/>
                  <a:pt x="0" y="213782"/>
                  <a:pt x="0" y="198167"/>
                </a:cubicBezTo>
                <a:lnTo>
                  <a:pt x="0" y="141548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8" name="Shape 6"/>
          <p:cNvSpPr/>
          <p:nvPr/>
        </p:nvSpPr>
        <p:spPr>
          <a:xfrm>
            <a:off x="1283368" y="1434353"/>
            <a:ext cx="1613647" cy="264223"/>
          </a:xfrm>
          <a:custGeom>
            <a:avLst/>
            <a:gdLst/>
            <a:ahLst/>
            <a:cxnLst/>
            <a:rect l="l" t="t" r="r" b="b"/>
            <a:pathLst>
              <a:path w="1613647" h="264223">
                <a:moveTo>
                  <a:pt x="0" y="0"/>
                </a:moveTo>
                <a:lnTo>
                  <a:pt x="1613647" y="0"/>
                </a:lnTo>
                <a:lnTo>
                  <a:pt x="1613647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9" name="Text 7"/>
          <p:cNvSpPr/>
          <p:nvPr/>
        </p:nvSpPr>
        <p:spPr>
          <a:xfrm>
            <a:off x="1283368" y="1434353"/>
            <a:ext cx="1679703" cy="264223"/>
          </a:xfrm>
          <a:prstGeom prst="rect">
            <a:avLst/>
          </a:prstGeom>
          <a:noFill/>
          <a:ln/>
        </p:spPr>
        <p:txBody>
          <a:bodyPr wrap="square" lIns="75492" tIns="37746" rIns="75492" bIns="37746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#1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3368" y="1774068"/>
            <a:ext cx="333109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Prioritize High-Performing Categories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938" y="2151529"/>
            <a:ext cx="6407406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inventory investment and shelf space on </a:t>
            </a:r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Fruits &amp; Vegetables ($178,124)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Snack Foods ($175,434)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maximize revenue generation.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938" y="271772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2192" y="2793214"/>
            <a:ext cx="165139" cy="188731"/>
          </a:xfrm>
          <a:custGeom>
            <a:avLst/>
            <a:gdLst/>
            <a:ahLst/>
            <a:cxnLst/>
            <a:rect l="l" t="t" r="r" b="b"/>
            <a:pathLst>
              <a:path w="165139" h="188731">
                <a:moveTo>
                  <a:pt x="82570" y="41285"/>
                </a:moveTo>
                <a:cubicBezTo>
                  <a:pt x="79326" y="41285"/>
                  <a:pt x="76672" y="38631"/>
                  <a:pt x="76672" y="35387"/>
                </a:cubicBezTo>
                <a:lnTo>
                  <a:pt x="76672" y="29489"/>
                </a:lnTo>
                <a:cubicBezTo>
                  <a:pt x="76672" y="13196"/>
                  <a:pt x="89868" y="0"/>
                  <a:pt x="106161" y="0"/>
                </a:cubicBezTo>
                <a:lnTo>
                  <a:pt x="112059" y="0"/>
                </a:lnTo>
                <a:cubicBezTo>
                  <a:pt x="115303" y="0"/>
                  <a:pt x="117957" y="2654"/>
                  <a:pt x="117957" y="5898"/>
                </a:cubicBezTo>
                <a:lnTo>
                  <a:pt x="117957" y="11796"/>
                </a:lnTo>
                <a:cubicBezTo>
                  <a:pt x="117957" y="28088"/>
                  <a:pt x="104760" y="41285"/>
                  <a:pt x="88467" y="41285"/>
                </a:cubicBezTo>
                <a:lnTo>
                  <a:pt x="82570" y="41285"/>
                </a:lnTo>
                <a:close/>
                <a:moveTo>
                  <a:pt x="0" y="106161"/>
                </a:moveTo>
                <a:cubicBezTo>
                  <a:pt x="0" y="78036"/>
                  <a:pt x="13160" y="47183"/>
                  <a:pt x="41285" y="47183"/>
                </a:cubicBezTo>
                <a:cubicBezTo>
                  <a:pt x="51348" y="47183"/>
                  <a:pt x="63291" y="50979"/>
                  <a:pt x="71769" y="54297"/>
                </a:cubicBezTo>
                <a:cubicBezTo>
                  <a:pt x="78699" y="56988"/>
                  <a:pt x="86477" y="56988"/>
                  <a:pt x="93407" y="54297"/>
                </a:cubicBezTo>
                <a:cubicBezTo>
                  <a:pt x="101848" y="51016"/>
                  <a:pt x="113828" y="47183"/>
                  <a:pt x="123891" y="47183"/>
                </a:cubicBezTo>
                <a:cubicBezTo>
                  <a:pt x="152017" y="47183"/>
                  <a:pt x="165176" y="78036"/>
                  <a:pt x="165176" y="106161"/>
                </a:cubicBezTo>
                <a:cubicBezTo>
                  <a:pt x="165176" y="153344"/>
                  <a:pt x="135687" y="188731"/>
                  <a:pt x="106198" y="188731"/>
                </a:cubicBezTo>
                <a:cubicBezTo>
                  <a:pt x="100116" y="188731"/>
                  <a:pt x="92154" y="186298"/>
                  <a:pt x="87214" y="184565"/>
                </a:cubicBezTo>
                <a:cubicBezTo>
                  <a:pt x="84228" y="183533"/>
                  <a:pt x="80985" y="183533"/>
                  <a:pt x="77999" y="184565"/>
                </a:cubicBezTo>
                <a:cubicBezTo>
                  <a:pt x="73059" y="186298"/>
                  <a:pt x="65097" y="188731"/>
                  <a:pt x="59015" y="188731"/>
                </a:cubicBezTo>
                <a:cubicBezTo>
                  <a:pt x="29526" y="188731"/>
                  <a:pt x="37" y="153344"/>
                  <a:pt x="37" y="106161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02" y="301969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Fresh Produce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1195" y="271772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77653" y="279321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94918" y="10174"/>
                </a:moveTo>
                <a:cubicBezTo>
                  <a:pt x="94623" y="8183"/>
                  <a:pt x="93112" y="6561"/>
                  <a:pt x="91122" y="6266"/>
                </a:cubicBezTo>
                <a:cubicBezTo>
                  <a:pt x="82975" y="5124"/>
                  <a:pt x="74681" y="6598"/>
                  <a:pt x="67383" y="10469"/>
                </a:cubicBezTo>
                <a:lnTo>
                  <a:pt x="40105" y="25029"/>
                </a:lnTo>
                <a:cubicBezTo>
                  <a:pt x="32844" y="28899"/>
                  <a:pt x="26983" y="34982"/>
                  <a:pt x="23370" y="42391"/>
                </a:cubicBezTo>
                <a:lnTo>
                  <a:pt x="9842" y="70258"/>
                </a:lnTo>
                <a:cubicBezTo>
                  <a:pt x="6230" y="77667"/>
                  <a:pt x="5050" y="86071"/>
                  <a:pt x="6488" y="94181"/>
                </a:cubicBezTo>
                <a:lnTo>
                  <a:pt x="11833" y="124702"/>
                </a:lnTo>
                <a:cubicBezTo>
                  <a:pt x="13270" y="132849"/>
                  <a:pt x="17214" y="140295"/>
                  <a:pt x="23149" y="146045"/>
                </a:cubicBezTo>
                <a:lnTo>
                  <a:pt x="45376" y="167572"/>
                </a:lnTo>
                <a:cubicBezTo>
                  <a:pt x="51311" y="173323"/>
                  <a:pt x="58868" y="177009"/>
                  <a:pt x="67014" y="178151"/>
                </a:cubicBezTo>
                <a:lnTo>
                  <a:pt x="97609" y="182464"/>
                </a:lnTo>
                <a:cubicBezTo>
                  <a:pt x="105756" y="183607"/>
                  <a:pt x="114049" y="182132"/>
                  <a:pt x="121348" y="178262"/>
                </a:cubicBezTo>
                <a:lnTo>
                  <a:pt x="148625" y="163702"/>
                </a:lnTo>
                <a:cubicBezTo>
                  <a:pt x="155887" y="159831"/>
                  <a:pt x="161748" y="153749"/>
                  <a:pt x="165360" y="146303"/>
                </a:cubicBezTo>
                <a:lnTo>
                  <a:pt x="178889" y="118473"/>
                </a:lnTo>
                <a:cubicBezTo>
                  <a:pt x="182501" y="111064"/>
                  <a:pt x="183681" y="102659"/>
                  <a:pt x="182243" y="94550"/>
                </a:cubicBezTo>
                <a:cubicBezTo>
                  <a:pt x="181911" y="92596"/>
                  <a:pt x="180289" y="91122"/>
                  <a:pt x="178336" y="90827"/>
                </a:cubicBezTo>
                <a:cubicBezTo>
                  <a:pt x="159352" y="87804"/>
                  <a:pt x="144128" y="73465"/>
                  <a:pt x="139815" y="54924"/>
                </a:cubicBezTo>
                <a:cubicBezTo>
                  <a:pt x="139152" y="52122"/>
                  <a:pt x="136867" y="49984"/>
                  <a:pt x="134028" y="49542"/>
                </a:cubicBezTo>
                <a:cubicBezTo>
                  <a:pt x="113902" y="46335"/>
                  <a:pt x="98015" y="30374"/>
                  <a:pt x="94881" y="10174"/>
                </a:cubicBezTo>
                <a:close/>
                <a:moveTo>
                  <a:pt x="76672" y="53080"/>
                </a:moveTo>
                <a:cubicBezTo>
                  <a:pt x="83182" y="53080"/>
                  <a:pt x="88467" y="58366"/>
                  <a:pt x="88467" y="64876"/>
                </a:cubicBezTo>
                <a:cubicBezTo>
                  <a:pt x="88467" y="71386"/>
                  <a:pt x="83182" y="76672"/>
                  <a:pt x="76672" y="76672"/>
                </a:cubicBezTo>
                <a:cubicBezTo>
                  <a:pt x="70162" y="76672"/>
                  <a:pt x="64876" y="71386"/>
                  <a:pt x="64876" y="64876"/>
                </a:cubicBezTo>
                <a:cubicBezTo>
                  <a:pt x="64876" y="58366"/>
                  <a:pt x="70162" y="53080"/>
                  <a:pt x="76672" y="53080"/>
                </a:cubicBezTo>
                <a:close/>
                <a:moveTo>
                  <a:pt x="53080" y="123854"/>
                </a:moveTo>
                <a:cubicBezTo>
                  <a:pt x="53080" y="117344"/>
                  <a:pt x="58366" y="112059"/>
                  <a:pt x="64876" y="112059"/>
                </a:cubicBezTo>
                <a:cubicBezTo>
                  <a:pt x="71386" y="112059"/>
                  <a:pt x="76672" y="117344"/>
                  <a:pt x="76672" y="123854"/>
                </a:cubicBezTo>
                <a:cubicBezTo>
                  <a:pt x="76672" y="130365"/>
                  <a:pt x="71386" y="135650"/>
                  <a:pt x="64876" y="135650"/>
                </a:cubicBezTo>
                <a:cubicBezTo>
                  <a:pt x="58366" y="135650"/>
                  <a:pt x="53080" y="130365"/>
                  <a:pt x="53080" y="123854"/>
                </a:cubicBezTo>
                <a:close/>
                <a:moveTo>
                  <a:pt x="135650" y="100263"/>
                </a:moveTo>
                <a:cubicBezTo>
                  <a:pt x="142160" y="100263"/>
                  <a:pt x="147446" y="105549"/>
                  <a:pt x="147446" y="112059"/>
                </a:cubicBezTo>
                <a:cubicBezTo>
                  <a:pt x="147446" y="118569"/>
                  <a:pt x="142160" y="123854"/>
                  <a:pt x="135650" y="123854"/>
                </a:cubicBezTo>
                <a:cubicBezTo>
                  <a:pt x="129140" y="123854"/>
                  <a:pt x="123854" y="118569"/>
                  <a:pt x="123854" y="112059"/>
                </a:cubicBezTo>
                <a:cubicBezTo>
                  <a:pt x="123854" y="105549"/>
                  <a:pt x="129140" y="100263"/>
                  <a:pt x="135650" y="10026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7" name="Text 15"/>
          <p:cNvSpPr/>
          <p:nvPr/>
        </p:nvSpPr>
        <p:spPr>
          <a:xfrm>
            <a:off x="2783659" y="301969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Snack Foods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78452" y="271772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814910" y="279321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23591" y="23591"/>
                </a:moveTo>
                <a:cubicBezTo>
                  <a:pt x="23591" y="17067"/>
                  <a:pt x="18320" y="11796"/>
                  <a:pt x="11796" y="11796"/>
                </a:cubicBezTo>
                <a:cubicBezTo>
                  <a:pt x="5271" y="11796"/>
                  <a:pt x="0" y="17067"/>
                  <a:pt x="0" y="23591"/>
                </a:cubicBezTo>
                <a:lnTo>
                  <a:pt x="0" y="147446"/>
                </a:lnTo>
                <a:cubicBezTo>
                  <a:pt x="0" y="163739"/>
                  <a:pt x="13196" y="176935"/>
                  <a:pt x="29489" y="176935"/>
                </a:cubicBezTo>
                <a:lnTo>
                  <a:pt x="176935" y="176935"/>
                </a:lnTo>
                <a:cubicBezTo>
                  <a:pt x="183459" y="176935"/>
                  <a:pt x="188731" y="171664"/>
                  <a:pt x="188731" y="165139"/>
                </a:cubicBezTo>
                <a:cubicBezTo>
                  <a:pt x="188731" y="158615"/>
                  <a:pt x="183459" y="153344"/>
                  <a:pt x="176935" y="153344"/>
                </a:cubicBezTo>
                <a:lnTo>
                  <a:pt x="29489" y="153344"/>
                </a:lnTo>
                <a:cubicBezTo>
                  <a:pt x="26245" y="153344"/>
                  <a:pt x="23591" y="150690"/>
                  <a:pt x="23591" y="147446"/>
                </a:cubicBezTo>
                <a:lnTo>
                  <a:pt x="23591" y="23591"/>
                </a:lnTo>
                <a:close/>
                <a:moveTo>
                  <a:pt x="173470" y="55513"/>
                </a:moveTo>
                <a:cubicBezTo>
                  <a:pt x="178078" y="50906"/>
                  <a:pt x="178078" y="43423"/>
                  <a:pt x="173470" y="38815"/>
                </a:cubicBezTo>
                <a:cubicBezTo>
                  <a:pt x="168862" y="34207"/>
                  <a:pt x="161379" y="34207"/>
                  <a:pt x="156772" y="38815"/>
                </a:cubicBezTo>
                <a:lnTo>
                  <a:pt x="117957" y="77667"/>
                </a:lnTo>
                <a:lnTo>
                  <a:pt x="96798" y="56545"/>
                </a:lnTo>
                <a:cubicBezTo>
                  <a:pt x="92190" y="51938"/>
                  <a:pt x="84708" y="51938"/>
                  <a:pt x="80100" y="56545"/>
                </a:cubicBezTo>
                <a:lnTo>
                  <a:pt x="44713" y="91932"/>
                </a:lnTo>
                <a:cubicBezTo>
                  <a:pt x="40105" y="96540"/>
                  <a:pt x="40105" y="104023"/>
                  <a:pt x="44713" y="108631"/>
                </a:cubicBezTo>
                <a:cubicBezTo>
                  <a:pt x="49321" y="113238"/>
                  <a:pt x="56804" y="113238"/>
                  <a:pt x="61411" y="108631"/>
                </a:cubicBezTo>
                <a:lnTo>
                  <a:pt x="88467" y="81574"/>
                </a:lnTo>
                <a:lnTo>
                  <a:pt x="109626" y="102733"/>
                </a:lnTo>
                <a:cubicBezTo>
                  <a:pt x="114234" y="107341"/>
                  <a:pt x="121717" y="107341"/>
                  <a:pt x="126324" y="102733"/>
                </a:cubicBezTo>
                <a:lnTo>
                  <a:pt x="173507" y="5555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Text 18"/>
          <p:cNvSpPr/>
          <p:nvPr/>
        </p:nvSpPr>
        <p:spPr>
          <a:xfrm>
            <a:off x="4920916" y="301969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Growth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6334" y="3939752"/>
            <a:ext cx="6728248" cy="2547864"/>
          </a:xfrm>
          <a:custGeom>
            <a:avLst/>
            <a:gdLst/>
            <a:ahLst/>
            <a:cxnLst/>
            <a:rect l="l" t="t" r="r" b="b"/>
            <a:pathLst>
              <a:path w="6728248" h="2547864">
                <a:moveTo>
                  <a:pt x="0" y="0"/>
                </a:moveTo>
                <a:lnTo>
                  <a:pt x="6728248" y="0"/>
                </a:lnTo>
                <a:lnTo>
                  <a:pt x="6728248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96334" y="3939752"/>
            <a:ext cx="37746" cy="2547864"/>
          </a:xfrm>
          <a:custGeom>
            <a:avLst/>
            <a:gdLst/>
            <a:ahLst/>
            <a:cxnLst/>
            <a:rect l="l" t="t" r="r" b="b"/>
            <a:pathLst>
              <a:path w="37746" h="2547864">
                <a:moveTo>
                  <a:pt x="0" y="0"/>
                </a:moveTo>
                <a:lnTo>
                  <a:pt x="37746" y="0"/>
                </a:lnTo>
                <a:lnTo>
                  <a:pt x="37746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938" y="4128483"/>
            <a:ext cx="528446" cy="528446"/>
          </a:xfrm>
          <a:custGeom>
            <a:avLst/>
            <a:gdLst/>
            <a:ahLst/>
            <a:cxnLst/>
            <a:rect l="l" t="t" r="r" b="b"/>
            <a:pathLst>
              <a:path w="528446" h="528446">
                <a:moveTo>
                  <a:pt x="113241" y="0"/>
                </a:moveTo>
                <a:lnTo>
                  <a:pt x="415205" y="0"/>
                </a:lnTo>
                <a:cubicBezTo>
                  <a:pt x="477746" y="0"/>
                  <a:pt x="528446" y="50700"/>
                  <a:pt x="528446" y="113241"/>
                </a:cubicBezTo>
                <a:lnTo>
                  <a:pt x="528446" y="415205"/>
                </a:lnTo>
                <a:cubicBezTo>
                  <a:pt x="528446" y="477746"/>
                  <a:pt x="477746" y="528446"/>
                  <a:pt x="415205" y="528446"/>
                </a:cubicBezTo>
                <a:lnTo>
                  <a:pt x="113241" y="528446"/>
                </a:lnTo>
                <a:cubicBezTo>
                  <a:pt x="50700" y="528446"/>
                  <a:pt x="0" y="477746"/>
                  <a:pt x="0" y="415205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9077" y="4279467"/>
            <a:ext cx="198167" cy="226477"/>
          </a:xfrm>
          <a:custGeom>
            <a:avLst/>
            <a:gdLst/>
            <a:ahLst/>
            <a:cxnLst/>
            <a:rect l="l" t="t" r="r" b="b"/>
            <a:pathLst>
              <a:path w="198167" h="226477">
                <a:moveTo>
                  <a:pt x="74313" y="14155"/>
                </a:moveTo>
                <a:lnTo>
                  <a:pt x="10616" y="14155"/>
                </a:lnTo>
                <a:cubicBezTo>
                  <a:pt x="4733" y="14155"/>
                  <a:pt x="0" y="18888"/>
                  <a:pt x="0" y="24771"/>
                </a:cubicBezTo>
                <a:lnTo>
                  <a:pt x="0" y="88467"/>
                </a:lnTo>
                <a:cubicBezTo>
                  <a:pt x="0" y="92758"/>
                  <a:pt x="2566" y="96651"/>
                  <a:pt x="6547" y="98287"/>
                </a:cubicBezTo>
                <a:cubicBezTo>
                  <a:pt x="10528" y="99924"/>
                  <a:pt x="15084" y="98995"/>
                  <a:pt x="18136" y="95987"/>
                </a:cubicBezTo>
                <a:lnTo>
                  <a:pt x="35829" y="78294"/>
                </a:lnTo>
                <a:lnTo>
                  <a:pt x="70774" y="113238"/>
                </a:lnTo>
                <a:lnTo>
                  <a:pt x="35829" y="148183"/>
                </a:lnTo>
                <a:lnTo>
                  <a:pt x="18136" y="130490"/>
                </a:lnTo>
                <a:cubicBezTo>
                  <a:pt x="15084" y="127437"/>
                  <a:pt x="10528" y="126553"/>
                  <a:pt x="6547" y="128189"/>
                </a:cubicBezTo>
                <a:cubicBezTo>
                  <a:pt x="2566" y="129826"/>
                  <a:pt x="0" y="133719"/>
                  <a:pt x="0" y="138009"/>
                </a:cubicBezTo>
                <a:lnTo>
                  <a:pt x="0" y="201706"/>
                </a:lnTo>
                <a:cubicBezTo>
                  <a:pt x="0" y="207589"/>
                  <a:pt x="4733" y="212322"/>
                  <a:pt x="10616" y="212322"/>
                </a:cubicBezTo>
                <a:lnTo>
                  <a:pt x="74313" y="212322"/>
                </a:lnTo>
                <a:cubicBezTo>
                  <a:pt x="78603" y="212322"/>
                  <a:pt x="82496" y="209756"/>
                  <a:pt x="84133" y="205775"/>
                </a:cubicBezTo>
                <a:cubicBezTo>
                  <a:pt x="85769" y="201794"/>
                  <a:pt x="84885" y="197238"/>
                  <a:pt x="81832" y="194186"/>
                </a:cubicBezTo>
                <a:lnTo>
                  <a:pt x="64139" y="176493"/>
                </a:lnTo>
                <a:lnTo>
                  <a:pt x="99084" y="141548"/>
                </a:lnTo>
                <a:lnTo>
                  <a:pt x="134028" y="176493"/>
                </a:lnTo>
                <a:lnTo>
                  <a:pt x="116335" y="194186"/>
                </a:lnTo>
                <a:cubicBezTo>
                  <a:pt x="113283" y="197238"/>
                  <a:pt x="112398" y="201794"/>
                  <a:pt x="114035" y="205775"/>
                </a:cubicBezTo>
                <a:cubicBezTo>
                  <a:pt x="115671" y="209756"/>
                  <a:pt x="119564" y="212322"/>
                  <a:pt x="123854" y="212322"/>
                </a:cubicBezTo>
                <a:lnTo>
                  <a:pt x="187551" y="212322"/>
                </a:lnTo>
                <a:cubicBezTo>
                  <a:pt x="193434" y="212322"/>
                  <a:pt x="198167" y="207589"/>
                  <a:pt x="198167" y="201706"/>
                </a:cubicBezTo>
                <a:lnTo>
                  <a:pt x="198167" y="138009"/>
                </a:lnTo>
                <a:cubicBezTo>
                  <a:pt x="198167" y="133719"/>
                  <a:pt x="195602" y="129826"/>
                  <a:pt x="191621" y="128189"/>
                </a:cubicBezTo>
                <a:cubicBezTo>
                  <a:pt x="187640" y="126553"/>
                  <a:pt x="183083" y="127437"/>
                  <a:pt x="180031" y="130490"/>
                </a:cubicBezTo>
                <a:lnTo>
                  <a:pt x="162338" y="148183"/>
                </a:lnTo>
                <a:lnTo>
                  <a:pt x="127393" y="113238"/>
                </a:lnTo>
                <a:lnTo>
                  <a:pt x="162338" y="78294"/>
                </a:lnTo>
                <a:lnTo>
                  <a:pt x="180031" y="95987"/>
                </a:lnTo>
                <a:cubicBezTo>
                  <a:pt x="183083" y="99039"/>
                  <a:pt x="187640" y="99924"/>
                  <a:pt x="191621" y="98287"/>
                </a:cubicBezTo>
                <a:cubicBezTo>
                  <a:pt x="195602" y="96651"/>
                  <a:pt x="198167" y="92758"/>
                  <a:pt x="198167" y="88467"/>
                </a:cubicBezTo>
                <a:lnTo>
                  <a:pt x="198167" y="24771"/>
                </a:lnTo>
                <a:cubicBezTo>
                  <a:pt x="198167" y="18888"/>
                  <a:pt x="193434" y="14155"/>
                  <a:pt x="187551" y="14155"/>
                </a:cubicBezTo>
                <a:lnTo>
                  <a:pt x="123854" y="14155"/>
                </a:lnTo>
                <a:cubicBezTo>
                  <a:pt x="119564" y="14155"/>
                  <a:pt x="115671" y="16720"/>
                  <a:pt x="114035" y="20701"/>
                </a:cubicBezTo>
                <a:cubicBezTo>
                  <a:pt x="112398" y="24682"/>
                  <a:pt x="113327" y="29239"/>
                  <a:pt x="116335" y="32291"/>
                </a:cubicBezTo>
                <a:lnTo>
                  <a:pt x="134028" y="49984"/>
                </a:lnTo>
                <a:lnTo>
                  <a:pt x="99084" y="84929"/>
                </a:lnTo>
                <a:lnTo>
                  <a:pt x="64139" y="49984"/>
                </a:lnTo>
                <a:lnTo>
                  <a:pt x="81832" y="32291"/>
                </a:lnTo>
                <a:cubicBezTo>
                  <a:pt x="84885" y="29239"/>
                  <a:pt x="85769" y="24682"/>
                  <a:pt x="84133" y="20701"/>
                </a:cubicBezTo>
                <a:cubicBezTo>
                  <a:pt x="82496" y="16720"/>
                  <a:pt x="78603" y="14155"/>
                  <a:pt x="74313" y="14155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3368" y="4128483"/>
            <a:ext cx="1641957" cy="264223"/>
          </a:xfrm>
          <a:custGeom>
            <a:avLst/>
            <a:gdLst/>
            <a:ahLst/>
            <a:cxnLst/>
            <a:rect l="l" t="t" r="r" b="b"/>
            <a:pathLst>
              <a:path w="1641957" h="264223">
                <a:moveTo>
                  <a:pt x="0" y="0"/>
                </a:moveTo>
                <a:lnTo>
                  <a:pt x="1641957" y="0"/>
                </a:lnTo>
                <a:lnTo>
                  <a:pt x="1641957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6" name="Text 24"/>
          <p:cNvSpPr/>
          <p:nvPr/>
        </p:nvSpPr>
        <p:spPr>
          <a:xfrm>
            <a:off x="1283368" y="4128483"/>
            <a:ext cx="1708012" cy="264223"/>
          </a:xfrm>
          <a:prstGeom prst="rect">
            <a:avLst/>
          </a:prstGeom>
          <a:noFill/>
          <a:ln/>
        </p:spPr>
        <p:txBody>
          <a:bodyPr wrap="square" lIns="75492" tIns="37746" rIns="75492" bIns="37746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#2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3368" y="4468198"/>
            <a:ext cx="269884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Expand Medium-Sized Outlets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938" y="4845659"/>
            <a:ext cx="6407406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the </a:t>
            </a:r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medium-sized outlet model ($507,896 revenue)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it demonstrates optimal efficiency and market penetration across locations.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938" y="541185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540396" y="548734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1316" y="26651"/>
                </a:moveTo>
                <a:cubicBezTo>
                  <a:pt x="13860" y="17841"/>
                  <a:pt x="21933" y="11796"/>
                  <a:pt x="31111" y="11796"/>
                </a:cubicBezTo>
                <a:lnTo>
                  <a:pt x="157914" y="11796"/>
                </a:lnTo>
                <a:cubicBezTo>
                  <a:pt x="167093" y="11796"/>
                  <a:pt x="175166" y="17841"/>
                  <a:pt x="177746" y="26651"/>
                </a:cubicBezTo>
                <a:lnTo>
                  <a:pt x="186372" y="56214"/>
                </a:lnTo>
                <a:cubicBezTo>
                  <a:pt x="191090" y="72322"/>
                  <a:pt x="178962" y="88467"/>
                  <a:pt x="162190" y="88467"/>
                </a:cubicBezTo>
                <a:cubicBezTo>
                  <a:pt x="152496" y="88467"/>
                  <a:pt x="143981" y="82975"/>
                  <a:pt x="139779" y="74792"/>
                </a:cubicBezTo>
                <a:cubicBezTo>
                  <a:pt x="135503" y="82865"/>
                  <a:pt x="127025" y="88467"/>
                  <a:pt x="117146" y="88467"/>
                </a:cubicBezTo>
                <a:cubicBezTo>
                  <a:pt x="107341" y="88467"/>
                  <a:pt x="98826" y="82938"/>
                  <a:pt x="94550" y="74829"/>
                </a:cubicBezTo>
                <a:cubicBezTo>
                  <a:pt x="90274" y="82938"/>
                  <a:pt x="81759" y="88467"/>
                  <a:pt x="71954" y="88467"/>
                </a:cubicBezTo>
                <a:cubicBezTo>
                  <a:pt x="62075" y="88467"/>
                  <a:pt x="53597" y="82901"/>
                  <a:pt x="49321" y="74792"/>
                </a:cubicBezTo>
                <a:cubicBezTo>
                  <a:pt x="45118" y="82938"/>
                  <a:pt x="36603" y="88467"/>
                  <a:pt x="26909" y="88467"/>
                </a:cubicBezTo>
                <a:cubicBezTo>
                  <a:pt x="10100" y="88467"/>
                  <a:pt x="-1991" y="72359"/>
                  <a:pt x="2728" y="56214"/>
                </a:cubicBezTo>
                <a:lnTo>
                  <a:pt x="11316" y="26651"/>
                </a:lnTo>
                <a:close/>
                <a:moveTo>
                  <a:pt x="35534" y="129752"/>
                </a:moveTo>
                <a:lnTo>
                  <a:pt x="153491" y="129752"/>
                </a:lnTo>
                <a:lnTo>
                  <a:pt x="153491" y="105276"/>
                </a:lnTo>
                <a:cubicBezTo>
                  <a:pt x="156293" y="105866"/>
                  <a:pt x="159205" y="106161"/>
                  <a:pt x="162154" y="106161"/>
                </a:cubicBezTo>
                <a:cubicBezTo>
                  <a:pt x="167425" y="106161"/>
                  <a:pt x="172475" y="105203"/>
                  <a:pt x="177082" y="103507"/>
                </a:cubicBezTo>
                <a:lnTo>
                  <a:pt x="177082" y="159241"/>
                </a:lnTo>
                <a:cubicBezTo>
                  <a:pt x="177082" y="169010"/>
                  <a:pt x="169157" y="176935"/>
                  <a:pt x="159389" y="176935"/>
                </a:cubicBezTo>
                <a:lnTo>
                  <a:pt x="29637" y="176935"/>
                </a:lnTo>
                <a:cubicBezTo>
                  <a:pt x="19868" y="176935"/>
                  <a:pt x="11943" y="169010"/>
                  <a:pt x="11943" y="159241"/>
                </a:cubicBezTo>
                <a:lnTo>
                  <a:pt x="11943" y="103507"/>
                </a:lnTo>
                <a:cubicBezTo>
                  <a:pt x="16551" y="105203"/>
                  <a:pt x="21564" y="106161"/>
                  <a:pt x="26872" y="106161"/>
                </a:cubicBezTo>
                <a:cubicBezTo>
                  <a:pt x="29858" y="106161"/>
                  <a:pt x="32733" y="105866"/>
                  <a:pt x="35534" y="105276"/>
                </a:cubicBezTo>
                <a:lnTo>
                  <a:pt x="35534" y="129752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02" y="571382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Model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1195" y="541185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4061" y="5487344"/>
            <a:ext cx="235913" cy="188731"/>
          </a:xfrm>
          <a:custGeom>
            <a:avLst/>
            <a:gdLst/>
            <a:ahLst/>
            <a:cxnLst/>
            <a:rect l="l" t="t" r="r" b="b"/>
            <a:pathLst>
              <a:path w="235913" h="188731">
                <a:moveTo>
                  <a:pt x="153307" y="77593"/>
                </a:moveTo>
                <a:cubicBezTo>
                  <a:pt x="157804" y="76377"/>
                  <a:pt x="162522" y="78515"/>
                  <a:pt x="164550" y="82680"/>
                </a:cubicBezTo>
                <a:lnTo>
                  <a:pt x="171406" y="96540"/>
                </a:lnTo>
                <a:cubicBezTo>
                  <a:pt x="175202" y="97056"/>
                  <a:pt x="178926" y="98088"/>
                  <a:pt x="182427" y="99526"/>
                </a:cubicBezTo>
                <a:lnTo>
                  <a:pt x="195329" y="90937"/>
                </a:lnTo>
                <a:cubicBezTo>
                  <a:pt x="199199" y="88357"/>
                  <a:pt x="204323" y="88873"/>
                  <a:pt x="207604" y="92154"/>
                </a:cubicBezTo>
                <a:lnTo>
                  <a:pt x="214681" y="99231"/>
                </a:lnTo>
                <a:cubicBezTo>
                  <a:pt x="217962" y="102512"/>
                  <a:pt x="218478" y="107672"/>
                  <a:pt x="215898" y="111506"/>
                </a:cubicBezTo>
                <a:lnTo>
                  <a:pt x="207309" y="124371"/>
                </a:lnTo>
                <a:cubicBezTo>
                  <a:pt x="208009" y="126103"/>
                  <a:pt x="208636" y="127909"/>
                  <a:pt x="209152" y="129789"/>
                </a:cubicBezTo>
                <a:cubicBezTo>
                  <a:pt x="209668" y="131669"/>
                  <a:pt x="210000" y="133512"/>
                  <a:pt x="210258" y="135392"/>
                </a:cubicBezTo>
                <a:lnTo>
                  <a:pt x="224155" y="142248"/>
                </a:lnTo>
                <a:cubicBezTo>
                  <a:pt x="228320" y="144313"/>
                  <a:pt x="230458" y="149031"/>
                  <a:pt x="229241" y="153491"/>
                </a:cubicBezTo>
                <a:lnTo>
                  <a:pt x="226661" y="163149"/>
                </a:lnTo>
                <a:cubicBezTo>
                  <a:pt x="225445" y="167609"/>
                  <a:pt x="221279" y="170632"/>
                  <a:pt x="216635" y="170337"/>
                </a:cubicBezTo>
                <a:lnTo>
                  <a:pt x="201153" y="169342"/>
                </a:lnTo>
                <a:cubicBezTo>
                  <a:pt x="198831" y="172327"/>
                  <a:pt x="196140" y="175092"/>
                  <a:pt x="193080" y="177451"/>
                </a:cubicBezTo>
                <a:lnTo>
                  <a:pt x="194076" y="192896"/>
                </a:lnTo>
                <a:cubicBezTo>
                  <a:pt x="194370" y="197541"/>
                  <a:pt x="191348" y="201743"/>
                  <a:pt x="186888" y="202922"/>
                </a:cubicBezTo>
                <a:lnTo>
                  <a:pt x="177230" y="205503"/>
                </a:lnTo>
                <a:cubicBezTo>
                  <a:pt x="172733" y="206719"/>
                  <a:pt x="168051" y="204581"/>
                  <a:pt x="165987" y="200416"/>
                </a:cubicBezTo>
                <a:lnTo>
                  <a:pt x="159131" y="186556"/>
                </a:lnTo>
                <a:cubicBezTo>
                  <a:pt x="155334" y="186040"/>
                  <a:pt x="151611" y="185008"/>
                  <a:pt x="148109" y="183570"/>
                </a:cubicBezTo>
                <a:lnTo>
                  <a:pt x="135208" y="192159"/>
                </a:lnTo>
                <a:cubicBezTo>
                  <a:pt x="131337" y="194739"/>
                  <a:pt x="126214" y="194223"/>
                  <a:pt x="122933" y="190942"/>
                </a:cubicBezTo>
                <a:lnTo>
                  <a:pt x="115856" y="183865"/>
                </a:lnTo>
                <a:cubicBezTo>
                  <a:pt x="112575" y="180584"/>
                  <a:pt x="112059" y="175461"/>
                  <a:pt x="114639" y="171590"/>
                </a:cubicBezTo>
                <a:lnTo>
                  <a:pt x="123228" y="158689"/>
                </a:lnTo>
                <a:cubicBezTo>
                  <a:pt x="122527" y="156956"/>
                  <a:pt x="121901" y="155150"/>
                  <a:pt x="121385" y="153270"/>
                </a:cubicBezTo>
                <a:cubicBezTo>
                  <a:pt x="120869" y="151390"/>
                  <a:pt x="120537" y="149510"/>
                  <a:pt x="120279" y="147667"/>
                </a:cubicBezTo>
                <a:lnTo>
                  <a:pt x="106382" y="140811"/>
                </a:lnTo>
                <a:cubicBezTo>
                  <a:pt x="102217" y="138747"/>
                  <a:pt x="100116" y="134028"/>
                  <a:pt x="101295" y="129568"/>
                </a:cubicBezTo>
                <a:lnTo>
                  <a:pt x="103876" y="119910"/>
                </a:lnTo>
                <a:cubicBezTo>
                  <a:pt x="105092" y="115450"/>
                  <a:pt x="109257" y="112427"/>
                  <a:pt x="113902" y="112722"/>
                </a:cubicBezTo>
                <a:lnTo>
                  <a:pt x="129347" y="113718"/>
                </a:lnTo>
                <a:cubicBezTo>
                  <a:pt x="131669" y="110732"/>
                  <a:pt x="134360" y="107967"/>
                  <a:pt x="137420" y="105608"/>
                </a:cubicBezTo>
                <a:lnTo>
                  <a:pt x="136424" y="90200"/>
                </a:lnTo>
                <a:cubicBezTo>
                  <a:pt x="136129" y="85555"/>
                  <a:pt x="139152" y="81353"/>
                  <a:pt x="143612" y="80174"/>
                </a:cubicBezTo>
                <a:lnTo>
                  <a:pt x="153270" y="77593"/>
                </a:lnTo>
                <a:close/>
                <a:moveTo>
                  <a:pt x="165287" y="125329"/>
                </a:moveTo>
                <a:cubicBezTo>
                  <a:pt x="156335" y="125339"/>
                  <a:pt x="149076" y="132615"/>
                  <a:pt x="149086" y="141566"/>
                </a:cubicBezTo>
                <a:cubicBezTo>
                  <a:pt x="149096" y="150518"/>
                  <a:pt x="156372" y="157777"/>
                  <a:pt x="165324" y="157767"/>
                </a:cubicBezTo>
                <a:cubicBezTo>
                  <a:pt x="174275" y="157757"/>
                  <a:pt x="181534" y="150481"/>
                  <a:pt x="181524" y="141530"/>
                </a:cubicBezTo>
                <a:cubicBezTo>
                  <a:pt x="181514" y="132578"/>
                  <a:pt x="174238" y="125319"/>
                  <a:pt x="165287" y="125329"/>
                </a:cubicBezTo>
                <a:close/>
                <a:moveTo>
                  <a:pt x="82901" y="-16772"/>
                </a:moveTo>
                <a:lnTo>
                  <a:pt x="92559" y="-14192"/>
                </a:lnTo>
                <a:cubicBezTo>
                  <a:pt x="97019" y="-12975"/>
                  <a:pt x="100042" y="-8773"/>
                  <a:pt x="99747" y="-4165"/>
                </a:cubicBezTo>
                <a:lnTo>
                  <a:pt x="98752" y="11243"/>
                </a:lnTo>
                <a:cubicBezTo>
                  <a:pt x="101811" y="13602"/>
                  <a:pt x="104502" y="16330"/>
                  <a:pt x="106824" y="19352"/>
                </a:cubicBezTo>
                <a:lnTo>
                  <a:pt x="122306" y="18357"/>
                </a:lnTo>
                <a:cubicBezTo>
                  <a:pt x="126914" y="18062"/>
                  <a:pt x="131116" y="21085"/>
                  <a:pt x="132333" y="25545"/>
                </a:cubicBezTo>
                <a:lnTo>
                  <a:pt x="134913" y="35203"/>
                </a:lnTo>
                <a:cubicBezTo>
                  <a:pt x="136092" y="39663"/>
                  <a:pt x="133991" y="44381"/>
                  <a:pt x="129826" y="46445"/>
                </a:cubicBezTo>
                <a:lnTo>
                  <a:pt x="115929" y="53302"/>
                </a:lnTo>
                <a:cubicBezTo>
                  <a:pt x="115671" y="55182"/>
                  <a:pt x="115303" y="57062"/>
                  <a:pt x="114823" y="58905"/>
                </a:cubicBezTo>
                <a:cubicBezTo>
                  <a:pt x="114344" y="60748"/>
                  <a:pt x="113681" y="62591"/>
                  <a:pt x="112980" y="64323"/>
                </a:cubicBezTo>
                <a:lnTo>
                  <a:pt x="121569" y="77225"/>
                </a:lnTo>
                <a:cubicBezTo>
                  <a:pt x="124149" y="81095"/>
                  <a:pt x="123633" y="86219"/>
                  <a:pt x="120353" y="89500"/>
                </a:cubicBezTo>
                <a:lnTo>
                  <a:pt x="113275" y="96577"/>
                </a:lnTo>
                <a:cubicBezTo>
                  <a:pt x="109995" y="99858"/>
                  <a:pt x="104871" y="100374"/>
                  <a:pt x="101000" y="97793"/>
                </a:cubicBezTo>
                <a:lnTo>
                  <a:pt x="88099" y="89205"/>
                </a:lnTo>
                <a:cubicBezTo>
                  <a:pt x="84597" y="90642"/>
                  <a:pt x="80874" y="91674"/>
                  <a:pt x="77077" y="92190"/>
                </a:cubicBezTo>
                <a:lnTo>
                  <a:pt x="70221" y="106050"/>
                </a:lnTo>
                <a:cubicBezTo>
                  <a:pt x="68157" y="110216"/>
                  <a:pt x="63439" y="112317"/>
                  <a:pt x="58978" y="111137"/>
                </a:cubicBezTo>
                <a:lnTo>
                  <a:pt x="49321" y="108557"/>
                </a:lnTo>
                <a:cubicBezTo>
                  <a:pt x="44824" y="107341"/>
                  <a:pt x="41838" y="103138"/>
                  <a:pt x="42133" y="98531"/>
                </a:cubicBezTo>
                <a:lnTo>
                  <a:pt x="43128" y="83086"/>
                </a:lnTo>
                <a:cubicBezTo>
                  <a:pt x="40068" y="80727"/>
                  <a:pt x="37378" y="77999"/>
                  <a:pt x="35055" y="74976"/>
                </a:cubicBezTo>
                <a:lnTo>
                  <a:pt x="19573" y="75971"/>
                </a:lnTo>
                <a:cubicBezTo>
                  <a:pt x="14966" y="76266"/>
                  <a:pt x="10764" y="73244"/>
                  <a:pt x="9547" y="68783"/>
                </a:cubicBezTo>
                <a:lnTo>
                  <a:pt x="6967" y="59126"/>
                </a:lnTo>
                <a:cubicBezTo>
                  <a:pt x="5787" y="54666"/>
                  <a:pt x="7888" y="49947"/>
                  <a:pt x="12054" y="47883"/>
                </a:cubicBezTo>
                <a:lnTo>
                  <a:pt x="25950" y="41027"/>
                </a:lnTo>
                <a:cubicBezTo>
                  <a:pt x="26208" y="39147"/>
                  <a:pt x="26577" y="37304"/>
                  <a:pt x="27056" y="35424"/>
                </a:cubicBezTo>
                <a:cubicBezTo>
                  <a:pt x="27572" y="33544"/>
                  <a:pt x="28162" y="31738"/>
                  <a:pt x="28899" y="30005"/>
                </a:cubicBezTo>
                <a:lnTo>
                  <a:pt x="20311" y="17141"/>
                </a:lnTo>
                <a:cubicBezTo>
                  <a:pt x="17730" y="13270"/>
                  <a:pt x="18246" y="8146"/>
                  <a:pt x="21527" y="4866"/>
                </a:cubicBezTo>
                <a:lnTo>
                  <a:pt x="28604" y="-2212"/>
                </a:lnTo>
                <a:cubicBezTo>
                  <a:pt x="31885" y="-5492"/>
                  <a:pt x="37009" y="-6008"/>
                  <a:pt x="40879" y="-3428"/>
                </a:cubicBezTo>
                <a:lnTo>
                  <a:pt x="53781" y="5161"/>
                </a:lnTo>
                <a:cubicBezTo>
                  <a:pt x="57283" y="3723"/>
                  <a:pt x="61006" y="2691"/>
                  <a:pt x="64802" y="2175"/>
                </a:cubicBezTo>
                <a:lnTo>
                  <a:pt x="71659" y="-11685"/>
                </a:lnTo>
                <a:cubicBezTo>
                  <a:pt x="73723" y="-15850"/>
                  <a:pt x="78404" y="-17952"/>
                  <a:pt x="82901" y="-16772"/>
                </a:cubicBezTo>
                <a:close/>
                <a:moveTo>
                  <a:pt x="70921" y="30964"/>
                </a:moveTo>
                <a:cubicBezTo>
                  <a:pt x="61970" y="30964"/>
                  <a:pt x="54702" y="38231"/>
                  <a:pt x="54702" y="47183"/>
                </a:cubicBezTo>
                <a:cubicBezTo>
                  <a:pt x="54702" y="56134"/>
                  <a:pt x="61970" y="63402"/>
                  <a:pt x="70921" y="63402"/>
                </a:cubicBezTo>
                <a:cubicBezTo>
                  <a:pt x="79873" y="63402"/>
                  <a:pt x="87140" y="56134"/>
                  <a:pt x="87140" y="47183"/>
                </a:cubicBezTo>
                <a:cubicBezTo>
                  <a:pt x="87140" y="38231"/>
                  <a:pt x="79873" y="30964"/>
                  <a:pt x="70921" y="30964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4" name="Text 32"/>
          <p:cNvSpPr/>
          <p:nvPr/>
        </p:nvSpPr>
        <p:spPr>
          <a:xfrm>
            <a:off x="2783659" y="571382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Ops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78452" y="5411851"/>
            <a:ext cx="2057164" cy="566192"/>
          </a:xfrm>
          <a:custGeom>
            <a:avLst/>
            <a:gdLst/>
            <a:ahLst/>
            <a:cxnLst/>
            <a:rect l="l" t="t" r="r" b="b"/>
            <a:pathLst>
              <a:path w="2057164" h="566192">
                <a:moveTo>
                  <a:pt x="0" y="0"/>
                </a:moveTo>
                <a:lnTo>
                  <a:pt x="2057164" y="0"/>
                </a:lnTo>
                <a:lnTo>
                  <a:pt x="2057164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5814910" y="548734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47183" y="117957"/>
                </a:moveTo>
                <a:lnTo>
                  <a:pt x="9031" y="117957"/>
                </a:lnTo>
                <a:cubicBezTo>
                  <a:pt x="-147" y="117957"/>
                  <a:pt x="-5787" y="107967"/>
                  <a:pt x="-1069" y="100079"/>
                </a:cubicBezTo>
                <a:lnTo>
                  <a:pt x="18431" y="67567"/>
                </a:lnTo>
                <a:cubicBezTo>
                  <a:pt x="21638" y="62222"/>
                  <a:pt x="27388" y="58978"/>
                  <a:pt x="33618" y="58978"/>
                </a:cubicBezTo>
                <a:lnTo>
                  <a:pt x="68636" y="58978"/>
                </a:lnTo>
                <a:cubicBezTo>
                  <a:pt x="96688" y="11464"/>
                  <a:pt x="138525" y="9068"/>
                  <a:pt x="166503" y="13160"/>
                </a:cubicBezTo>
                <a:cubicBezTo>
                  <a:pt x="171221" y="13860"/>
                  <a:pt x="174908" y="17546"/>
                  <a:pt x="175571" y="22227"/>
                </a:cubicBezTo>
                <a:cubicBezTo>
                  <a:pt x="179663" y="50205"/>
                  <a:pt x="177267" y="92043"/>
                  <a:pt x="129752" y="120095"/>
                </a:cubicBezTo>
                <a:lnTo>
                  <a:pt x="129752" y="155113"/>
                </a:lnTo>
                <a:cubicBezTo>
                  <a:pt x="129752" y="161343"/>
                  <a:pt x="126509" y="167093"/>
                  <a:pt x="121164" y="170300"/>
                </a:cubicBezTo>
                <a:lnTo>
                  <a:pt x="88652" y="189800"/>
                </a:lnTo>
                <a:cubicBezTo>
                  <a:pt x="80800" y="194518"/>
                  <a:pt x="70774" y="188841"/>
                  <a:pt x="70774" y="179700"/>
                </a:cubicBezTo>
                <a:lnTo>
                  <a:pt x="70774" y="141548"/>
                </a:lnTo>
                <a:cubicBezTo>
                  <a:pt x="70774" y="128536"/>
                  <a:pt x="60195" y="117957"/>
                  <a:pt x="47183" y="117957"/>
                </a:cubicBezTo>
                <a:lnTo>
                  <a:pt x="47146" y="117957"/>
                </a:lnTo>
                <a:close/>
                <a:moveTo>
                  <a:pt x="147446" y="58978"/>
                </a:moveTo>
                <a:cubicBezTo>
                  <a:pt x="147446" y="49213"/>
                  <a:pt x="139518" y="41285"/>
                  <a:pt x="129752" y="41285"/>
                </a:cubicBezTo>
                <a:cubicBezTo>
                  <a:pt x="119987" y="41285"/>
                  <a:pt x="112059" y="49213"/>
                  <a:pt x="112059" y="58978"/>
                </a:cubicBezTo>
                <a:cubicBezTo>
                  <a:pt x="112059" y="68744"/>
                  <a:pt x="119987" y="76672"/>
                  <a:pt x="129752" y="76672"/>
                </a:cubicBezTo>
                <a:cubicBezTo>
                  <a:pt x="139518" y="76672"/>
                  <a:pt x="147446" y="68744"/>
                  <a:pt x="147446" y="58978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7" name="Text 35"/>
          <p:cNvSpPr/>
          <p:nvPr/>
        </p:nvSpPr>
        <p:spPr>
          <a:xfrm>
            <a:off x="4920916" y="5713820"/>
            <a:ext cx="197223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6550" y="1245622"/>
            <a:ext cx="4482353" cy="2547864"/>
          </a:xfrm>
          <a:custGeom>
            <a:avLst/>
            <a:gdLst/>
            <a:ahLst/>
            <a:cxnLst/>
            <a:rect l="l" t="t" r="r" b="b"/>
            <a:pathLst>
              <a:path w="4482353" h="2547864">
                <a:moveTo>
                  <a:pt x="0" y="0"/>
                </a:moveTo>
                <a:lnTo>
                  <a:pt x="4482353" y="0"/>
                </a:lnTo>
                <a:lnTo>
                  <a:pt x="4482353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7336550" y="1245622"/>
            <a:ext cx="37746" cy="2547864"/>
          </a:xfrm>
          <a:custGeom>
            <a:avLst/>
            <a:gdLst/>
            <a:ahLst/>
            <a:cxnLst/>
            <a:rect l="l" t="t" r="r" b="b"/>
            <a:pathLst>
              <a:path w="37746" h="2547864">
                <a:moveTo>
                  <a:pt x="0" y="0"/>
                </a:moveTo>
                <a:lnTo>
                  <a:pt x="37746" y="0"/>
                </a:lnTo>
                <a:lnTo>
                  <a:pt x="37746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40" name="Shape 38"/>
          <p:cNvSpPr/>
          <p:nvPr/>
        </p:nvSpPr>
        <p:spPr>
          <a:xfrm>
            <a:off x="7544154" y="1434353"/>
            <a:ext cx="528446" cy="528446"/>
          </a:xfrm>
          <a:custGeom>
            <a:avLst/>
            <a:gdLst/>
            <a:ahLst/>
            <a:cxnLst/>
            <a:rect l="l" t="t" r="r" b="b"/>
            <a:pathLst>
              <a:path w="528446" h="528446">
                <a:moveTo>
                  <a:pt x="113241" y="0"/>
                </a:moveTo>
                <a:lnTo>
                  <a:pt x="415205" y="0"/>
                </a:lnTo>
                <a:cubicBezTo>
                  <a:pt x="477746" y="0"/>
                  <a:pt x="528446" y="50700"/>
                  <a:pt x="528446" y="113241"/>
                </a:cubicBezTo>
                <a:lnTo>
                  <a:pt x="528446" y="415205"/>
                </a:lnTo>
                <a:cubicBezTo>
                  <a:pt x="528446" y="477746"/>
                  <a:pt x="477746" y="528446"/>
                  <a:pt x="415205" y="528446"/>
                </a:cubicBezTo>
                <a:lnTo>
                  <a:pt x="113241" y="528446"/>
                </a:lnTo>
                <a:cubicBezTo>
                  <a:pt x="50700" y="528446"/>
                  <a:pt x="0" y="477746"/>
                  <a:pt x="0" y="415205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41" name="Shape 39"/>
          <p:cNvSpPr/>
          <p:nvPr/>
        </p:nvSpPr>
        <p:spPr>
          <a:xfrm>
            <a:off x="7666829" y="1585337"/>
            <a:ext cx="283096" cy="226477"/>
          </a:xfrm>
          <a:custGeom>
            <a:avLst/>
            <a:gdLst/>
            <a:ahLst/>
            <a:cxnLst/>
            <a:rect l="l" t="t" r="r" b="b"/>
            <a:pathLst>
              <a:path w="283096" h="226477">
                <a:moveTo>
                  <a:pt x="254786" y="21232"/>
                </a:moveTo>
                <a:cubicBezTo>
                  <a:pt x="254786" y="16322"/>
                  <a:pt x="252265" y="11766"/>
                  <a:pt x="248063" y="9201"/>
                </a:cubicBezTo>
                <a:cubicBezTo>
                  <a:pt x="243861" y="6635"/>
                  <a:pt x="238685" y="6370"/>
                  <a:pt x="234306" y="8581"/>
                </a:cubicBezTo>
                <a:lnTo>
                  <a:pt x="182907" y="34281"/>
                </a:lnTo>
                <a:lnTo>
                  <a:pt x="103551" y="7785"/>
                </a:lnTo>
                <a:cubicBezTo>
                  <a:pt x="99968" y="6591"/>
                  <a:pt x="96120" y="6856"/>
                  <a:pt x="92758" y="8537"/>
                </a:cubicBezTo>
                <a:lnTo>
                  <a:pt x="36139" y="36847"/>
                </a:lnTo>
                <a:cubicBezTo>
                  <a:pt x="31317" y="39280"/>
                  <a:pt x="28310" y="44190"/>
                  <a:pt x="28310" y="49542"/>
                </a:cubicBezTo>
                <a:lnTo>
                  <a:pt x="28310" y="205245"/>
                </a:lnTo>
                <a:cubicBezTo>
                  <a:pt x="28310" y="210155"/>
                  <a:pt x="30831" y="214711"/>
                  <a:pt x="35033" y="217276"/>
                </a:cubicBezTo>
                <a:cubicBezTo>
                  <a:pt x="39235" y="219842"/>
                  <a:pt x="44411" y="220107"/>
                  <a:pt x="48790" y="217895"/>
                </a:cubicBezTo>
                <a:lnTo>
                  <a:pt x="100145" y="192196"/>
                </a:lnTo>
                <a:lnTo>
                  <a:pt x="176802" y="217763"/>
                </a:lnTo>
                <a:cubicBezTo>
                  <a:pt x="174900" y="214932"/>
                  <a:pt x="173042" y="211968"/>
                  <a:pt x="171229" y="208960"/>
                </a:cubicBezTo>
                <a:cubicBezTo>
                  <a:pt x="166363" y="200865"/>
                  <a:pt x="161542" y="191576"/>
                  <a:pt x="157959" y="181624"/>
                </a:cubicBezTo>
                <a:lnTo>
                  <a:pt x="113194" y="166717"/>
                </a:lnTo>
                <a:lnTo>
                  <a:pt x="113194" y="40872"/>
                </a:lnTo>
                <a:lnTo>
                  <a:pt x="169813" y="59760"/>
                </a:lnTo>
                <a:lnTo>
                  <a:pt x="169813" y="103684"/>
                </a:lnTo>
                <a:cubicBezTo>
                  <a:pt x="183526" y="87848"/>
                  <a:pt x="203873" y="77851"/>
                  <a:pt x="226433" y="77851"/>
                </a:cubicBezTo>
                <a:cubicBezTo>
                  <a:pt x="236429" y="77851"/>
                  <a:pt x="245984" y="79798"/>
                  <a:pt x="254742" y="83381"/>
                </a:cubicBezTo>
                <a:lnTo>
                  <a:pt x="254786" y="21232"/>
                </a:lnTo>
                <a:close/>
                <a:moveTo>
                  <a:pt x="226477" y="99084"/>
                </a:moveTo>
                <a:cubicBezTo>
                  <a:pt x="197150" y="99084"/>
                  <a:pt x="173396" y="122439"/>
                  <a:pt x="173396" y="151235"/>
                </a:cubicBezTo>
                <a:cubicBezTo>
                  <a:pt x="173396" y="181712"/>
                  <a:pt x="201750" y="217763"/>
                  <a:pt x="217011" y="234970"/>
                </a:cubicBezTo>
                <a:cubicBezTo>
                  <a:pt x="222142" y="240720"/>
                  <a:pt x="230856" y="240720"/>
                  <a:pt x="235987" y="234970"/>
                </a:cubicBezTo>
                <a:cubicBezTo>
                  <a:pt x="251248" y="217763"/>
                  <a:pt x="279602" y="181712"/>
                  <a:pt x="279602" y="151235"/>
                </a:cubicBezTo>
                <a:cubicBezTo>
                  <a:pt x="279602" y="122439"/>
                  <a:pt x="255848" y="99084"/>
                  <a:pt x="226521" y="99084"/>
                </a:cubicBezTo>
                <a:close/>
                <a:moveTo>
                  <a:pt x="208783" y="152164"/>
                </a:moveTo>
                <a:cubicBezTo>
                  <a:pt x="208783" y="142399"/>
                  <a:pt x="216711" y="134471"/>
                  <a:pt x="226477" y="134471"/>
                </a:cubicBezTo>
                <a:cubicBezTo>
                  <a:pt x="236242" y="134471"/>
                  <a:pt x="244170" y="142399"/>
                  <a:pt x="244170" y="152164"/>
                </a:cubicBezTo>
                <a:cubicBezTo>
                  <a:pt x="244170" y="161929"/>
                  <a:pt x="236242" y="169858"/>
                  <a:pt x="226477" y="169858"/>
                </a:cubicBezTo>
                <a:cubicBezTo>
                  <a:pt x="216711" y="169858"/>
                  <a:pt x="208783" y="161929"/>
                  <a:pt x="208783" y="152164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3584" y="1434353"/>
            <a:ext cx="1641957" cy="264223"/>
          </a:xfrm>
          <a:custGeom>
            <a:avLst/>
            <a:gdLst/>
            <a:ahLst/>
            <a:cxnLst/>
            <a:rect l="l" t="t" r="r" b="b"/>
            <a:pathLst>
              <a:path w="1641957" h="264223">
                <a:moveTo>
                  <a:pt x="0" y="0"/>
                </a:moveTo>
                <a:lnTo>
                  <a:pt x="1641957" y="0"/>
                </a:lnTo>
                <a:lnTo>
                  <a:pt x="1641957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3" name="Text 41"/>
          <p:cNvSpPr/>
          <p:nvPr/>
        </p:nvSpPr>
        <p:spPr>
          <a:xfrm>
            <a:off x="8223584" y="1434353"/>
            <a:ext cx="1708012" cy="264223"/>
          </a:xfrm>
          <a:prstGeom prst="rect">
            <a:avLst/>
          </a:prstGeom>
          <a:noFill/>
          <a:ln/>
        </p:spPr>
        <p:txBody>
          <a:bodyPr wrap="square" lIns="75492" tIns="37746" rIns="75492" bIns="37746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A8A1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#3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23584" y="1774068"/>
            <a:ext cx="210434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 Tier 3 Expansion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44154" y="2151529"/>
            <a:ext cx="4161511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</a:t>
            </a:r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 locations ($472,130)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future expansion given their superior sales performance compared to urban markets.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44154" y="271772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7" name="Shape 45"/>
          <p:cNvSpPr/>
          <p:nvPr/>
        </p:nvSpPr>
        <p:spPr>
          <a:xfrm>
            <a:off x="8093714" y="2793214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117957" y="0"/>
                </a:moveTo>
                <a:cubicBezTo>
                  <a:pt x="104945" y="0"/>
                  <a:pt x="94365" y="10579"/>
                  <a:pt x="94365" y="23591"/>
                </a:cubicBezTo>
                <a:lnTo>
                  <a:pt x="94365" y="35387"/>
                </a:lnTo>
                <a:lnTo>
                  <a:pt x="76672" y="35387"/>
                </a:lnTo>
                <a:lnTo>
                  <a:pt x="76672" y="8847"/>
                </a:lnTo>
                <a:cubicBezTo>
                  <a:pt x="76672" y="3944"/>
                  <a:pt x="72728" y="0"/>
                  <a:pt x="67825" y="0"/>
                </a:cubicBezTo>
                <a:cubicBezTo>
                  <a:pt x="62923" y="0"/>
                  <a:pt x="58978" y="3944"/>
                  <a:pt x="58978" y="8847"/>
                </a:cubicBezTo>
                <a:lnTo>
                  <a:pt x="58978" y="35387"/>
                </a:lnTo>
                <a:lnTo>
                  <a:pt x="35387" y="35387"/>
                </a:lnTo>
                <a:lnTo>
                  <a:pt x="35387" y="8847"/>
                </a:lnTo>
                <a:cubicBezTo>
                  <a:pt x="35387" y="3944"/>
                  <a:pt x="31443" y="0"/>
                  <a:pt x="26540" y="0"/>
                </a:cubicBezTo>
                <a:cubicBezTo>
                  <a:pt x="21638" y="0"/>
                  <a:pt x="17693" y="3944"/>
                  <a:pt x="17693" y="8847"/>
                </a:cubicBezTo>
                <a:lnTo>
                  <a:pt x="17693" y="36124"/>
                </a:lnTo>
                <a:cubicBezTo>
                  <a:pt x="7520" y="38741"/>
                  <a:pt x="0" y="47994"/>
                  <a:pt x="0" y="58978"/>
                </a:cubicBezTo>
                <a:lnTo>
                  <a:pt x="0" y="165139"/>
                </a:lnTo>
                <a:cubicBezTo>
                  <a:pt x="0" y="178151"/>
                  <a:pt x="10579" y="188731"/>
                  <a:pt x="23591" y="188731"/>
                </a:cubicBezTo>
                <a:lnTo>
                  <a:pt x="188731" y="188731"/>
                </a:lnTo>
                <a:cubicBezTo>
                  <a:pt x="201743" y="188731"/>
                  <a:pt x="212322" y="178151"/>
                  <a:pt x="212322" y="165139"/>
                </a:cubicBezTo>
                <a:lnTo>
                  <a:pt x="212322" y="94365"/>
                </a:lnTo>
                <a:cubicBezTo>
                  <a:pt x="212322" y="81353"/>
                  <a:pt x="201743" y="70774"/>
                  <a:pt x="188731" y="70774"/>
                </a:cubicBezTo>
                <a:lnTo>
                  <a:pt x="165139" y="70774"/>
                </a:lnTo>
                <a:lnTo>
                  <a:pt x="165139" y="23591"/>
                </a:lnTo>
                <a:cubicBezTo>
                  <a:pt x="165139" y="10579"/>
                  <a:pt x="154560" y="0"/>
                  <a:pt x="141548" y="0"/>
                </a:cubicBezTo>
                <a:lnTo>
                  <a:pt x="117957" y="0"/>
                </a:lnTo>
                <a:close/>
                <a:moveTo>
                  <a:pt x="141548" y="41285"/>
                </a:moveTo>
                <a:lnTo>
                  <a:pt x="141548" y="53080"/>
                </a:lnTo>
                <a:cubicBezTo>
                  <a:pt x="141548" y="56324"/>
                  <a:pt x="138894" y="58978"/>
                  <a:pt x="135650" y="58978"/>
                </a:cubicBezTo>
                <a:lnTo>
                  <a:pt x="123854" y="58978"/>
                </a:lnTo>
                <a:cubicBezTo>
                  <a:pt x="120611" y="58978"/>
                  <a:pt x="117957" y="56324"/>
                  <a:pt x="117957" y="53080"/>
                </a:cubicBezTo>
                <a:lnTo>
                  <a:pt x="117957" y="41285"/>
                </a:lnTo>
                <a:cubicBezTo>
                  <a:pt x="117957" y="38041"/>
                  <a:pt x="120611" y="35387"/>
                  <a:pt x="123854" y="35387"/>
                </a:cubicBezTo>
                <a:lnTo>
                  <a:pt x="135650" y="35387"/>
                </a:lnTo>
                <a:cubicBezTo>
                  <a:pt x="138894" y="35387"/>
                  <a:pt x="141548" y="38041"/>
                  <a:pt x="141548" y="41285"/>
                </a:cubicBezTo>
                <a:close/>
                <a:moveTo>
                  <a:pt x="135650" y="70774"/>
                </a:moveTo>
                <a:cubicBezTo>
                  <a:pt x="138894" y="70774"/>
                  <a:pt x="141548" y="73428"/>
                  <a:pt x="141548" y="76672"/>
                </a:cubicBezTo>
                <a:lnTo>
                  <a:pt x="141548" y="88467"/>
                </a:lnTo>
                <a:cubicBezTo>
                  <a:pt x="141548" y="91711"/>
                  <a:pt x="138894" y="94365"/>
                  <a:pt x="135650" y="94365"/>
                </a:cubicBezTo>
                <a:lnTo>
                  <a:pt x="123854" y="94365"/>
                </a:lnTo>
                <a:cubicBezTo>
                  <a:pt x="120611" y="94365"/>
                  <a:pt x="117957" y="91711"/>
                  <a:pt x="117957" y="88467"/>
                </a:cubicBezTo>
                <a:lnTo>
                  <a:pt x="117957" y="76672"/>
                </a:lnTo>
                <a:cubicBezTo>
                  <a:pt x="117957" y="73428"/>
                  <a:pt x="120611" y="70774"/>
                  <a:pt x="123854" y="70774"/>
                </a:cubicBezTo>
                <a:lnTo>
                  <a:pt x="135650" y="70774"/>
                </a:lnTo>
                <a:close/>
                <a:moveTo>
                  <a:pt x="141548" y="112059"/>
                </a:moveTo>
                <a:lnTo>
                  <a:pt x="141548" y="123854"/>
                </a:lnTo>
                <a:cubicBezTo>
                  <a:pt x="141548" y="127098"/>
                  <a:pt x="138894" y="129752"/>
                  <a:pt x="135650" y="129752"/>
                </a:cubicBezTo>
                <a:lnTo>
                  <a:pt x="123854" y="129752"/>
                </a:lnTo>
                <a:cubicBezTo>
                  <a:pt x="120611" y="129752"/>
                  <a:pt x="117957" y="127098"/>
                  <a:pt x="117957" y="123854"/>
                </a:cubicBezTo>
                <a:lnTo>
                  <a:pt x="117957" y="112059"/>
                </a:lnTo>
                <a:cubicBezTo>
                  <a:pt x="117957" y="108815"/>
                  <a:pt x="120611" y="106161"/>
                  <a:pt x="123854" y="106161"/>
                </a:cubicBezTo>
                <a:lnTo>
                  <a:pt x="135650" y="106161"/>
                </a:lnTo>
                <a:cubicBezTo>
                  <a:pt x="138894" y="106161"/>
                  <a:pt x="141548" y="108815"/>
                  <a:pt x="141548" y="112059"/>
                </a:cubicBezTo>
                <a:close/>
                <a:moveTo>
                  <a:pt x="182833" y="106161"/>
                </a:moveTo>
                <a:cubicBezTo>
                  <a:pt x="186077" y="106161"/>
                  <a:pt x="188731" y="108815"/>
                  <a:pt x="188731" y="112059"/>
                </a:cubicBezTo>
                <a:lnTo>
                  <a:pt x="188731" y="123854"/>
                </a:lnTo>
                <a:cubicBezTo>
                  <a:pt x="188731" y="127098"/>
                  <a:pt x="186077" y="129752"/>
                  <a:pt x="182833" y="129752"/>
                </a:cubicBezTo>
                <a:lnTo>
                  <a:pt x="171037" y="129752"/>
                </a:lnTo>
                <a:cubicBezTo>
                  <a:pt x="167793" y="129752"/>
                  <a:pt x="165139" y="127098"/>
                  <a:pt x="165139" y="123854"/>
                </a:cubicBezTo>
                <a:lnTo>
                  <a:pt x="165139" y="112059"/>
                </a:lnTo>
                <a:cubicBezTo>
                  <a:pt x="165139" y="108815"/>
                  <a:pt x="167793" y="106161"/>
                  <a:pt x="171037" y="106161"/>
                </a:cubicBezTo>
                <a:lnTo>
                  <a:pt x="182833" y="106161"/>
                </a:lnTo>
                <a:close/>
                <a:moveTo>
                  <a:pt x="94365" y="112059"/>
                </a:moveTo>
                <a:lnTo>
                  <a:pt x="94365" y="123854"/>
                </a:lnTo>
                <a:cubicBezTo>
                  <a:pt x="94365" y="127098"/>
                  <a:pt x="91711" y="129752"/>
                  <a:pt x="88467" y="129752"/>
                </a:cubicBezTo>
                <a:lnTo>
                  <a:pt x="76672" y="129752"/>
                </a:lnTo>
                <a:cubicBezTo>
                  <a:pt x="73428" y="129752"/>
                  <a:pt x="70774" y="127098"/>
                  <a:pt x="70774" y="123854"/>
                </a:cubicBezTo>
                <a:lnTo>
                  <a:pt x="70774" y="112059"/>
                </a:lnTo>
                <a:cubicBezTo>
                  <a:pt x="70774" y="108815"/>
                  <a:pt x="73428" y="106161"/>
                  <a:pt x="76672" y="106161"/>
                </a:cubicBezTo>
                <a:lnTo>
                  <a:pt x="88467" y="106161"/>
                </a:lnTo>
                <a:cubicBezTo>
                  <a:pt x="91711" y="106161"/>
                  <a:pt x="94365" y="108815"/>
                  <a:pt x="94365" y="112059"/>
                </a:cubicBezTo>
                <a:close/>
                <a:moveTo>
                  <a:pt x="88467" y="70774"/>
                </a:moveTo>
                <a:cubicBezTo>
                  <a:pt x="91711" y="70774"/>
                  <a:pt x="94365" y="73428"/>
                  <a:pt x="94365" y="76672"/>
                </a:cubicBezTo>
                <a:lnTo>
                  <a:pt x="94365" y="88467"/>
                </a:lnTo>
                <a:cubicBezTo>
                  <a:pt x="94365" y="91711"/>
                  <a:pt x="91711" y="94365"/>
                  <a:pt x="88467" y="94365"/>
                </a:cubicBezTo>
                <a:lnTo>
                  <a:pt x="76672" y="94365"/>
                </a:lnTo>
                <a:cubicBezTo>
                  <a:pt x="73428" y="94365"/>
                  <a:pt x="70774" y="91711"/>
                  <a:pt x="70774" y="88467"/>
                </a:cubicBezTo>
                <a:lnTo>
                  <a:pt x="70774" y="76672"/>
                </a:lnTo>
                <a:cubicBezTo>
                  <a:pt x="70774" y="73428"/>
                  <a:pt x="73428" y="70774"/>
                  <a:pt x="76672" y="70774"/>
                </a:cubicBezTo>
                <a:lnTo>
                  <a:pt x="88467" y="70774"/>
                </a:lnTo>
                <a:close/>
                <a:moveTo>
                  <a:pt x="47183" y="112059"/>
                </a:moveTo>
                <a:lnTo>
                  <a:pt x="47183" y="123854"/>
                </a:lnTo>
                <a:cubicBezTo>
                  <a:pt x="47183" y="127098"/>
                  <a:pt x="44529" y="129752"/>
                  <a:pt x="41285" y="129752"/>
                </a:cubicBezTo>
                <a:lnTo>
                  <a:pt x="29489" y="129752"/>
                </a:lnTo>
                <a:cubicBezTo>
                  <a:pt x="26245" y="129752"/>
                  <a:pt x="23591" y="127098"/>
                  <a:pt x="23591" y="123854"/>
                </a:cubicBezTo>
                <a:lnTo>
                  <a:pt x="23591" y="112059"/>
                </a:lnTo>
                <a:cubicBezTo>
                  <a:pt x="23591" y="108815"/>
                  <a:pt x="26245" y="106161"/>
                  <a:pt x="29489" y="106161"/>
                </a:cubicBezTo>
                <a:lnTo>
                  <a:pt x="41285" y="106161"/>
                </a:lnTo>
                <a:cubicBezTo>
                  <a:pt x="44529" y="106161"/>
                  <a:pt x="47183" y="108815"/>
                  <a:pt x="47183" y="112059"/>
                </a:cubicBezTo>
                <a:close/>
                <a:moveTo>
                  <a:pt x="41285" y="70774"/>
                </a:moveTo>
                <a:cubicBezTo>
                  <a:pt x="44529" y="70774"/>
                  <a:pt x="47183" y="73428"/>
                  <a:pt x="47183" y="76672"/>
                </a:cubicBezTo>
                <a:lnTo>
                  <a:pt x="47183" y="88467"/>
                </a:lnTo>
                <a:cubicBezTo>
                  <a:pt x="47183" y="91711"/>
                  <a:pt x="44529" y="94365"/>
                  <a:pt x="41285" y="94365"/>
                </a:cubicBezTo>
                <a:lnTo>
                  <a:pt x="29489" y="94365"/>
                </a:lnTo>
                <a:cubicBezTo>
                  <a:pt x="26245" y="94365"/>
                  <a:pt x="23591" y="91711"/>
                  <a:pt x="23591" y="88467"/>
                </a:cubicBezTo>
                <a:lnTo>
                  <a:pt x="23591" y="76672"/>
                </a:lnTo>
                <a:cubicBezTo>
                  <a:pt x="23591" y="73428"/>
                  <a:pt x="26245" y="70774"/>
                  <a:pt x="29489" y="70774"/>
                </a:cubicBezTo>
                <a:lnTo>
                  <a:pt x="41285" y="70774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8" name="Text 46"/>
          <p:cNvSpPr/>
          <p:nvPr/>
        </p:nvSpPr>
        <p:spPr>
          <a:xfrm>
            <a:off x="7586618" y="301969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 Focus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31206" y="271772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0" name="Shape 48"/>
          <p:cNvSpPr/>
          <p:nvPr/>
        </p:nvSpPr>
        <p:spPr>
          <a:xfrm>
            <a:off x="9468971" y="2793214"/>
            <a:ext cx="235913" cy="188731"/>
          </a:xfrm>
          <a:custGeom>
            <a:avLst/>
            <a:gdLst/>
            <a:ahLst/>
            <a:cxnLst/>
            <a:rect l="l" t="t" r="r" b="b"/>
            <a:pathLst>
              <a:path w="235913" h="188731">
                <a:moveTo>
                  <a:pt x="117957" y="5898"/>
                </a:moveTo>
                <a:cubicBezTo>
                  <a:pt x="139115" y="5898"/>
                  <a:pt x="156293" y="23076"/>
                  <a:pt x="156293" y="44234"/>
                </a:cubicBezTo>
                <a:cubicBezTo>
                  <a:pt x="156293" y="65392"/>
                  <a:pt x="139115" y="82570"/>
                  <a:pt x="117957" y="82570"/>
                </a:cubicBezTo>
                <a:cubicBezTo>
                  <a:pt x="96798" y="82570"/>
                  <a:pt x="79621" y="65392"/>
                  <a:pt x="79621" y="44234"/>
                </a:cubicBezTo>
                <a:cubicBezTo>
                  <a:pt x="79621" y="23076"/>
                  <a:pt x="96798" y="5898"/>
                  <a:pt x="117957" y="5898"/>
                </a:cubicBezTo>
                <a:close/>
                <a:moveTo>
                  <a:pt x="35387" y="32438"/>
                </a:moveTo>
                <a:cubicBezTo>
                  <a:pt x="50035" y="32438"/>
                  <a:pt x="61927" y="44330"/>
                  <a:pt x="61927" y="58978"/>
                </a:cubicBezTo>
                <a:cubicBezTo>
                  <a:pt x="61927" y="73626"/>
                  <a:pt x="50035" y="85519"/>
                  <a:pt x="35387" y="85519"/>
                </a:cubicBezTo>
                <a:cubicBezTo>
                  <a:pt x="20739" y="85519"/>
                  <a:pt x="8847" y="73626"/>
                  <a:pt x="8847" y="58978"/>
                </a:cubicBezTo>
                <a:cubicBezTo>
                  <a:pt x="8847" y="44330"/>
                  <a:pt x="20739" y="32438"/>
                  <a:pt x="35387" y="32438"/>
                </a:cubicBezTo>
                <a:close/>
                <a:moveTo>
                  <a:pt x="0" y="153344"/>
                </a:moveTo>
                <a:cubicBezTo>
                  <a:pt x="0" y="127283"/>
                  <a:pt x="21122" y="106161"/>
                  <a:pt x="47183" y="106161"/>
                </a:cubicBezTo>
                <a:cubicBezTo>
                  <a:pt x="51901" y="106161"/>
                  <a:pt x="56472" y="106861"/>
                  <a:pt x="60785" y="108152"/>
                </a:cubicBezTo>
                <a:cubicBezTo>
                  <a:pt x="48657" y="121717"/>
                  <a:pt x="41285" y="139631"/>
                  <a:pt x="41285" y="159241"/>
                </a:cubicBezTo>
                <a:lnTo>
                  <a:pt x="41285" y="165139"/>
                </a:lnTo>
                <a:cubicBezTo>
                  <a:pt x="41285" y="169342"/>
                  <a:pt x="42170" y="173323"/>
                  <a:pt x="43755" y="176935"/>
                </a:cubicBezTo>
                <a:lnTo>
                  <a:pt x="11796" y="176935"/>
                </a:lnTo>
                <a:cubicBezTo>
                  <a:pt x="5271" y="176935"/>
                  <a:pt x="0" y="171664"/>
                  <a:pt x="0" y="165139"/>
                </a:cubicBezTo>
                <a:lnTo>
                  <a:pt x="0" y="153344"/>
                </a:lnTo>
                <a:close/>
                <a:moveTo>
                  <a:pt x="192159" y="176935"/>
                </a:moveTo>
                <a:cubicBezTo>
                  <a:pt x="193744" y="173323"/>
                  <a:pt x="194628" y="169342"/>
                  <a:pt x="194628" y="165139"/>
                </a:cubicBezTo>
                <a:lnTo>
                  <a:pt x="194628" y="159241"/>
                </a:lnTo>
                <a:cubicBezTo>
                  <a:pt x="194628" y="139631"/>
                  <a:pt x="187256" y="121717"/>
                  <a:pt x="175129" y="108152"/>
                </a:cubicBezTo>
                <a:cubicBezTo>
                  <a:pt x="179442" y="106861"/>
                  <a:pt x="184012" y="106161"/>
                  <a:pt x="188731" y="106161"/>
                </a:cubicBezTo>
                <a:cubicBezTo>
                  <a:pt x="214792" y="106161"/>
                  <a:pt x="235913" y="127283"/>
                  <a:pt x="235913" y="153344"/>
                </a:cubicBezTo>
                <a:lnTo>
                  <a:pt x="235913" y="165139"/>
                </a:lnTo>
                <a:cubicBezTo>
                  <a:pt x="235913" y="171664"/>
                  <a:pt x="230642" y="176935"/>
                  <a:pt x="224118" y="176935"/>
                </a:cubicBezTo>
                <a:lnTo>
                  <a:pt x="192159" y="176935"/>
                </a:lnTo>
                <a:close/>
                <a:moveTo>
                  <a:pt x="173986" y="58978"/>
                </a:moveTo>
                <a:cubicBezTo>
                  <a:pt x="173986" y="44330"/>
                  <a:pt x="185878" y="32438"/>
                  <a:pt x="200526" y="32438"/>
                </a:cubicBezTo>
                <a:cubicBezTo>
                  <a:pt x="215174" y="32438"/>
                  <a:pt x="227067" y="44330"/>
                  <a:pt x="227067" y="58978"/>
                </a:cubicBezTo>
                <a:cubicBezTo>
                  <a:pt x="227067" y="73626"/>
                  <a:pt x="215174" y="85519"/>
                  <a:pt x="200526" y="85519"/>
                </a:cubicBezTo>
                <a:cubicBezTo>
                  <a:pt x="185878" y="85519"/>
                  <a:pt x="173986" y="73626"/>
                  <a:pt x="173986" y="58978"/>
                </a:cubicBezTo>
                <a:close/>
                <a:moveTo>
                  <a:pt x="58978" y="159241"/>
                </a:moveTo>
                <a:cubicBezTo>
                  <a:pt x="58978" y="126656"/>
                  <a:pt x="85371" y="100263"/>
                  <a:pt x="117957" y="100263"/>
                </a:cubicBezTo>
                <a:cubicBezTo>
                  <a:pt x="150542" y="100263"/>
                  <a:pt x="176935" y="126656"/>
                  <a:pt x="176935" y="159241"/>
                </a:cubicBezTo>
                <a:lnTo>
                  <a:pt x="176935" y="165139"/>
                </a:lnTo>
                <a:cubicBezTo>
                  <a:pt x="176935" y="171664"/>
                  <a:pt x="171664" y="176935"/>
                  <a:pt x="165139" y="176935"/>
                </a:cubicBezTo>
                <a:lnTo>
                  <a:pt x="70774" y="176935"/>
                </a:lnTo>
                <a:cubicBezTo>
                  <a:pt x="64250" y="176935"/>
                  <a:pt x="58978" y="171664"/>
                  <a:pt x="58978" y="165139"/>
                </a:cubicBezTo>
                <a:lnTo>
                  <a:pt x="58978" y="159241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1" name="Text 49"/>
          <p:cNvSpPr/>
          <p:nvPr/>
        </p:nvSpPr>
        <p:spPr>
          <a:xfrm>
            <a:off x="8973671" y="301969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Market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318259" y="271772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3" name="Shape 51"/>
          <p:cNvSpPr/>
          <p:nvPr/>
        </p:nvSpPr>
        <p:spPr>
          <a:xfrm>
            <a:off x="10879615" y="279321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29715" y="103212"/>
                </a:moveTo>
                <a:lnTo>
                  <a:pt x="59347" y="103212"/>
                </a:lnTo>
                <a:cubicBezTo>
                  <a:pt x="60416" y="126988"/>
                  <a:pt x="65687" y="148883"/>
                  <a:pt x="73170" y="164918"/>
                </a:cubicBezTo>
                <a:cubicBezTo>
                  <a:pt x="77372" y="173949"/>
                  <a:pt x="81906" y="180326"/>
                  <a:pt x="86108" y="184234"/>
                </a:cubicBezTo>
                <a:cubicBezTo>
                  <a:pt x="90237" y="188104"/>
                  <a:pt x="93075" y="188731"/>
                  <a:pt x="94550" y="188731"/>
                </a:cubicBezTo>
                <a:cubicBezTo>
                  <a:pt x="96024" y="188731"/>
                  <a:pt x="98862" y="188104"/>
                  <a:pt x="102991" y="184234"/>
                </a:cubicBezTo>
                <a:cubicBezTo>
                  <a:pt x="107193" y="180326"/>
                  <a:pt x="111727" y="173912"/>
                  <a:pt x="115929" y="164918"/>
                </a:cubicBezTo>
                <a:cubicBezTo>
                  <a:pt x="123412" y="148883"/>
                  <a:pt x="128683" y="126988"/>
                  <a:pt x="129752" y="103212"/>
                </a:cubicBezTo>
                <a:close/>
                <a:moveTo>
                  <a:pt x="59310" y="85519"/>
                </a:moveTo>
                <a:lnTo>
                  <a:pt x="129679" y="85519"/>
                </a:lnTo>
                <a:cubicBezTo>
                  <a:pt x="128646" y="61743"/>
                  <a:pt x="123375" y="39847"/>
                  <a:pt x="115892" y="23812"/>
                </a:cubicBezTo>
                <a:cubicBezTo>
                  <a:pt x="111690" y="14818"/>
                  <a:pt x="107156" y="8404"/>
                  <a:pt x="102954" y="4497"/>
                </a:cubicBezTo>
                <a:cubicBezTo>
                  <a:pt x="98826" y="627"/>
                  <a:pt x="95987" y="0"/>
                  <a:pt x="94513" y="0"/>
                </a:cubicBezTo>
                <a:cubicBezTo>
                  <a:pt x="93038" y="0"/>
                  <a:pt x="90200" y="627"/>
                  <a:pt x="86071" y="4497"/>
                </a:cubicBezTo>
                <a:cubicBezTo>
                  <a:pt x="81869" y="8404"/>
                  <a:pt x="77335" y="14818"/>
                  <a:pt x="73133" y="23812"/>
                </a:cubicBezTo>
                <a:cubicBezTo>
                  <a:pt x="65650" y="39847"/>
                  <a:pt x="60379" y="61743"/>
                  <a:pt x="59310" y="85519"/>
                </a:cubicBezTo>
                <a:close/>
                <a:moveTo>
                  <a:pt x="41617" y="85519"/>
                </a:moveTo>
                <a:cubicBezTo>
                  <a:pt x="42907" y="53965"/>
                  <a:pt x="51053" y="24660"/>
                  <a:pt x="62959" y="5419"/>
                </a:cubicBezTo>
                <a:cubicBezTo>
                  <a:pt x="29010" y="17435"/>
                  <a:pt x="4018" y="48362"/>
                  <a:pt x="553" y="85519"/>
                </a:cubicBezTo>
                <a:lnTo>
                  <a:pt x="41617" y="85519"/>
                </a:lnTo>
                <a:close/>
                <a:moveTo>
                  <a:pt x="553" y="103212"/>
                </a:moveTo>
                <a:cubicBezTo>
                  <a:pt x="4018" y="140368"/>
                  <a:pt x="29010" y="171295"/>
                  <a:pt x="62959" y="183312"/>
                </a:cubicBezTo>
                <a:cubicBezTo>
                  <a:pt x="51053" y="164070"/>
                  <a:pt x="42907" y="134765"/>
                  <a:pt x="41617" y="103212"/>
                </a:cubicBezTo>
                <a:lnTo>
                  <a:pt x="553" y="103212"/>
                </a:lnTo>
                <a:close/>
                <a:moveTo>
                  <a:pt x="147409" y="103212"/>
                </a:moveTo>
                <a:cubicBezTo>
                  <a:pt x="146119" y="134765"/>
                  <a:pt x="137972" y="164070"/>
                  <a:pt x="126066" y="183312"/>
                </a:cubicBezTo>
                <a:cubicBezTo>
                  <a:pt x="160016" y="171258"/>
                  <a:pt x="185008" y="140368"/>
                  <a:pt x="188473" y="103212"/>
                </a:cubicBezTo>
                <a:lnTo>
                  <a:pt x="147409" y="103212"/>
                </a:lnTo>
                <a:close/>
                <a:moveTo>
                  <a:pt x="188473" y="85519"/>
                </a:moveTo>
                <a:cubicBezTo>
                  <a:pt x="185008" y="48362"/>
                  <a:pt x="160016" y="17435"/>
                  <a:pt x="126066" y="5419"/>
                </a:cubicBezTo>
                <a:cubicBezTo>
                  <a:pt x="137972" y="24660"/>
                  <a:pt x="146119" y="53965"/>
                  <a:pt x="147409" y="85519"/>
                </a:cubicBezTo>
                <a:lnTo>
                  <a:pt x="188473" y="85519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4" name="Text 52"/>
          <p:cNvSpPr/>
          <p:nvPr/>
        </p:nvSpPr>
        <p:spPr>
          <a:xfrm>
            <a:off x="10360723" y="301969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Reach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36550" y="3939752"/>
            <a:ext cx="4482353" cy="2547864"/>
          </a:xfrm>
          <a:custGeom>
            <a:avLst/>
            <a:gdLst/>
            <a:ahLst/>
            <a:cxnLst/>
            <a:rect l="l" t="t" r="r" b="b"/>
            <a:pathLst>
              <a:path w="4482353" h="2547864">
                <a:moveTo>
                  <a:pt x="0" y="0"/>
                </a:moveTo>
                <a:lnTo>
                  <a:pt x="4482353" y="0"/>
                </a:lnTo>
                <a:lnTo>
                  <a:pt x="4482353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336550" y="3939752"/>
            <a:ext cx="37746" cy="2547864"/>
          </a:xfrm>
          <a:custGeom>
            <a:avLst/>
            <a:gdLst/>
            <a:ahLst/>
            <a:cxnLst/>
            <a:rect l="l" t="t" r="r" b="b"/>
            <a:pathLst>
              <a:path w="37746" h="2547864">
                <a:moveTo>
                  <a:pt x="0" y="0"/>
                </a:moveTo>
                <a:lnTo>
                  <a:pt x="37746" y="0"/>
                </a:lnTo>
                <a:lnTo>
                  <a:pt x="37746" y="2547864"/>
                </a:lnTo>
                <a:lnTo>
                  <a:pt x="0" y="2547864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7" name="Shape 55"/>
          <p:cNvSpPr/>
          <p:nvPr/>
        </p:nvSpPr>
        <p:spPr>
          <a:xfrm>
            <a:off x="7544154" y="4128483"/>
            <a:ext cx="528446" cy="528446"/>
          </a:xfrm>
          <a:custGeom>
            <a:avLst/>
            <a:gdLst/>
            <a:ahLst/>
            <a:cxnLst/>
            <a:rect l="l" t="t" r="r" b="b"/>
            <a:pathLst>
              <a:path w="528446" h="528446">
                <a:moveTo>
                  <a:pt x="113241" y="0"/>
                </a:moveTo>
                <a:lnTo>
                  <a:pt x="415205" y="0"/>
                </a:lnTo>
                <a:cubicBezTo>
                  <a:pt x="477746" y="0"/>
                  <a:pt x="528446" y="50700"/>
                  <a:pt x="528446" y="113241"/>
                </a:cubicBezTo>
                <a:lnTo>
                  <a:pt x="528446" y="415205"/>
                </a:lnTo>
                <a:cubicBezTo>
                  <a:pt x="528446" y="477746"/>
                  <a:pt x="477746" y="528446"/>
                  <a:pt x="415205" y="528446"/>
                </a:cubicBezTo>
                <a:lnTo>
                  <a:pt x="113241" y="528446"/>
                </a:lnTo>
                <a:cubicBezTo>
                  <a:pt x="50700" y="528446"/>
                  <a:pt x="0" y="477746"/>
                  <a:pt x="0" y="415205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8" name="Shape 56"/>
          <p:cNvSpPr/>
          <p:nvPr/>
        </p:nvSpPr>
        <p:spPr>
          <a:xfrm>
            <a:off x="7695139" y="4279467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3580" y="31981"/>
                </a:moveTo>
                <a:cubicBezTo>
                  <a:pt x="16632" y="21409"/>
                  <a:pt x="26319" y="14155"/>
                  <a:pt x="37333" y="14155"/>
                </a:cubicBezTo>
                <a:lnTo>
                  <a:pt x="189497" y="14155"/>
                </a:lnTo>
                <a:cubicBezTo>
                  <a:pt x="200512" y="14155"/>
                  <a:pt x="210199" y="21409"/>
                  <a:pt x="213295" y="31981"/>
                </a:cubicBezTo>
                <a:lnTo>
                  <a:pt x="223646" y="67456"/>
                </a:lnTo>
                <a:cubicBezTo>
                  <a:pt x="229308" y="86787"/>
                  <a:pt x="214755" y="106161"/>
                  <a:pt x="194628" y="106161"/>
                </a:cubicBezTo>
                <a:cubicBezTo>
                  <a:pt x="182995" y="106161"/>
                  <a:pt x="172777" y="99570"/>
                  <a:pt x="167734" y="89750"/>
                </a:cubicBezTo>
                <a:cubicBezTo>
                  <a:pt x="162603" y="99437"/>
                  <a:pt x="152429" y="106161"/>
                  <a:pt x="140575" y="106161"/>
                </a:cubicBezTo>
                <a:cubicBezTo>
                  <a:pt x="128809" y="106161"/>
                  <a:pt x="118591" y="99526"/>
                  <a:pt x="113460" y="89795"/>
                </a:cubicBezTo>
                <a:cubicBezTo>
                  <a:pt x="108328" y="99526"/>
                  <a:pt x="98110" y="106161"/>
                  <a:pt x="86344" y="106161"/>
                </a:cubicBezTo>
                <a:cubicBezTo>
                  <a:pt x="74490" y="106161"/>
                  <a:pt x="64316" y="99482"/>
                  <a:pt x="59185" y="89750"/>
                </a:cubicBezTo>
                <a:cubicBezTo>
                  <a:pt x="54142" y="99526"/>
                  <a:pt x="43924" y="106161"/>
                  <a:pt x="32291" y="106161"/>
                </a:cubicBezTo>
                <a:cubicBezTo>
                  <a:pt x="12120" y="106161"/>
                  <a:pt x="-2389" y="86831"/>
                  <a:pt x="3273" y="67456"/>
                </a:cubicBezTo>
                <a:lnTo>
                  <a:pt x="13580" y="31981"/>
                </a:lnTo>
                <a:close/>
                <a:moveTo>
                  <a:pt x="42641" y="155703"/>
                </a:moveTo>
                <a:lnTo>
                  <a:pt x="184189" y="155703"/>
                </a:lnTo>
                <a:lnTo>
                  <a:pt x="184189" y="126332"/>
                </a:lnTo>
                <a:cubicBezTo>
                  <a:pt x="187551" y="127039"/>
                  <a:pt x="191046" y="127393"/>
                  <a:pt x="194584" y="127393"/>
                </a:cubicBezTo>
                <a:cubicBezTo>
                  <a:pt x="200910" y="127393"/>
                  <a:pt x="206970" y="126243"/>
                  <a:pt x="212499" y="124208"/>
                </a:cubicBezTo>
                <a:lnTo>
                  <a:pt x="212499" y="191090"/>
                </a:lnTo>
                <a:cubicBezTo>
                  <a:pt x="212499" y="202812"/>
                  <a:pt x="202989" y="212322"/>
                  <a:pt x="191267" y="212322"/>
                </a:cubicBezTo>
                <a:lnTo>
                  <a:pt x="35564" y="212322"/>
                </a:lnTo>
                <a:cubicBezTo>
                  <a:pt x="23842" y="212322"/>
                  <a:pt x="14332" y="202812"/>
                  <a:pt x="14332" y="191090"/>
                </a:cubicBezTo>
                <a:lnTo>
                  <a:pt x="14332" y="124208"/>
                </a:lnTo>
                <a:cubicBezTo>
                  <a:pt x="19861" y="126243"/>
                  <a:pt x="25877" y="127393"/>
                  <a:pt x="32246" y="127393"/>
                </a:cubicBezTo>
                <a:cubicBezTo>
                  <a:pt x="35829" y="127393"/>
                  <a:pt x="39280" y="127039"/>
                  <a:pt x="42641" y="126332"/>
                </a:cubicBezTo>
                <a:lnTo>
                  <a:pt x="42641" y="155703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3584" y="4128483"/>
            <a:ext cx="1641957" cy="264223"/>
          </a:xfrm>
          <a:custGeom>
            <a:avLst/>
            <a:gdLst/>
            <a:ahLst/>
            <a:cxnLst/>
            <a:rect l="l" t="t" r="r" b="b"/>
            <a:pathLst>
              <a:path w="1641957" h="264223">
                <a:moveTo>
                  <a:pt x="0" y="0"/>
                </a:moveTo>
                <a:lnTo>
                  <a:pt x="1641957" y="0"/>
                </a:lnTo>
                <a:lnTo>
                  <a:pt x="1641957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0" name="Text 58"/>
          <p:cNvSpPr/>
          <p:nvPr/>
        </p:nvSpPr>
        <p:spPr>
          <a:xfrm>
            <a:off x="8223584" y="4128483"/>
            <a:ext cx="1708012" cy="264223"/>
          </a:xfrm>
          <a:prstGeom prst="rect">
            <a:avLst/>
          </a:prstGeom>
          <a:noFill/>
          <a:ln/>
        </p:spPr>
        <p:txBody>
          <a:bodyPr wrap="square" lIns="75492" tIns="37746" rIns="75492" bIns="37746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#4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23584" y="4468198"/>
            <a:ext cx="2764904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Strengthen Supermarket Type1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44154" y="4845659"/>
            <a:ext cx="4161511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Consolidate and strengthen </a:t>
            </a:r>
            <a:pPr>
              <a:lnSpc>
                <a:spcPct val="120000"/>
              </a:lnSpc>
            </a:pPr>
            <a:r>
              <a:rPr lang="en-US" sz="1189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Supermarket Type1 outlets ($787,550)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which contribute 65.5% of total sales volume.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44154" y="541185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4" name="Shape 62"/>
          <p:cNvSpPr/>
          <p:nvPr/>
        </p:nvSpPr>
        <p:spPr>
          <a:xfrm>
            <a:off x="8105510" y="548734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53191" y="0"/>
                </a:moveTo>
                <a:lnTo>
                  <a:pt x="135761" y="0"/>
                </a:lnTo>
                <a:cubicBezTo>
                  <a:pt x="145529" y="0"/>
                  <a:pt x="153491" y="8036"/>
                  <a:pt x="153122" y="17767"/>
                </a:cubicBezTo>
                <a:cubicBezTo>
                  <a:pt x="153049" y="19721"/>
                  <a:pt x="152975" y="21675"/>
                  <a:pt x="152864" y="23591"/>
                </a:cubicBezTo>
                <a:lnTo>
                  <a:pt x="171148" y="23591"/>
                </a:lnTo>
                <a:cubicBezTo>
                  <a:pt x="180769" y="23591"/>
                  <a:pt x="189247" y="31553"/>
                  <a:pt x="188509" y="41948"/>
                </a:cubicBezTo>
                <a:cubicBezTo>
                  <a:pt x="185745" y="80174"/>
                  <a:pt x="166208" y="101185"/>
                  <a:pt x="145013" y="112169"/>
                </a:cubicBezTo>
                <a:cubicBezTo>
                  <a:pt x="139189" y="115192"/>
                  <a:pt x="133254" y="117441"/>
                  <a:pt x="127614" y="119099"/>
                </a:cubicBezTo>
                <a:cubicBezTo>
                  <a:pt x="120168" y="129642"/>
                  <a:pt x="112427" y="135208"/>
                  <a:pt x="106272" y="138194"/>
                </a:cubicBezTo>
                <a:lnTo>
                  <a:pt x="106272" y="165139"/>
                </a:lnTo>
                <a:lnTo>
                  <a:pt x="129863" y="165139"/>
                </a:lnTo>
                <a:cubicBezTo>
                  <a:pt x="136387" y="165139"/>
                  <a:pt x="141659" y="170411"/>
                  <a:pt x="141659" y="176935"/>
                </a:cubicBezTo>
                <a:cubicBezTo>
                  <a:pt x="141659" y="183459"/>
                  <a:pt x="136387" y="188731"/>
                  <a:pt x="129863" y="188731"/>
                </a:cubicBezTo>
                <a:lnTo>
                  <a:pt x="59089" y="188731"/>
                </a:lnTo>
                <a:cubicBezTo>
                  <a:pt x="52564" y="188731"/>
                  <a:pt x="47293" y="183459"/>
                  <a:pt x="47293" y="176935"/>
                </a:cubicBezTo>
                <a:cubicBezTo>
                  <a:pt x="47293" y="170411"/>
                  <a:pt x="52564" y="165139"/>
                  <a:pt x="59089" y="165139"/>
                </a:cubicBezTo>
                <a:lnTo>
                  <a:pt x="82680" y="165139"/>
                </a:lnTo>
                <a:lnTo>
                  <a:pt x="82680" y="138194"/>
                </a:lnTo>
                <a:cubicBezTo>
                  <a:pt x="76782" y="135355"/>
                  <a:pt x="69447" y="130084"/>
                  <a:pt x="62296" y="120390"/>
                </a:cubicBezTo>
                <a:cubicBezTo>
                  <a:pt x="55513" y="118620"/>
                  <a:pt x="48141" y="115929"/>
                  <a:pt x="40953" y="111875"/>
                </a:cubicBezTo>
                <a:cubicBezTo>
                  <a:pt x="21011" y="100705"/>
                  <a:pt x="3023" y="79658"/>
                  <a:pt x="442" y="41875"/>
                </a:cubicBezTo>
                <a:cubicBezTo>
                  <a:pt x="-258" y="31517"/>
                  <a:pt x="8183" y="23554"/>
                  <a:pt x="17804" y="23554"/>
                </a:cubicBezTo>
                <a:lnTo>
                  <a:pt x="36087" y="23554"/>
                </a:lnTo>
                <a:cubicBezTo>
                  <a:pt x="35977" y="21638"/>
                  <a:pt x="35903" y="19721"/>
                  <a:pt x="35829" y="17730"/>
                </a:cubicBezTo>
                <a:cubicBezTo>
                  <a:pt x="35461" y="7962"/>
                  <a:pt x="43423" y="-37"/>
                  <a:pt x="53191" y="-37"/>
                </a:cubicBezTo>
                <a:close/>
                <a:moveTo>
                  <a:pt x="37414" y="41285"/>
                </a:moveTo>
                <a:lnTo>
                  <a:pt x="18099" y="41285"/>
                </a:lnTo>
                <a:cubicBezTo>
                  <a:pt x="20384" y="72506"/>
                  <a:pt x="34723" y="88136"/>
                  <a:pt x="49505" y="96430"/>
                </a:cubicBezTo>
                <a:cubicBezTo>
                  <a:pt x="44197" y="82680"/>
                  <a:pt x="39810" y="64729"/>
                  <a:pt x="37414" y="41285"/>
                </a:cubicBezTo>
                <a:close/>
                <a:moveTo>
                  <a:pt x="140074" y="94660"/>
                </a:moveTo>
                <a:cubicBezTo>
                  <a:pt x="155002" y="85887"/>
                  <a:pt x="168494" y="70295"/>
                  <a:pt x="170779" y="41285"/>
                </a:cubicBezTo>
                <a:lnTo>
                  <a:pt x="151501" y="41285"/>
                </a:lnTo>
                <a:cubicBezTo>
                  <a:pt x="149215" y="63733"/>
                  <a:pt x="145087" y="81169"/>
                  <a:pt x="140074" y="9466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5" name="Text 63"/>
          <p:cNvSpPr/>
          <p:nvPr/>
        </p:nvSpPr>
        <p:spPr>
          <a:xfrm>
            <a:off x="7586618" y="571382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Channel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931206" y="541185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67" name="Shape 65"/>
          <p:cNvSpPr/>
          <p:nvPr/>
        </p:nvSpPr>
        <p:spPr>
          <a:xfrm>
            <a:off x="9480766" y="5487344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188878" y="88467"/>
                </a:moveTo>
                <a:lnTo>
                  <a:pt x="124002" y="88467"/>
                </a:lnTo>
                <a:cubicBezTo>
                  <a:pt x="117477" y="88467"/>
                  <a:pt x="112206" y="83196"/>
                  <a:pt x="112206" y="76672"/>
                </a:cubicBezTo>
                <a:lnTo>
                  <a:pt x="112206" y="11796"/>
                </a:lnTo>
                <a:cubicBezTo>
                  <a:pt x="112206" y="5271"/>
                  <a:pt x="117514" y="-74"/>
                  <a:pt x="123965" y="774"/>
                </a:cubicBezTo>
                <a:cubicBezTo>
                  <a:pt x="163407" y="6008"/>
                  <a:pt x="194665" y="37267"/>
                  <a:pt x="199900" y="76709"/>
                </a:cubicBezTo>
                <a:cubicBezTo>
                  <a:pt x="200747" y="83159"/>
                  <a:pt x="195403" y="88467"/>
                  <a:pt x="188878" y="88467"/>
                </a:cubicBezTo>
                <a:close/>
                <a:moveTo>
                  <a:pt x="82054" y="13712"/>
                </a:moveTo>
                <a:cubicBezTo>
                  <a:pt x="88726" y="12312"/>
                  <a:pt x="94513" y="17767"/>
                  <a:pt x="94513" y="24587"/>
                </a:cubicBezTo>
                <a:lnTo>
                  <a:pt x="94513" y="97314"/>
                </a:lnTo>
                <a:cubicBezTo>
                  <a:pt x="94513" y="99378"/>
                  <a:pt x="95250" y="101369"/>
                  <a:pt x="96540" y="102954"/>
                </a:cubicBezTo>
                <a:lnTo>
                  <a:pt x="145234" y="161711"/>
                </a:lnTo>
                <a:cubicBezTo>
                  <a:pt x="149547" y="166909"/>
                  <a:pt x="148625" y="174760"/>
                  <a:pt x="142691" y="177967"/>
                </a:cubicBezTo>
                <a:cubicBezTo>
                  <a:pt x="130121" y="184823"/>
                  <a:pt x="115708" y="188731"/>
                  <a:pt x="100411" y="188731"/>
                </a:cubicBezTo>
                <a:cubicBezTo>
                  <a:pt x="51569" y="188731"/>
                  <a:pt x="11943" y="149105"/>
                  <a:pt x="11943" y="100263"/>
                </a:cubicBezTo>
                <a:cubicBezTo>
                  <a:pt x="11943" y="57688"/>
                  <a:pt x="41985" y="22154"/>
                  <a:pt x="82054" y="13712"/>
                </a:cubicBezTo>
                <a:close/>
                <a:moveTo>
                  <a:pt x="176124" y="106161"/>
                </a:moveTo>
                <a:lnTo>
                  <a:pt x="199715" y="106161"/>
                </a:lnTo>
                <a:cubicBezTo>
                  <a:pt x="206535" y="106161"/>
                  <a:pt x="211990" y="111948"/>
                  <a:pt x="210589" y="118620"/>
                </a:cubicBezTo>
                <a:cubicBezTo>
                  <a:pt x="206830" y="136461"/>
                  <a:pt x="197688" y="152312"/>
                  <a:pt x="184934" y="164402"/>
                </a:cubicBezTo>
                <a:cubicBezTo>
                  <a:pt x="180400" y="168715"/>
                  <a:pt x="173286" y="167793"/>
                  <a:pt x="169305" y="162964"/>
                </a:cubicBezTo>
                <a:lnTo>
                  <a:pt x="138194" y="125476"/>
                </a:lnTo>
                <a:cubicBezTo>
                  <a:pt x="131817" y="117772"/>
                  <a:pt x="137309" y="106161"/>
                  <a:pt x="147262" y="106161"/>
                </a:cubicBezTo>
                <a:lnTo>
                  <a:pt x="176087" y="106161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8" name="Text 66"/>
          <p:cNvSpPr/>
          <p:nvPr/>
        </p:nvSpPr>
        <p:spPr>
          <a:xfrm>
            <a:off x="8973671" y="571382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65.5% Share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318259" y="5411851"/>
            <a:ext cx="1311678" cy="566192"/>
          </a:xfrm>
          <a:custGeom>
            <a:avLst/>
            <a:gdLst/>
            <a:ahLst/>
            <a:cxnLst/>
            <a:rect l="l" t="t" r="r" b="b"/>
            <a:pathLst>
              <a:path w="1311678" h="566192">
                <a:moveTo>
                  <a:pt x="0" y="0"/>
                </a:moveTo>
                <a:lnTo>
                  <a:pt x="1311678" y="0"/>
                </a:lnTo>
                <a:lnTo>
                  <a:pt x="1311678" y="566192"/>
                </a:lnTo>
                <a:lnTo>
                  <a:pt x="0" y="56619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70" name="Shape 68"/>
          <p:cNvSpPr/>
          <p:nvPr/>
        </p:nvSpPr>
        <p:spPr>
          <a:xfrm>
            <a:off x="10879615" y="548734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65139" y="94365"/>
                </a:moveTo>
                <a:cubicBezTo>
                  <a:pt x="165139" y="55304"/>
                  <a:pt x="133427" y="23591"/>
                  <a:pt x="94365" y="23591"/>
                </a:cubicBezTo>
                <a:cubicBezTo>
                  <a:pt x="55304" y="23591"/>
                  <a:pt x="23591" y="55304"/>
                  <a:pt x="23591" y="94365"/>
                </a:cubicBezTo>
                <a:cubicBezTo>
                  <a:pt x="23591" y="133427"/>
                  <a:pt x="55304" y="165139"/>
                  <a:pt x="94365" y="165139"/>
                </a:cubicBezTo>
                <a:cubicBezTo>
                  <a:pt x="133427" y="165139"/>
                  <a:pt x="165139" y="133427"/>
                  <a:pt x="165139" y="94365"/>
                </a:cubicBezTo>
                <a:close/>
                <a:moveTo>
                  <a:pt x="0" y="94365"/>
                </a:moveTo>
                <a:cubicBezTo>
                  <a:pt x="0" y="42284"/>
                  <a:pt x="42284" y="0"/>
                  <a:pt x="94365" y="0"/>
                </a:cubicBezTo>
                <a:cubicBezTo>
                  <a:pt x="146447" y="0"/>
                  <a:pt x="188731" y="42284"/>
                  <a:pt x="188731" y="94365"/>
                </a:cubicBezTo>
                <a:cubicBezTo>
                  <a:pt x="188731" y="146447"/>
                  <a:pt x="146447" y="188731"/>
                  <a:pt x="94365" y="188731"/>
                </a:cubicBezTo>
                <a:cubicBezTo>
                  <a:pt x="42284" y="188731"/>
                  <a:pt x="0" y="146447"/>
                  <a:pt x="0" y="94365"/>
                </a:cubicBezTo>
                <a:close/>
                <a:moveTo>
                  <a:pt x="94365" y="123854"/>
                </a:moveTo>
                <a:cubicBezTo>
                  <a:pt x="110641" y="123854"/>
                  <a:pt x="123854" y="110641"/>
                  <a:pt x="123854" y="94365"/>
                </a:cubicBezTo>
                <a:cubicBezTo>
                  <a:pt x="123854" y="78090"/>
                  <a:pt x="110641" y="64876"/>
                  <a:pt x="94365" y="64876"/>
                </a:cubicBezTo>
                <a:cubicBezTo>
                  <a:pt x="78090" y="64876"/>
                  <a:pt x="64876" y="78090"/>
                  <a:pt x="64876" y="94365"/>
                </a:cubicBezTo>
                <a:cubicBezTo>
                  <a:pt x="64876" y="110641"/>
                  <a:pt x="78090" y="123854"/>
                  <a:pt x="94365" y="123854"/>
                </a:cubicBezTo>
                <a:close/>
                <a:moveTo>
                  <a:pt x="94365" y="41285"/>
                </a:moveTo>
                <a:cubicBezTo>
                  <a:pt x="123661" y="41285"/>
                  <a:pt x="147446" y="65069"/>
                  <a:pt x="147446" y="94365"/>
                </a:cubicBezTo>
                <a:cubicBezTo>
                  <a:pt x="147446" y="123661"/>
                  <a:pt x="123661" y="147446"/>
                  <a:pt x="94365" y="147446"/>
                </a:cubicBezTo>
                <a:cubicBezTo>
                  <a:pt x="65069" y="147446"/>
                  <a:pt x="41285" y="123661"/>
                  <a:pt x="41285" y="94365"/>
                </a:cubicBezTo>
                <a:cubicBezTo>
                  <a:pt x="41285" y="65069"/>
                  <a:pt x="65069" y="41285"/>
                  <a:pt x="94365" y="41285"/>
                </a:cubicBezTo>
                <a:close/>
                <a:moveTo>
                  <a:pt x="82570" y="94365"/>
                </a:moveTo>
                <a:cubicBezTo>
                  <a:pt x="82570" y="87855"/>
                  <a:pt x="87855" y="82570"/>
                  <a:pt x="94365" y="82570"/>
                </a:cubicBezTo>
                <a:cubicBezTo>
                  <a:pt x="100876" y="82570"/>
                  <a:pt x="106161" y="87855"/>
                  <a:pt x="106161" y="94365"/>
                </a:cubicBezTo>
                <a:cubicBezTo>
                  <a:pt x="106161" y="100876"/>
                  <a:pt x="100876" y="106161"/>
                  <a:pt x="94365" y="106161"/>
                </a:cubicBezTo>
                <a:cubicBezTo>
                  <a:pt x="87855" y="106161"/>
                  <a:pt x="82570" y="100876"/>
                  <a:pt x="82570" y="94365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1" name="Text 69"/>
          <p:cNvSpPr/>
          <p:nvPr/>
        </p:nvSpPr>
        <p:spPr>
          <a:xfrm>
            <a:off x="10360723" y="5713820"/>
            <a:ext cx="122674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 More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47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spc="195" kern="0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BOUNDARIES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3A4F4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Limitations &amp;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183861"/>
            <a:ext cx="5645426" cy="3304209"/>
          </a:xfrm>
          <a:custGeom>
            <a:avLst/>
            <a:gdLst/>
            <a:ahLst/>
            <a:cxnLst/>
            <a:rect l="l" t="t" r="r" b="b"/>
            <a:pathLst>
              <a:path w="5645426" h="3304209">
                <a:moveTo>
                  <a:pt x="0" y="0"/>
                </a:moveTo>
                <a:lnTo>
                  <a:pt x="5645426" y="0"/>
                </a:lnTo>
                <a:lnTo>
                  <a:pt x="5645426" y="3304209"/>
                </a:lnTo>
                <a:lnTo>
                  <a:pt x="0" y="33042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53391" y="1183861"/>
            <a:ext cx="5645426" cy="35339"/>
          </a:xfrm>
          <a:custGeom>
            <a:avLst/>
            <a:gdLst/>
            <a:ahLst/>
            <a:cxnLst/>
            <a:rect l="l" t="t" r="r" b="b"/>
            <a:pathLst>
              <a:path w="5645426" h="35339">
                <a:moveTo>
                  <a:pt x="0" y="0"/>
                </a:moveTo>
                <a:lnTo>
                  <a:pt x="5645426" y="0"/>
                </a:lnTo>
                <a:lnTo>
                  <a:pt x="5645426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6" name="Shape 4"/>
          <p:cNvSpPr/>
          <p:nvPr/>
        </p:nvSpPr>
        <p:spPr>
          <a:xfrm>
            <a:off x="530087" y="1378226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7" name="Shape 5"/>
          <p:cNvSpPr/>
          <p:nvPr/>
        </p:nvSpPr>
        <p:spPr>
          <a:xfrm>
            <a:off x="671443" y="1519583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cubicBezTo>
                  <a:pt x="112105" y="0"/>
                  <a:pt x="117696" y="3354"/>
                  <a:pt x="120595" y="8697"/>
                </a:cubicBezTo>
                <a:lnTo>
                  <a:pt x="210047" y="174349"/>
                </a:lnTo>
                <a:cubicBezTo>
                  <a:pt x="212822" y="179484"/>
                  <a:pt x="212697" y="185696"/>
                  <a:pt x="209716" y="190707"/>
                </a:cubicBezTo>
                <a:cubicBezTo>
                  <a:pt x="206734" y="195718"/>
                  <a:pt x="201309" y="198783"/>
                  <a:pt x="195470" y="198783"/>
                </a:cubicBezTo>
                <a:lnTo>
                  <a:pt x="16565" y="198783"/>
                </a:lnTo>
                <a:cubicBezTo>
                  <a:pt x="10726" y="198783"/>
                  <a:pt x="5342" y="195718"/>
                  <a:pt x="2319" y="190707"/>
                </a:cubicBezTo>
                <a:cubicBezTo>
                  <a:pt x="-704" y="185696"/>
                  <a:pt x="-787" y="179484"/>
                  <a:pt x="1988" y="174349"/>
                </a:cubicBezTo>
                <a:lnTo>
                  <a:pt x="91440" y="8697"/>
                </a:lnTo>
                <a:cubicBezTo>
                  <a:pt x="94339" y="3354"/>
                  <a:pt x="99930" y="0"/>
                  <a:pt x="106017" y="0"/>
                </a:cubicBezTo>
                <a:close/>
                <a:moveTo>
                  <a:pt x="106017" y="69574"/>
                </a:moveTo>
                <a:cubicBezTo>
                  <a:pt x="100509" y="69574"/>
                  <a:pt x="96078" y="74005"/>
                  <a:pt x="96078" y="79513"/>
                </a:cubicBezTo>
                <a:lnTo>
                  <a:pt x="96078" y="125896"/>
                </a:lnTo>
                <a:cubicBezTo>
                  <a:pt x="96078" y="131404"/>
                  <a:pt x="100509" y="135835"/>
                  <a:pt x="106017" y="135835"/>
                </a:cubicBezTo>
                <a:cubicBezTo>
                  <a:pt x="111525" y="135835"/>
                  <a:pt x="115957" y="131404"/>
                  <a:pt x="115957" y="125896"/>
                </a:cubicBezTo>
                <a:lnTo>
                  <a:pt x="115957" y="79513"/>
                </a:lnTo>
                <a:cubicBezTo>
                  <a:pt x="115957" y="74005"/>
                  <a:pt x="111525" y="69574"/>
                  <a:pt x="106017" y="69574"/>
                </a:cubicBezTo>
                <a:close/>
                <a:moveTo>
                  <a:pt x="117075" y="159026"/>
                </a:moveTo>
                <a:cubicBezTo>
                  <a:pt x="117326" y="154922"/>
                  <a:pt x="115279" y="151017"/>
                  <a:pt x="111761" y="148889"/>
                </a:cubicBezTo>
                <a:cubicBezTo>
                  <a:pt x="108243" y="146760"/>
                  <a:pt x="103834" y="146760"/>
                  <a:pt x="100315" y="148889"/>
                </a:cubicBezTo>
                <a:cubicBezTo>
                  <a:pt x="96797" y="151017"/>
                  <a:pt x="94750" y="154922"/>
                  <a:pt x="95002" y="159026"/>
                </a:cubicBezTo>
                <a:cubicBezTo>
                  <a:pt x="94750" y="163130"/>
                  <a:pt x="96797" y="167035"/>
                  <a:pt x="100315" y="169164"/>
                </a:cubicBezTo>
                <a:cubicBezTo>
                  <a:pt x="103834" y="171292"/>
                  <a:pt x="108243" y="171292"/>
                  <a:pt x="111761" y="169164"/>
                </a:cubicBezTo>
                <a:cubicBezTo>
                  <a:pt x="115279" y="167035"/>
                  <a:pt x="117326" y="163130"/>
                  <a:pt x="117075" y="159026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66191" y="1484243"/>
            <a:ext cx="198782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087" y="2014335"/>
            <a:ext cx="5292035" cy="636104"/>
          </a:xfrm>
          <a:custGeom>
            <a:avLst/>
            <a:gdLst/>
            <a:ahLst/>
            <a:cxnLst/>
            <a:rect l="l" t="t" r="r" b="b"/>
            <a:pathLst>
              <a:path w="5292035" h="636104">
                <a:moveTo>
                  <a:pt x="0" y="0"/>
                </a:moveTo>
                <a:lnTo>
                  <a:pt x="5292035" y="0"/>
                </a:lnTo>
                <a:lnTo>
                  <a:pt x="5292035" y="636104"/>
                </a:lnTo>
                <a:lnTo>
                  <a:pt x="0" y="636104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668130" y="2155691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139148" y="63921"/>
                </a:moveTo>
                <a:cubicBezTo>
                  <a:pt x="134551" y="66965"/>
                  <a:pt x="129271" y="69419"/>
                  <a:pt x="123773" y="71375"/>
                </a:cubicBezTo>
                <a:cubicBezTo>
                  <a:pt x="109175" y="76593"/>
                  <a:pt x="90011" y="79513"/>
                  <a:pt x="69574" y="79513"/>
                </a:cubicBezTo>
                <a:cubicBezTo>
                  <a:pt x="49137" y="79513"/>
                  <a:pt x="29942" y="76562"/>
                  <a:pt x="15375" y="71375"/>
                </a:cubicBezTo>
                <a:cubicBezTo>
                  <a:pt x="9908" y="69419"/>
                  <a:pt x="4597" y="66965"/>
                  <a:pt x="0" y="63921"/>
                </a:cubicBezTo>
                <a:lnTo>
                  <a:pt x="0" y="89452"/>
                </a:lnTo>
                <a:cubicBezTo>
                  <a:pt x="0" y="103181"/>
                  <a:pt x="31153" y="114300"/>
                  <a:pt x="69574" y="114300"/>
                </a:cubicBezTo>
                <a:cubicBezTo>
                  <a:pt x="107995" y="114300"/>
                  <a:pt x="139148" y="103181"/>
                  <a:pt x="139148" y="89452"/>
                </a:cubicBezTo>
                <a:lnTo>
                  <a:pt x="139148" y="63921"/>
                </a:lnTo>
                <a:close/>
                <a:moveTo>
                  <a:pt x="139148" y="39757"/>
                </a:moveTo>
                <a:lnTo>
                  <a:pt x="139148" y="24848"/>
                </a:lnTo>
                <a:cubicBezTo>
                  <a:pt x="139148" y="11119"/>
                  <a:pt x="107995" y="0"/>
                  <a:pt x="69574" y="0"/>
                </a:cubicBezTo>
                <a:cubicBezTo>
                  <a:pt x="31153" y="0"/>
                  <a:pt x="0" y="11119"/>
                  <a:pt x="0" y="24848"/>
                </a:cubicBezTo>
                <a:lnTo>
                  <a:pt x="0" y="39757"/>
                </a:lnTo>
                <a:cubicBezTo>
                  <a:pt x="0" y="53485"/>
                  <a:pt x="31153" y="64604"/>
                  <a:pt x="69574" y="64604"/>
                </a:cubicBezTo>
                <a:cubicBezTo>
                  <a:pt x="107995" y="64604"/>
                  <a:pt x="139148" y="53485"/>
                  <a:pt x="139148" y="39757"/>
                </a:cubicBezTo>
                <a:close/>
                <a:moveTo>
                  <a:pt x="123773" y="121071"/>
                </a:moveTo>
                <a:cubicBezTo>
                  <a:pt x="109206" y="126258"/>
                  <a:pt x="90042" y="129209"/>
                  <a:pt x="69574" y="129209"/>
                </a:cubicBezTo>
                <a:cubicBezTo>
                  <a:pt x="49106" y="129209"/>
                  <a:pt x="29942" y="126258"/>
                  <a:pt x="15375" y="121071"/>
                </a:cubicBezTo>
                <a:cubicBezTo>
                  <a:pt x="9908" y="119114"/>
                  <a:pt x="4597" y="116661"/>
                  <a:pt x="0" y="113617"/>
                </a:cubicBezTo>
                <a:lnTo>
                  <a:pt x="0" y="134178"/>
                </a:lnTo>
                <a:cubicBezTo>
                  <a:pt x="0" y="147907"/>
                  <a:pt x="31153" y="159026"/>
                  <a:pt x="69574" y="159026"/>
                </a:cubicBezTo>
                <a:cubicBezTo>
                  <a:pt x="107995" y="159026"/>
                  <a:pt x="139148" y="147907"/>
                  <a:pt x="139148" y="134178"/>
                </a:cubicBezTo>
                <a:lnTo>
                  <a:pt x="139148" y="113617"/>
                </a:lnTo>
                <a:cubicBezTo>
                  <a:pt x="134551" y="116661"/>
                  <a:pt x="129271" y="119114"/>
                  <a:pt x="123773" y="121071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1" name="Text 9"/>
          <p:cNvSpPr/>
          <p:nvPr/>
        </p:nvSpPr>
        <p:spPr>
          <a:xfrm>
            <a:off x="940904" y="2120352"/>
            <a:ext cx="47619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0904" y="2367726"/>
            <a:ext cx="475311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2D2D2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is simulated and not real operational data, which may affect insight applicability.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087" y="2756456"/>
            <a:ext cx="5292035" cy="812800"/>
          </a:xfrm>
          <a:custGeom>
            <a:avLst/>
            <a:gdLst/>
            <a:ahLst/>
            <a:cxnLst/>
            <a:rect l="l" t="t" r="r" b="b"/>
            <a:pathLst>
              <a:path w="5292035" h="812800">
                <a:moveTo>
                  <a:pt x="0" y="0"/>
                </a:moveTo>
                <a:lnTo>
                  <a:pt x="5292035" y="0"/>
                </a:lnTo>
                <a:lnTo>
                  <a:pt x="5292035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896" y="2897813"/>
            <a:ext cx="198783" cy="159026"/>
          </a:xfrm>
          <a:custGeom>
            <a:avLst/>
            <a:gdLst/>
            <a:ahLst/>
            <a:cxnLst/>
            <a:rect l="l" t="t" r="r" b="b"/>
            <a:pathLst>
              <a:path w="198783" h="159026">
                <a:moveTo>
                  <a:pt x="99391" y="4970"/>
                </a:moveTo>
                <a:cubicBezTo>
                  <a:pt x="117219" y="4970"/>
                  <a:pt x="131693" y="19444"/>
                  <a:pt x="131693" y="37272"/>
                </a:cubicBezTo>
                <a:cubicBezTo>
                  <a:pt x="131693" y="55100"/>
                  <a:pt x="117219" y="69574"/>
                  <a:pt x="99391" y="69574"/>
                </a:cubicBezTo>
                <a:cubicBezTo>
                  <a:pt x="81563" y="69574"/>
                  <a:pt x="67089" y="55100"/>
                  <a:pt x="67089" y="37272"/>
                </a:cubicBezTo>
                <a:cubicBezTo>
                  <a:pt x="67089" y="19444"/>
                  <a:pt x="81563" y="4970"/>
                  <a:pt x="99391" y="4970"/>
                </a:cubicBezTo>
                <a:close/>
                <a:moveTo>
                  <a:pt x="29817" y="27333"/>
                </a:moveTo>
                <a:cubicBezTo>
                  <a:pt x="42160" y="27333"/>
                  <a:pt x="52180" y="37353"/>
                  <a:pt x="52180" y="49696"/>
                </a:cubicBezTo>
                <a:cubicBezTo>
                  <a:pt x="52180" y="62038"/>
                  <a:pt x="42160" y="72059"/>
                  <a:pt x="29817" y="72059"/>
                </a:cubicBezTo>
                <a:cubicBezTo>
                  <a:pt x="17475" y="72059"/>
                  <a:pt x="7454" y="62038"/>
                  <a:pt x="7454" y="49696"/>
                </a:cubicBezTo>
                <a:cubicBezTo>
                  <a:pt x="7454" y="37353"/>
                  <a:pt x="17475" y="27333"/>
                  <a:pt x="29817" y="27333"/>
                </a:cubicBezTo>
                <a:close/>
                <a:moveTo>
                  <a:pt x="0" y="129209"/>
                </a:moveTo>
                <a:cubicBezTo>
                  <a:pt x="0" y="107249"/>
                  <a:pt x="17797" y="89452"/>
                  <a:pt x="39757" y="89452"/>
                </a:cubicBezTo>
                <a:cubicBezTo>
                  <a:pt x="43732" y="89452"/>
                  <a:pt x="47584" y="90042"/>
                  <a:pt x="51218" y="91129"/>
                </a:cubicBezTo>
                <a:cubicBezTo>
                  <a:pt x="40999" y="102559"/>
                  <a:pt x="34787" y="117654"/>
                  <a:pt x="34787" y="134178"/>
                </a:cubicBezTo>
                <a:lnTo>
                  <a:pt x="34787" y="139148"/>
                </a:lnTo>
                <a:cubicBezTo>
                  <a:pt x="34787" y="142689"/>
                  <a:pt x="35532" y="146043"/>
                  <a:pt x="36868" y="149087"/>
                </a:cubicBezTo>
                <a:lnTo>
                  <a:pt x="9939" y="149087"/>
                </a:lnTo>
                <a:cubicBezTo>
                  <a:pt x="4442" y="149087"/>
                  <a:pt x="0" y="144645"/>
                  <a:pt x="0" y="139148"/>
                </a:cubicBezTo>
                <a:lnTo>
                  <a:pt x="0" y="129209"/>
                </a:lnTo>
                <a:close/>
                <a:moveTo>
                  <a:pt x="161915" y="149087"/>
                </a:moveTo>
                <a:cubicBezTo>
                  <a:pt x="163250" y="146043"/>
                  <a:pt x="163996" y="142689"/>
                  <a:pt x="163996" y="139148"/>
                </a:cubicBezTo>
                <a:lnTo>
                  <a:pt x="163996" y="134178"/>
                </a:lnTo>
                <a:cubicBezTo>
                  <a:pt x="163996" y="117654"/>
                  <a:pt x="157784" y="102559"/>
                  <a:pt x="147565" y="91129"/>
                </a:cubicBezTo>
                <a:cubicBezTo>
                  <a:pt x="151199" y="90042"/>
                  <a:pt x="155050" y="89452"/>
                  <a:pt x="159026" y="89452"/>
                </a:cubicBezTo>
                <a:cubicBezTo>
                  <a:pt x="180985" y="89452"/>
                  <a:pt x="198783" y="107249"/>
                  <a:pt x="198783" y="129209"/>
                </a:cubicBezTo>
                <a:lnTo>
                  <a:pt x="198783" y="139148"/>
                </a:lnTo>
                <a:cubicBezTo>
                  <a:pt x="198783" y="144645"/>
                  <a:pt x="194341" y="149087"/>
                  <a:pt x="188843" y="149087"/>
                </a:cubicBezTo>
                <a:lnTo>
                  <a:pt x="161915" y="149087"/>
                </a:lnTo>
                <a:close/>
                <a:moveTo>
                  <a:pt x="146602" y="49696"/>
                </a:moveTo>
                <a:cubicBezTo>
                  <a:pt x="146602" y="37353"/>
                  <a:pt x="156623" y="27333"/>
                  <a:pt x="168965" y="27333"/>
                </a:cubicBezTo>
                <a:cubicBezTo>
                  <a:pt x="181308" y="27333"/>
                  <a:pt x="191328" y="37353"/>
                  <a:pt x="191328" y="49696"/>
                </a:cubicBezTo>
                <a:cubicBezTo>
                  <a:pt x="191328" y="62038"/>
                  <a:pt x="181308" y="72059"/>
                  <a:pt x="168965" y="72059"/>
                </a:cubicBezTo>
                <a:cubicBezTo>
                  <a:pt x="156623" y="72059"/>
                  <a:pt x="146602" y="62038"/>
                  <a:pt x="146602" y="49696"/>
                </a:cubicBezTo>
                <a:close/>
                <a:moveTo>
                  <a:pt x="49696" y="134178"/>
                </a:moveTo>
                <a:cubicBezTo>
                  <a:pt x="49696" y="106721"/>
                  <a:pt x="71934" y="84483"/>
                  <a:pt x="99391" y="84483"/>
                </a:cubicBezTo>
                <a:cubicBezTo>
                  <a:pt x="126848" y="84483"/>
                  <a:pt x="149087" y="106721"/>
                  <a:pt x="149087" y="134178"/>
                </a:cubicBezTo>
                <a:lnTo>
                  <a:pt x="149087" y="139148"/>
                </a:lnTo>
                <a:cubicBezTo>
                  <a:pt x="149087" y="144645"/>
                  <a:pt x="144645" y="149087"/>
                  <a:pt x="139148" y="149087"/>
                </a:cubicBezTo>
                <a:lnTo>
                  <a:pt x="59635" y="149087"/>
                </a:lnTo>
                <a:cubicBezTo>
                  <a:pt x="54137" y="149087"/>
                  <a:pt x="49696" y="144645"/>
                  <a:pt x="49696" y="139148"/>
                </a:cubicBezTo>
                <a:lnTo>
                  <a:pt x="49696" y="134178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5" name="Text 13"/>
          <p:cNvSpPr/>
          <p:nvPr/>
        </p:nvSpPr>
        <p:spPr>
          <a:xfrm>
            <a:off x="940463" y="2862474"/>
            <a:ext cx="48502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Customer Demographics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0463" y="3109848"/>
            <a:ext cx="4841461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2D2D2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Lacks customer demographic or profit margin information for deeper profitability analysis.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087" y="3675274"/>
            <a:ext cx="5292035" cy="636104"/>
          </a:xfrm>
          <a:custGeom>
            <a:avLst/>
            <a:gdLst/>
            <a:ahLst/>
            <a:cxnLst/>
            <a:rect l="l" t="t" r="r" b="b"/>
            <a:pathLst>
              <a:path w="5292035" h="636104">
                <a:moveTo>
                  <a:pt x="0" y="0"/>
                </a:moveTo>
                <a:lnTo>
                  <a:pt x="5292035" y="0"/>
                </a:lnTo>
                <a:lnTo>
                  <a:pt x="5292035" y="636104"/>
                </a:lnTo>
                <a:lnTo>
                  <a:pt x="0" y="636104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191" y="3816630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0"/>
                </a:moveTo>
                <a:cubicBezTo>
                  <a:pt x="123397" y="0"/>
                  <a:pt x="159026" y="35629"/>
                  <a:pt x="159026" y="79513"/>
                </a:cubicBezTo>
                <a:cubicBezTo>
                  <a:pt x="159026" y="123397"/>
                  <a:pt x="123397" y="159026"/>
                  <a:pt x="79513" y="159026"/>
                </a:cubicBezTo>
                <a:cubicBezTo>
                  <a:pt x="35629" y="159026"/>
                  <a:pt x="0" y="123397"/>
                  <a:pt x="0" y="79513"/>
                </a:cubicBezTo>
                <a:cubicBezTo>
                  <a:pt x="0" y="35629"/>
                  <a:pt x="35629" y="0"/>
                  <a:pt x="79513" y="0"/>
                </a:cubicBezTo>
                <a:close/>
                <a:moveTo>
                  <a:pt x="72059" y="37272"/>
                </a:moveTo>
                <a:lnTo>
                  <a:pt x="72059" y="79513"/>
                </a:lnTo>
                <a:cubicBezTo>
                  <a:pt x="72059" y="81998"/>
                  <a:pt x="73301" y="84327"/>
                  <a:pt x="75382" y="85725"/>
                </a:cubicBezTo>
                <a:lnTo>
                  <a:pt x="105199" y="105603"/>
                </a:lnTo>
                <a:cubicBezTo>
                  <a:pt x="108616" y="107902"/>
                  <a:pt x="113244" y="106970"/>
                  <a:pt x="115542" y="103522"/>
                </a:cubicBezTo>
                <a:cubicBezTo>
                  <a:pt x="117841" y="100075"/>
                  <a:pt x="116909" y="95478"/>
                  <a:pt x="113461" y="93179"/>
                </a:cubicBezTo>
                <a:lnTo>
                  <a:pt x="86967" y="75537"/>
                </a:lnTo>
                <a:lnTo>
                  <a:pt x="86967" y="37272"/>
                </a:lnTo>
                <a:cubicBezTo>
                  <a:pt x="86967" y="33141"/>
                  <a:pt x="83644" y="29817"/>
                  <a:pt x="79513" y="29817"/>
                </a:cubicBezTo>
                <a:cubicBezTo>
                  <a:pt x="75382" y="29817"/>
                  <a:pt x="72059" y="33141"/>
                  <a:pt x="72059" y="37272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9" name="Text 17"/>
          <p:cNvSpPr/>
          <p:nvPr/>
        </p:nvSpPr>
        <p:spPr>
          <a:xfrm>
            <a:off x="940904" y="3781291"/>
            <a:ext cx="430253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A4F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Real-Time 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0904" y="4028665"/>
            <a:ext cx="42937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2D2D2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operational metrics like delivery time or customer churn available.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391" y="4629430"/>
            <a:ext cx="5645426" cy="1334052"/>
          </a:xfrm>
          <a:custGeom>
            <a:avLst/>
            <a:gdLst/>
            <a:ahLst/>
            <a:cxnLst/>
            <a:rect l="l" t="t" r="r" b="b"/>
            <a:pathLst>
              <a:path w="5645426" h="1334052">
                <a:moveTo>
                  <a:pt x="0" y="0"/>
                </a:moveTo>
                <a:lnTo>
                  <a:pt x="5645426" y="0"/>
                </a:lnTo>
                <a:lnTo>
                  <a:pt x="5645426" y="1334052"/>
                </a:lnTo>
                <a:lnTo>
                  <a:pt x="0" y="1334052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2" name="Text 20"/>
          <p:cNvSpPr/>
          <p:nvPr/>
        </p:nvSpPr>
        <p:spPr>
          <a:xfrm>
            <a:off x="494748" y="4770787"/>
            <a:ext cx="544222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5F3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Methodological Note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4748" y="5124178"/>
            <a:ext cx="5433391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5F3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demonstrates comprehensive data analysis and visualization capabilities using Power BI. The methodology encompasses data cleaning, aggregation, visualization, and insight generation to support data-driven decision-making processes.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9599" y="1183861"/>
            <a:ext cx="5654261" cy="5671935"/>
          </a:xfrm>
          <a:custGeom>
            <a:avLst/>
            <a:gdLst/>
            <a:ahLst/>
            <a:cxnLst/>
            <a:rect l="l" t="t" r="r" b="b"/>
            <a:pathLst>
              <a:path w="5654261" h="5671935">
                <a:moveTo>
                  <a:pt x="0" y="0"/>
                </a:moveTo>
                <a:lnTo>
                  <a:pt x="5654261" y="0"/>
                </a:lnTo>
                <a:lnTo>
                  <a:pt x="5654261" y="5671935"/>
                </a:lnTo>
                <a:lnTo>
                  <a:pt x="0" y="56719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9599" y="1183861"/>
            <a:ext cx="5654261" cy="35339"/>
          </a:xfrm>
          <a:custGeom>
            <a:avLst/>
            <a:gdLst/>
            <a:ahLst/>
            <a:cxnLst/>
            <a:rect l="l" t="t" r="r" b="b"/>
            <a:pathLst>
              <a:path w="5654261" h="35339">
                <a:moveTo>
                  <a:pt x="0" y="0"/>
                </a:moveTo>
                <a:lnTo>
                  <a:pt x="5654261" y="0"/>
                </a:lnTo>
                <a:lnTo>
                  <a:pt x="5654261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295" y="1378226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7652" y="1519583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212035"/>
                </a:moveTo>
                <a:cubicBezTo>
                  <a:pt x="164530" y="212035"/>
                  <a:pt x="212035" y="164530"/>
                  <a:pt x="212035" y="106017"/>
                </a:cubicBezTo>
                <a:cubicBezTo>
                  <a:pt x="212035" y="47505"/>
                  <a:pt x="164530" y="0"/>
                  <a:pt x="106017" y="0"/>
                </a:cubicBezTo>
                <a:cubicBezTo>
                  <a:pt x="47505" y="0"/>
                  <a:pt x="0" y="47505"/>
                  <a:pt x="0" y="106017"/>
                </a:cubicBezTo>
                <a:cubicBezTo>
                  <a:pt x="0" y="164530"/>
                  <a:pt x="47505" y="212035"/>
                  <a:pt x="106017" y="212035"/>
                </a:cubicBezTo>
                <a:close/>
                <a:moveTo>
                  <a:pt x="127014" y="134634"/>
                </a:moveTo>
                <a:lnTo>
                  <a:pt x="67255" y="157618"/>
                </a:lnTo>
                <a:cubicBezTo>
                  <a:pt x="59221" y="160724"/>
                  <a:pt x="51311" y="152814"/>
                  <a:pt x="54417" y="144780"/>
                </a:cubicBezTo>
                <a:lnTo>
                  <a:pt x="77401" y="85021"/>
                </a:lnTo>
                <a:cubicBezTo>
                  <a:pt x="78768" y="81501"/>
                  <a:pt x="81501" y="78768"/>
                  <a:pt x="85021" y="77401"/>
                </a:cubicBezTo>
                <a:lnTo>
                  <a:pt x="144780" y="54417"/>
                </a:lnTo>
                <a:cubicBezTo>
                  <a:pt x="152814" y="51311"/>
                  <a:pt x="160724" y="59221"/>
                  <a:pt x="157618" y="67255"/>
                </a:cubicBezTo>
                <a:lnTo>
                  <a:pt x="134634" y="127014"/>
                </a:lnTo>
                <a:cubicBezTo>
                  <a:pt x="133309" y="130534"/>
                  <a:pt x="130534" y="133267"/>
                  <a:pt x="127014" y="134634"/>
                </a:cubicBezTo>
                <a:close/>
                <a:moveTo>
                  <a:pt x="119270" y="106017"/>
                </a:moveTo>
                <a:cubicBezTo>
                  <a:pt x="119270" y="98703"/>
                  <a:pt x="113331" y="92765"/>
                  <a:pt x="106017" y="92765"/>
                </a:cubicBezTo>
                <a:cubicBezTo>
                  <a:pt x="98703" y="92765"/>
                  <a:pt x="92765" y="98703"/>
                  <a:pt x="92765" y="106017"/>
                </a:cubicBezTo>
                <a:cubicBezTo>
                  <a:pt x="92765" y="113331"/>
                  <a:pt x="98703" y="119270"/>
                  <a:pt x="106017" y="119270"/>
                </a:cubicBezTo>
                <a:cubicBezTo>
                  <a:pt x="113331" y="119270"/>
                  <a:pt x="119270" y="113331"/>
                  <a:pt x="119270" y="106017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8" name="Text 26"/>
          <p:cNvSpPr/>
          <p:nvPr/>
        </p:nvSpPr>
        <p:spPr>
          <a:xfrm>
            <a:off x="6992399" y="1484243"/>
            <a:ext cx="2685774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3965" y="2014335"/>
            <a:ext cx="5283200" cy="1130852"/>
          </a:xfrm>
          <a:custGeom>
            <a:avLst/>
            <a:gdLst/>
            <a:ahLst/>
            <a:cxnLst/>
            <a:rect l="l" t="t" r="r" b="b"/>
            <a:pathLst>
              <a:path w="5283200" h="1130852">
                <a:moveTo>
                  <a:pt x="0" y="0"/>
                </a:moveTo>
                <a:lnTo>
                  <a:pt x="5283200" y="0"/>
                </a:lnTo>
                <a:lnTo>
                  <a:pt x="5283200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965" y="2014335"/>
            <a:ext cx="35339" cy="1130852"/>
          </a:xfrm>
          <a:custGeom>
            <a:avLst/>
            <a:gdLst/>
            <a:ahLst/>
            <a:cxnLst/>
            <a:rect l="l" t="t" r="r" b="b"/>
            <a:pathLst>
              <a:path w="35339" h="1130852">
                <a:moveTo>
                  <a:pt x="0" y="0"/>
                </a:moveTo>
                <a:lnTo>
                  <a:pt x="35339" y="0"/>
                </a:lnTo>
                <a:lnTo>
                  <a:pt x="35339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2991" y="2155691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6612504" y="2252874"/>
            <a:ext cx="198783" cy="159026"/>
          </a:xfrm>
          <a:custGeom>
            <a:avLst/>
            <a:gdLst/>
            <a:ahLst/>
            <a:cxnLst/>
            <a:rect l="l" t="t" r="r" b="b"/>
            <a:pathLst>
              <a:path w="198783" h="159026">
                <a:moveTo>
                  <a:pt x="99391" y="4970"/>
                </a:moveTo>
                <a:cubicBezTo>
                  <a:pt x="117219" y="4970"/>
                  <a:pt x="131693" y="19444"/>
                  <a:pt x="131693" y="37272"/>
                </a:cubicBezTo>
                <a:cubicBezTo>
                  <a:pt x="131693" y="55100"/>
                  <a:pt x="117219" y="69574"/>
                  <a:pt x="99391" y="69574"/>
                </a:cubicBezTo>
                <a:cubicBezTo>
                  <a:pt x="81563" y="69574"/>
                  <a:pt x="67089" y="55100"/>
                  <a:pt x="67089" y="37272"/>
                </a:cubicBezTo>
                <a:cubicBezTo>
                  <a:pt x="67089" y="19444"/>
                  <a:pt x="81563" y="4970"/>
                  <a:pt x="99391" y="4970"/>
                </a:cubicBezTo>
                <a:close/>
                <a:moveTo>
                  <a:pt x="29817" y="27333"/>
                </a:moveTo>
                <a:cubicBezTo>
                  <a:pt x="42160" y="27333"/>
                  <a:pt x="52180" y="37353"/>
                  <a:pt x="52180" y="49696"/>
                </a:cubicBezTo>
                <a:cubicBezTo>
                  <a:pt x="52180" y="62038"/>
                  <a:pt x="42160" y="72059"/>
                  <a:pt x="29817" y="72059"/>
                </a:cubicBezTo>
                <a:cubicBezTo>
                  <a:pt x="17475" y="72059"/>
                  <a:pt x="7454" y="62038"/>
                  <a:pt x="7454" y="49696"/>
                </a:cubicBezTo>
                <a:cubicBezTo>
                  <a:pt x="7454" y="37353"/>
                  <a:pt x="17475" y="27333"/>
                  <a:pt x="29817" y="27333"/>
                </a:cubicBezTo>
                <a:close/>
                <a:moveTo>
                  <a:pt x="0" y="129209"/>
                </a:moveTo>
                <a:cubicBezTo>
                  <a:pt x="0" y="107249"/>
                  <a:pt x="17797" y="89452"/>
                  <a:pt x="39757" y="89452"/>
                </a:cubicBezTo>
                <a:cubicBezTo>
                  <a:pt x="43732" y="89452"/>
                  <a:pt x="47584" y="90042"/>
                  <a:pt x="51218" y="91129"/>
                </a:cubicBezTo>
                <a:cubicBezTo>
                  <a:pt x="40999" y="102559"/>
                  <a:pt x="34787" y="117654"/>
                  <a:pt x="34787" y="134178"/>
                </a:cubicBezTo>
                <a:lnTo>
                  <a:pt x="34787" y="139148"/>
                </a:lnTo>
                <a:cubicBezTo>
                  <a:pt x="34787" y="142689"/>
                  <a:pt x="35532" y="146043"/>
                  <a:pt x="36868" y="149087"/>
                </a:cubicBezTo>
                <a:lnTo>
                  <a:pt x="9939" y="149087"/>
                </a:lnTo>
                <a:cubicBezTo>
                  <a:pt x="4442" y="149087"/>
                  <a:pt x="0" y="144645"/>
                  <a:pt x="0" y="139148"/>
                </a:cubicBezTo>
                <a:lnTo>
                  <a:pt x="0" y="129209"/>
                </a:lnTo>
                <a:close/>
                <a:moveTo>
                  <a:pt x="161915" y="149087"/>
                </a:moveTo>
                <a:cubicBezTo>
                  <a:pt x="163250" y="146043"/>
                  <a:pt x="163996" y="142689"/>
                  <a:pt x="163996" y="139148"/>
                </a:cubicBezTo>
                <a:lnTo>
                  <a:pt x="163996" y="134178"/>
                </a:lnTo>
                <a:cubicBezTo>
                  <a:pt x="163996" y="117654"/>
                  <a:pt x="157784" y="102559"/>
                  <a:pt x="147565" y="91129"/>
                </a:cubicBezTo>
                <a:cubicBezTo>
                  <a:pt x="151199" y="90042"/>
                  <a:pt x="155050" y="89452"/>
                  <a:pt x="159026" y="89452"/>
                </a:cubicBezTo>
                <a:cubicBezTo>
                  <a:pt x="180985" y="89452"/>
                  <a:pt x="198783" y="107249"/>
                  <a:pt x="198783" y="129209"/>
                </a:cubicBezTo>
                <a:lnTo>
                  <a:pt x="198783" y="139148"/>
                </a:lnTo>
                <a:cubicBezTo>
                  <a:pt x="198783" y="144645"/>
                  <a:pt x="194341" y="149087"/>
                  <a:pt x="188843" y="149087"/>
                </a:cubicBezTo>
                <a:lnTo>
                  <a:pt x="161915" y="149087"/>
                </a:lnTo>
                <a:close/>
                <a:moveTo>
                  <a:pt x="146602" y="49696"/>
                </a:moveTo>
                <a:cubicBezTo>
                  <a:pt x="146602" y="37353"/>
                  <a:pt x="156623" y="27333"/>
                  <a:pt x="168965" y="27333"/>
                </a:cubicBezTo>
                <a:cubicBezTo>
                  <a:pt x="181308" y="27333"/>
                  <a:pt x="191328" y="37353"/>
                  <a:pt x="191328" y="49696"/>
                </a:cubicBezTo>
                <a:cubicBezTo>
                  <a:pt x="191328" y="62038"/>
                  <a:pt x="181308" y="72059"/>
                  <a:pt x="168965" y="72059"/>
                </a:cubicBezTo>
                <a:cubicBezTo>
                  <a:pt x="156623" y="72059"/>
                  <a:pt x="146602" y="62038"/>
                  <a:pt x="146602" y="49696"/>
                </a:cubicBezTo>
                <a:close/>
                <a:moveTo>
                  <a:pt x="49696" y="134178"/>
                </a:moveTo>
                <a:cubicBezTo>
                  <a:pt x="49696" y="106721"/>
                  <a:pt x="71934" y="84483"/>
                  <a:pt x="99391" y="84483"/>
                </a:cubicBezTo>
                <a:cubicBezTo>
                  <a:pt x="126848" y="84483"/>
                  <a:pt x="149087" y="106721"/>
                  <a:pt x="149087" y="134178"/>
                </a:cubicBezTo>
                <a:lnTo>
                  <a:pt x="149087" y="139148"/>
                </a:lnTo>
                <a:cubicBezTo>
                  <a:pt x="149087" y="144645"/>
                  <a:pt x="144645" y="149087"/>
                  <a:pt x="139148" y="149087"/>
                </a:cubicBezTo>
                <a:lnTo>
                  <a:pt x="59635" y="149087"/>
                </a:lnTo>
                <a:cubicBezTo>
                  <a:pt x="54137" y="149087"/>
                  <a:pt x="49696" y="144645"/>
                  <a:pt x="49696" y="139148"/>
                </a:cubicBezTo>
                <a:lnTo>
                  <a:pt x="49696" y="134178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3" name="Text 31"/>
          <p:cNvSpPr/>
          <p:nvPr/>
        </p:nvSpPr>
        <p:spPr>
          <a:xfrm>
            <a:off x="6992399" y="2155691"/>
            <a:ext cx="249140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Segmentation Analysis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2991" y="2579761"/>
            <a:ext cx="5053496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real customer demographic data to understand purchasing patterns, preferences, and lifetime value across different segments.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3965" y="3251204"/>
            <a:ext cx="5283200" cy="1130852"/>
          </a:xfrm>
          <a:custGeom>
            <a:avLst/>
            <a:gdLst/>
            <a:ahLst/>
            <a:cxnLst/>
            <a:rect l="l" t="t" r="r" b="b"/>
            <a:pathLst>
              <a:path w="5283200" h="1130852">
                <a:moveTo>
                  <a:pt x="0" y="0"/>
                </a:moveTo>
                <a:lnTo>
                  <a:pt x="5283200" y="0"/>
                </a:lnTo>
                <a:lnTo>
                  <a:pt x="5283200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3965" y="3251204"/>
            <a:ext cx="35339" cy="1130852"/>
          </a:xfrm>
          <a:custGeom>
            <a:avLst/>
            <a:gdLst/>
            <a:ahLst/>
            <a:cxnLst/>
            <a:rect l="l" t="t" r="r" b="b"/>
            <a:pathLst>
              <a:path w="35339" h="1130852">
                <a:moveTo>
                  <a:pt x="0" y="0"/>
                </a:moveTo>
                <a:lnTo>
                  <a:pt x="35339" y="0"/>
                </a:lnTo>
                <a:lnTo>
                  <a:pt x="35339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7" name="Shape 35"/>
          <p:cNvSpPr/>
          <p:nvPr/>
        </p:nvSpPr>
        <p:spPr>
          <a:xfrm>
            <a:off x="6532991" y="3392561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8" name="Shape 36"/>
          <p:cNvSpPr/>
          <p:nvPr/>
        </p:nvSpPr>
        <p:spPr>
          <a:xfrm>
            <a:off x="6662199" y="3489743"/>
            <a:ext cx="99391" cy="159026"/>
          </a:xfrm>
          <a:custGeom>
            <a:avLst/>
            <a:gdLst/>
            <a:ahLst/>
            <a:cxnLst/>
            <a:rect l="l" t="t" r="r" b="b"/>
            <a:pathLst>
              <a:path w="99391" h="159026">
                <a:moveTo>
                  <a:pt x="42241" y="7454"/>
                </a:moveTo>
                <a:cubicBezTo>
                  <a:pt x="42241" y="3323"/>
                  <a:pt x="45565" y="0"/>
                  <a:pt x="49696" y="0"/>
                </a:cubicBezTo>
                <a:cubicBezTo>
                  <a:pt x="53827" y="0"/>
                  <a:pt x="57150" y="3323"/>
                  <a:pt x="57150" y="7454"/>
                </a:cubicBezTo>
                <a:lnTo>
                  <a:pt x="57150" y="19878"/>
                </a:lnTo>
                <a:lnTo>
                  <a:pt x="74543" y="19878"/>
                </a:lnTo>
                <a:cubicBezTo>
                  <a:pt x="80041" y="19878"/>
                  <a:pt x="84483" y="24320"/>
                  <a:pt x="84483" y="29817"/>
                </a:cubicBezTo>
                <a:cubicBezTo>
                  <a:pt x="84483" y="35315"/>
                  <a:pt x="80041" y="39757"/>
                  <a:pt x="74543" y="39757"/>
                </a:cubicBezTo>
                <a:lnTo>
                  <a:pt x="38856" y="39757"/>
                </a:lnTo>
                <a:cubicBezTo>
                  <a:pt x="31122" y="39757"/>
                  <a:pt x="24848" y="46031"/>
                  <a:pt x="24848" y="53764"/>
                </a:cubicBezTo>
                <a:cubicBezTo>
                  <a:pt x="24848" y="60753"/>
                  <a:pt x="29973" y="66654"/>
                  <a:pt x="36868" y="67648"/>
                </a:cubicBezTo>
                <a:lnTo>
                  <a:pt x="65319" y="71717"/>
                </a:lnTo>
                <a:cubicBezTo>
                  <a:pt x="82029" y="74109"/>
                  <a:pt x="94422" y="88396"/>
                  <a:pt x="94422" y="105262"/>
                </a:cubicBezTo>
                <a:cubicBezTo>
                  <a:pt x="94422" y="123991"/>
                  <a:pt x="79234" y="139148"/>
                  <a:pt x="60536" y="139148"/>
                </a:cubicBezTo>
                <a:lnTo>
                  <a:pt x="57150" y="139148"/>
                </a:lnTo>
                <a:lnTo>
                  <a:pt x="57150" y="151572"/>
                </a:lnTo>
                <a:cubicBezTo>
                  <a:pt x="57150" y="155703"/>
                  <a:pt x="53827" y="159026"/>
                  <a:pt x="49696" y="159026"/>
                </a:cubicBezTo>
                <a:cubicBezTo>
                  <a:pt x="45565" y="159026"/>
                  <a:pt x="42241" y="155703"/>
                  <a:pt x="42241" y="151572"/>
                </a:cubicBezTo>
                <a:lnTo>
                  <a:pt x="42241" y="139148"/>
                </a:lnTo>
                <a:lnTo>
                  <a:pt x="19878" y="139148"/>
                </a:lnTo>
                <a:cubicBezTo>
                  <a:pt x="14381" y="139148"/>
                  <a:pt x="9939" y="134706"/>
                  <a:pt x="9939" y="129209"/>
                </a:cubicBezTo>
                <a:cubicBezTo>
                  <a:pt x="9939" y="123711"/>
                  <a:pt x="14381" y="119270"/>
                  <a:pt x="19878" y="119270"/>
                </a:cubicBezTo>
                <a:lnTo>
                  <a:pt x="60536" y="119270"/>
                </a:lnTo>
                <a:cubicBezTo>
                  <a:pt x="68269" y="119270"/>
                  <a:pt x="74543" y="112995"/>
                  <a:pt x="74543" y="105262"/>
                </a:cubicBezTo>
                <a:cubicBezTo>
                  <a:pt x="74543" y="98273"/>
                  <a:pt x="69419" y="92372"/>
                  <a:pt x="62523" y="91378"/>
                </a:cubicBezTo>
                <a:lnTo>
                  <a:pt x="34073" y="87309"/>
                </a:lnTo>
                <a:cubicBezTo>
                  <a:pt x="17362" y="84949"/>
                  <a:pt x="4970" y="70630"/>
                  <a:pt x="4970" y="53764"/>
                </a:cubicBezTo>
                <a:cubicBezTo>
                  <a:pt x="4970" y="35066"/>
                  <a:pt x="20158" y="19878"/>
                  <a:pt x="38856" y="19878"/>
                </a:cubicBezTo>
                <a:lnTo>
                  <a:pt x="42241" y="19878"/>
                </a:lnTo>
                <a:lnTo>
                  <a:pt x="42241" y="7454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39" name="Text 37"/>
          <p:cNvSpPr/>
          <p:nvPr/>
        </p:nvSpPr>
        <p:spPr>
          <a:xfrm>
            <a:off x="6992399" y="3392561"/>
            <a:ext cx="15460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Profitability 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2991" y="3816630"/>
            <a:ext cx="5053496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cost data and profit margins to identify true profitability by category, outlet, and location tier.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3965" y="4488074"/>
            <a:ext cx="5283200" cy="1130852"/>
          </a:xfrm>
          <a:custGeom>
            <a:avLst/>
            <a:gdLst/>
            <a:ahLst/>
            <a:cxnLst/>
            <a:rect l="l" t="t" r="r" b="b"/>
            <a:pathLst>
              <a:path w="5283200" h="1130852">
                <a:moveTo>
                  <a:pt x="0" y="0"/>
                </a:moveTo>
                <a:lnTo>
                  <a:pt x="5283200" y="0"/>
                </a:lnTo>
                <a:lnTo>
                  <a:pt x="5283200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73965" y="4488074"/>
            <a:ext cx="35339" cy="1130852"/>
          </a:xfrm>
          <a:custGeom>
            <a:avLst/>
            <a:gdLst/>
            <a:ahLst/>
            <a:cxnLst/>
            <a:rect l="l" t="t" r="r" b="b"/>
            <a:pathLst>
              <a:path w="35339" h="1130852">
                <a:moveTo>
                  <a:pt x="0" y="0"/>
                </a:moveTo>
                <a:lnTo>
                  <a:pt x="35339" y="0"/>
                </a:lnTo>
                <a:lnTo>
                  <a:pt x="35339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43" name="Shape 41"/>
          <p:cNvSpPr/>
          <p:nvPr/>
        </p:nvSpPr>
        <p:spPr>
          <a:xfrm>
            <a:off x="6532991" y="462943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A8A1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632382" y="4726613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0" y="79513"/>
                </a:moveTo>
                <a:cubicBezTo>
                  <a:pt x="0" y="35629"/>
                  <a:pt x="35629" y="0"/>
                  <a:pt x="79513" y="0"/>
                </a:cubicBezTo>
                <a:cubicBezTo>
                  <a:pt x="123397" y="0"/>
                  <a:pt x="159026" y="35629"/>
                  <a:pt x="159026" y="79513"/>
                </a:cubicBezTo>
                <a:cubicBezTo>
                  <a:pt x="159026" y="123397"/>
                  <a:pt x="123397" y="159026"/>
                  <a:pt x="79513" y="159026"/>
                </a:cubicBezTo>
                <a:cubicBezTo>
                  <a:pt x="35629" y="159026"/>
                  <a:pt x="0" y="123397"/>
                  <a:pt x="0" y="79513"/>
                </a:cubicBezTo>
                <a:close/>
                <a:moveTo>
                  <a:pt x="89452" y="29817"/>
                </a:moveTo>
                <a:cubicBezTo>
                  <a:pt x="89452" y="24332"/>
                  <a:pt x="84999" y="19878"/>
                  <a:pt x="79513" y="19878"/>
                </a:cubicBezTo>
                <a:cubicBezTo>
                  <a:pt x="74027" y="19878"/>
                  <a:pt x="69574" y="24332"/>
                  <a:pt x="69574" y="29817"/>
                </a:cubicBezTo>
                <a:cubicBezTo>
                  <a:pt x="69574" y="35303"/>
                  <a:pt x="74027" y="39757"/>
                  <a:pt x="79513" y="39757"/>
                </a:cubicBezTo>
                <a:cubicBezTo>
                  <a:pt x="84999" y="39757"/>
                  <a:pt x="89452" y="35303"/>
                  <a:pt x="89452" y="29817"/>
                </a:cubicBezTo>
                <a:close/>
                <a:moveTo>
                  <a:pt x="79513" y="129209"/>
                </a:moveTo>
                <a:cubicBezTo>
                  <a:pt x="90477" y="129209"/>
                  <a:pt x="99391" y="120295"/>
                  <a:pt x="99391" y="109330"/>
                </a:cubicBezTo>
                <a:cubicBezTo>
                  <a:pt x="99391" y="104299"/>
                  <a:pt x="97528" y="99671"/>
                  <a:pt x="94422" y="96192"/>
                </a:cubicBezTo>
                <a:lnTo>
                  <a:pt x="116008" y="53050"/>
                </a:lnTo>
                <a:cubicBezTo>
                  <a:pt x="117841" y="49354"/>
                  <a:pt x="116350" y="44881"/>
                  <a:pt x="112685" y="43049"/>
                </a:cubicBezTo>
                <a:cubicBezTo>
                  <a:pt x="109020" y="41216"/>
                  <a:pt x="104516" y="42707"/>
                  <a:pt x="102684" y="46372"/>
                </a:cubicBezTo>
                <a:lnTo>
                  <a:pt x="81097" y="89514"/>
                </a:lnTo>
                <a:cubicBezTo>
                  <a:pt x="80569" y="89483"/>
                  <a:pt x="80041" y="89452"/>
                  <a:pt x="79513" y="89452"/>
                </a:cubicBezTo>
                <a:cubicBezTo>
                  <a:pt x="68549" y="89452"/>
                  <a:pt x="59635" y="98366"/>
                  <a:pt x="59635" y="109330"/>
                </a:cubicBezTo>
                <a:cubicBezTo>
                  <a:pt x="59635" y="120295"/>
                  <a:pt x="68549" y="129209"/>
                  <a:pt x="79513" y="129209"/>
                </a:cubicBezTo>
                <a:close/>
                <a:moveTo>
                  <a:pt x="54665" y="44726"/>
                </a:moveTo>
                <a:cubicBezTo>
                  <a:pt x="54665" y="39241"/>
                  <a:pt x="50212" y="34787"/>
                  <a:pt x="44726" y="34787"/>
                </a:cubicBezTo>
                <a:cubicBezTo>
                  <a:pt x="39241" y="34787"/>
                  <a:pt x="34787" y="39241"/>
                  <a:pt x="34787" y="44726"/>
                </a:cubicBezTo>
                <a:cubicBezTo>
                  <a:pt x="34787" y="50212"/>
                  <a:pt x="39241" y="54665"/>
                  <a:pt x="44726" y="54665"/>
                </a:cubicBezTo>
                <a:cubicBezTo>
                  <a:pt x="50212" y="54665"/>
                  <a:pt x="54665" y="50212"/>
                  <a:pt x="54665" y="44726"/>
                </a:cubicBezTo>
                <a:close/>
                <a:moveTo>
                  <a:pt x="29817" y="89452"/>
                </a:moveTo>
                <a:cubicBezTo>
                  <a:pt x="35303" y="89452"/>
                  <a:pt x="39757" y="84999"/>
                  <a:pt x="39757" y="79513"/>
                </a:cubicBezTo>
                <a:cubicBezTo>
                  <a:pt x="39757" y="74027"/>
                  <a:pt x="35303" y="69574"/>
                  <a:pt x="29817" y="69574"/>
                </a:cubicBezTo>
                <a:cubicBezTo>
                  <a:pt x="24332" y="69574"/>
                  <a:pt x="19878" y="74027"/>
                  <a:pt x="19878" y="79513"/>
                </a:cubicBezTo>
                <a:cubicBezTo>
                  <a:pt x="19878" y="84999"/>
                  <a:pt x="24332" y="89452"/>
                  <a:pt x="29817" y="89452"/>
                </a:cubicBezTo>
                <a:close/>
                <a:moveTo>
                  <a:pt x="139148" y="79513"/>
                </a:moveTo>
                <a:cubicBezTo>
                  <a:pt x="139148" y="74027"/>
                  <a:pt x="134694" y="69574"/>
                  <a:pt x="129209" y="69574"/>
                </a:cubicBezTo>
                <a:cubicBezTo>
                  <a:pt x="123723" y="69574"/>
                  <a:pt x="119270" y="74027"/>
                  <a:pt x="119270" y="79513"/>
                </a:cubicBezTo>
                <a:cubicBezTo>
                  <a:pt x="119270" y="84999"/>
                  <a:pt x="123723" y="89452"/>
                  <a:pt x="129209" y="89452"/>
                </a:cubicBezTo>
                <a:cubicBezTo>
                  <a:pt x="134694" y="89452"/>
                  <a:pt x="139148" y="84999"/>
                  <a:pt x="139148" y="79513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5" name="Text 43"/>
          <p:cNvSpPr/>
          <p:nvPr/>
        </p:nvSpPr>
        <p:spPr>
          <a:xfrm>
            <a:off x="6992399" y="4629430"/>
            <a:ext cx="22617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Operational Efficiency Metrics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2991" y="5053500"/>
            <a:ext cx="5053496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real-time operational data including delivery times, order accuracy, and customer satisfaction scores.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3965" y="5724943"/>
            <a:ext cx="5283200" cy="1130852"/>
          </a:xfrm>
          <a:custGeom>
            <a:avLst/>
            <a:gdLst/>
            <a:ahLst/>
            <a:cxnLst/>
            <a:rect l="l" t="t" r="r" b="b"/>
            <a:pathLst>
              <a:path w="5283200" h="1130852">
                <a:moveTo>
                  <a:pt x="0" y="0"/>
                </a:moveTo>
                <a:lnTo>
                  <a:pt x="5283200" y="0"/>
                </a:lnTo>
                <a:lnTo>
                  <a:pt x="5283200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73965" y="5724943"/>
            <a:ext cx="35339" cy="1130852"/>
          </a:xfrm>
          <a:custGeom>
            <a:avLst/>
            <a:gdLst/>
            <a:ahLst/>
            <a:cxnLst/>
            <a:rect l="l" t="t" r="r" b="b"/>
            <a:pathLst>
              <a:path w="35339" h="1130852">
                <a:moveTo>
                  <a:pt x="0" y="0"/>
                </a:moveTo>
                <a:lnTo>
                  <a:pt x="35339" y="0"/>
                </a:lnTo>
                <a:lnTo>
                  <a:pt x="35339" y="1130852"/>
                </a:lnTo>
                <a:lnTo>
                  <a:pt x="0" y="1130852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2991" y="586630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70678" y="0"/>
                </a:moveTo>
                <a:lnTo>
                  <a:pt x="282713" y="0"/>
                </a:lnTo>
                <a:cubicBezTo>
                  <a:pt x="321721" y="0"/>
                  <a:pt x="353391" y="31670"/>
                  <a:pt x="353391" y="70678"/>
                </a:cubicBezTo>
                <a:lnTo>
                  <a:pt x="353391" y="282713"/>
                </a:lnTo>
                <a:cubicBezTo>
                  <a:pt x="353391" y="321721"/>
                  <a:pt x="321721" y="353391"/>
                  <a:pt x="282713" y="353391"/>
                </a:cubicBezTo>
                <a:lnTo>
                  <a:pt x="70678" y="353391"/>
                </a:lnTo>
                <a:cubicBezTo>
                  <a:pt x="31670" y="353391"/>
                  <a:pt x="0" y="321721"/>
                  <a:pt x="0" y="282713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0" name="Shape 48"/>
          <p:cNvSpPr/>
          <p:nvPr/>
        </p:nvSpPr>
        <p:spPr>
          <a:xfrm>
            <a:off x="6632382" y="5963483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19878" y="19878"/>
                </a:moveTo>
                <a:cubicBezTo>
                  <a:pt x="19878" y="14381"/>
                  <a:pt x="15437" y="9939"/>
                  <a:pt x="9939" y="9939"/>
                </a:cubicBezTo>
                <a:cubicBezTo>
                  <a:pt x="4442" y="9939"/>
                  <a:pt x="0" y="14381"/>
                  <a:pt x="0" y="19878"/>
                </a:cubicBezTo>
                <a:lnTo>
                  <a:pt x="0" y="124239"/>
                </a:lnTo>
                <a:cubicBezTo>
                  <a:pt x="0" y="137968"/>
                  <a:pt x="11119" y="149087"/>
                  <a:pt x="24848" y="149087"/>
                </a:cubicBezTo>
                <a:lnTo>
                  <a:pt x="149087" y="149087"/>
                </a:lnTo>
                <a:cubicBezTo>
                  <a:pt x="154585" y="149087"/>
                  <a:pt x="159026" y="144645"/>
                  <a:pt x="159026" y="139148"/>
                </a:cubicBezTo>
                <a:cubicBezTo>
                  <a:pt x="159026" y="133650"/>
                  <a:pt x="154585" y="129209"/>
                  <a:pt x="149087" y="129209"/>
                </a:cubicBezTo>
                <a:lnTo>
                  <a:pt x="24848" y="129209"/>
                </a:lnTo>
                <a:cubicBezTo>
                  <a:pt x="22115" y="129209"/>
                  <a:pt x="19878" y="126972"/>
                  <a:pt x="19878" y="124239"/>
                </a:cubicBezTo>
                <a:lnTo>
                  <a:pt x="19878" y="19878"/>
                </a:lnTo>
                <a:close/>
                <a:moveTo>
                  <a:pt x="146167" y="46776"/>
                </a:moveTo>
                <a:cubicBezTo>
                  <a:pt x="150050" y="42894"/>
                  <a:pt x="150050" y="36588"/>
                  <a:pt x="146167" y="32706"/>
                </a:cubicBezTo>
                <a:cubicBezTo>
                  <a:pt x="142285" y="28823"/>
                  <a:pt x="135980" y="28823"/>
                  <a:pt x="132097" y="32706"/>
                </a:cubicBezTo>
                <a:lnTo>
                  <a:pt x="99391" y="65443"/>
                </a:lnTo>
                <a:lnTo>
                  <a:pt x="81563" y="47646"/>
                </a:lnTo>
                <a:cubicBezTo>
                  <a:pt x="77681" y="43763"/>
                  <a:pt x="71375" y="43763"/>
                  <a:pt x="67493" y="47646"/>
                </a:cubicBezTo>
                <a:lnTo>
                  <a:pt x="37676" y="77463"/>
                </a:lnTo>
                <a:cubicBezTo>
                  <a:pt x="33793" y="81346"/>
                  <a:pt x="33793" y="87651"/>
                  <a:pt x="37676" y="91533"/>
                </a:cubicBezTo>
                <a:cubicBezTo>
                  <a:pt x="41558" y="95416"/>
                  <a:pt x="47863" y="95416"/>
                  <a:pt x="51746" y="91533"/>
                </a:cubicBezTo>
                <a:lnTo>
                  <a:pt x="74543" y="68735"/>
                </a:lnTo>
                <a:lnTo>
                  <a:pt x="92372" y="86564"/>
                </a:lnTo>
                <a:cubicBezTo>
                  <a:pt x="96254" y="90446"/>
                  <a:pt x="102559" y="90446"/>
                  <a:pt x="106442" y="86564"/>
                </a:cubicBezTo>
                <a:lnTo>
                  <a:pt x="146198" y="46807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51" name="Text 49"/>
          <p:cNvSpPr/>
          <p:nvPr/>
        </p:nvSpPr>
        <p:spPr>
          <a:xfrm>
            <a:off x="6992399" y="5866300"/>
            <a:ext cx="15107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3A4F4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32991" y="6290370"/>
            <a:ext cx="5053496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forecasting models to predict sales trends, demand patterns, and optimal inventory levels.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rawpixel.com/8338661f585bca7031b26dfc4d5fb66fc1473a4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676" b="676"/>
          <a:stretch/>
        </p:blipFill>
        <p:spPr>
          <a:xfrm>
            <a:off x="0" y="0"/>
            <a:ext cx="12192000" cy="4405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90000"/>
                </a:srgbClr>
              </a:gs>
              <a:gs pos="100000">
                <a:srgbClr val="A8A196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41547" y="82159"/>
            <a:ext cx="2304834" cy="358349"/>
          </a:xfrm>
          <a:custGeom>
            <a:avLst/>
            <a:gdLst/>
            <a:ahLst/>
            <a:cxnLst/>
            <a:rect l="l" t="t" r="r" b="b"/>
            <a:pathLst>
              <a:path w="2304834" h="358349">
                <a:moveTo>
                  <a:pt x="0" y="0"/>
                </a:moveTo>
                <a:lnTo>
                  <a:pt x="2304834" y="0"/>
                </a:lnTo>
                <a:lnTo>
                  <a:pt x="2304834" y="358349"/>
                </a:lnTo>
                <a:lnTo>
                  <a:pt x="0" y="358349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5" name="Text 2"/>
          <p:cNvSpPr/>
          <p:nvPr/>
        </p:nvSpPr>
        <p:spPr>
          <a:xfrm>
            <a:off x="4913042" y="82159"/>
            <a:ext cx="2361844" cy="358349"/>
          </a:xfrm>
          <a:prstGeom prst="rect">
            <a:avLst/>
          </a:prstGeom>
          <a:noFill/>
          <a:ln/>
        </p:spPr>
        <p:txBody>
          <a:bodyPr wrap="square" lIns="195463" tIns="97731" rIns="195463" bIns="97731" rtlCol="0" anchor="ctr"/>
          <a:lstStyle/>
          <a:p>
            <a:pPr algn="ctr">
              <a:lnSpc>
                <a:spcPct val="120000"/>
              </a:lnSpc>
            </a:pPr>
            <a:r>
              <a:rPr lang="en-US" sz="898" b="1" spc="180" kern="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ACHIEVEMENT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03451" y="896588"/>
            <a:ext cx="8584080" cy="122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48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Driving Data-Driven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848" b="1" dirty="0">
                <a:solidFill>
                  <a:srgbClr val="F5F3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4257" y="2378848"/>
            <a:ext cx="1042469" cy="32577"/>
          </a:xfrm>
          <a:custGeom>
            <a:avLst/>
            <a:gdLst/>
            <a:ahLst/>
            <a:cxnLst/>
            <a:rect l="l" t="t" r="r" b="b"/>
            <a:pathLst>
              <a:path w="1042469" h="32577">
                <a:moveTo>
                  <a:pt x="0" y="0"/>
                </a:moveTo>
                <a:lnTo>
                  <a:pt x="1042469" y="0"/>
                </a:lnTo>
                <a:lnTo>
                  <a:pt x="1042469" y="32577"/>
                </a:lnTo>
                <a:lnTo>
                  <a:pt x="0" y="32577"/>
                </a:lnTo>
                <a:lnTo>
                  <a:pt x="0" y="0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8" name="Text 5"/>
          <p:cNvSpPr/>
          <p:nvPr/>
        </p:nvSpPr>
        <p:spPr>
          <a:xfrm>
            <a:off x="2397984" y="2672042"/>
            <a:ext cx="7395014" cy="9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39" dirty="0">
                <a:solidFill>
                  <a:srgbClr val="F5F3F0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demonstrates comprehensive capabilities in data processing, visualization, and insight generation, transforming raw sales data into actionable strategic recommendations.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25615" y="4015850"/>
            <a:ext cx="2646894" cy="1726589"/>
          </a:xfrm>
          <a:custGeom>
            <a:avLst/>
            <a:gdLst/>
            <a:ahLst/>
            <a:cxnLst/>
            <a:rect l="l" t="t" r="r" b="b"/>
            <a:pathLst>
              <a:path w="2646894" h="1726589">
                <a:moveTo>
                  <a:pt x="0" y="0"/>
                </a:moveTo>
                <a:lnTo>
                  <a:pt x="2646894" y="0"/>
                </a:lnTo>
                <a:lnTo>
                  <a:pt x="2646894" y="1726589"/>
                </a:lnTo>
                <a:lnTo>
                  <a:pt x="0" y="1726589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989768" y="4211313"/>
            <a:ext cx="521234" cy="521234"/>
          </a:xfrm>
          <a:custGeom>
            <a:avLst/>
            <a:gdLst/>
            <a:ahLst/>
            <a:cxnLst/>
            <a:rect l="l" t="t" r="r" b="b"/>
            <a:pathLst>
              <a:path w="521234" h="521234">
                <a:moveTo>
                  <a:pt x="260617" y="0"/>
                </a:moveTo>
                <a:lnTo>
                  <a:pt x="260617" y="0"/>
                </a:lnTo>
                <a:cubicBezTo>
                  <a:pt x="404456" y="0"/>
                  <a:pt x="521234" y="116779"/>
                  <a:pt x="521234" y="260617"/>
                </a:cubicBezTo>
                <a:lnTo>
                  <a:pt x="521234" y="260617"/>
                </a:lnTo>
                <a:cubicBezTo>
                  <a:pt x="521234" y="404456"/>
                  <a:pt x="404456" y="521234"/>
                  <a:pt x="260617" y="521234"/>
                </a:cubicBezTo>
                <a:lnTo>
                  <a:pt x="260617" y="521234"/>
                </a:lnTo>
                <a:cubicBezTo>
                  <a:pt x="116779" y="521234"/>
                  <a:pt x="0" y="404456"/>
                  <a:pt x="0" y="260617"/>
                </a:cubicBezTo>
                <a:lnTo>
                  <a:pt x="0" y="260617"/>
                </a:lnTo>
                <a:cubicBezTo>
                  <a:pt x="0" y="116779"/>
                  <a:pt x="116779" y="0"/>
                  <a:pt x="260617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1" name="Shape 8"/>
          <p:cNvSpPr/>
          <p:nvPr/>
        </p:nvSpPr>
        <p:spPr>
          <a:xfrm>
            <a:off x="3164871" y="4374199"/>
            <a:ext cx="171030" cy="195463"/>
          </a:xfrm>
          <a:custGeom>
            <a:avLst/>
            <a:gdLst/>
            <a:ahLst/>
            <a:cxnLst/>
            <a:rect l="l" t="t" r="r" b="b"/>
            <a:pathLst>
              <a:path w="171030" h="195463">
                <a:moveTo>
                  <a:pt x="171030" y="78567"/>
                </a:moveTo>
                <a:cubicBezTo>
                  <a:pt x="165380" y="82308"/>
                  <a:pt x="158890" y="85324"/>
                  <a:pt x="152133" y="87729"/>
                </a:cubicBezTo>
                <a:cubicBezTo>
                  <a:pt x="134190" y="94143"/>
                  <a:pt x="110635" y="97731"/>
                  <a:pt x="85515" y="97731"/>
                </a:cubicBezTo>
                <a:cubicBezTo>
                  <a:pt x="60395" y="97731"/>
                  <a:pt x="36802" y="94105"/>
                  <a:pt x="18897" y="87729"/>
                </a:cubicBezTo>
                <a:cubicBezTo>
                  <a:pt x="12178" y="85324"/>
                  <a:pt x="5650" y="82308"/>
                  <a:pt x="0" y="78567"/>
                </a:cubicBezTo>
                <a:lnTo>
                  <a:pt x="0" y="109948"/>
                </a:lnTo>
                <a:cubicBezTo>
                  <a:pt x="0" y="126822"/>
                  <a:pt x="38291" y="140489"/>
                  <a:pt x="85515" y="140489"/>
                </a:cubicBezTo>
                <a:cubicBezTo>
                  <a:pt x="132739" y="140489"/>
                  <a:pt x="171030" y="126822"/>
                  <a:pt x="171030" y="109948"/>
                </a:cubicBezTo>
                <a:lnTo>
                  <a:pt x="171030" y="78567"/>
                </a:lnTo>
                <a:close/>
                <a:moveTo>
                  <a:pt x="171030" y="48866"/>
                </a:moveTo>
                <a:lnTo>
                  <a:pt x="171030" y="30541"/>
                </a:lnTo>
                <a:cubicBezTo>
                  <a:pt x="171030" y="13667"/>
                  <a:pt x="132739" y="0"/>
                  <a:pt x="85515" y="0"/>
                </a:cubicBezTo>
                <a:cubicBezTo>
                  <a:pt x="38291" y="0"/>
                  <a:pt x="0" y="13667"/>
                  <a:pt x="0" y="30541"/>
                </a:cubicBezTo>
                <a:lnTo>
                  <a:pt x="0" y="48866"/>
                </a:lnTo>
                <a:cubicBezTo>
                  <a:pt x="0" y="65740"/>
                  <a:pt x="38291" y="79407"/>
                  <a:pt x="85515" y="79407"/>
                </a:cubicBezTo>
                <a:cubicBezTo>
                  <a:pt x="132739" y="79407"/>
                  <a:pt x="171030" y="65740"/>
                  <a:pt x="171030" y="48866"/>
                </a:cubicBezTo>
                <a:close/>
                <a:moveTo>
                  <a:pt x="152133" y="148811"/>
                </a:moveTo>
                <a:cubicBezTo>
                  <a:pt x="134228" y="155187"/>
                  <a:pt x="110673" y="158814"/>
                  <a:pt x="85515" y="158814"/>
                </a:cubicBezTo>
                <a:cubicBezTo>
                  <a:pt x="60357" y="158814"/>
                  <a:pt x="36802" y="155187"/>
                  <a:pt x="18897" y="148811"/>
                </a:cubicBezTo>
                <a:cubicBezTo>
                  <a:pt x="12178" y="146406"/>
                  <a:pt x="5650" y="143390"/>
                  <a:pt x="0" y="139649"/>
                </a:cubicBezTo>
                <a:lnTo>
                  <a:pt x="0" y="164922"/>
                </a:lnTo>
                <a:cubicBezTo>
                  <a:pt x="0" y="181796"/>
                  <a:pt x="38291" y="195463"/>
                  <a:pt x="85515" y="195463"/>
                </a:cubicBezTo>
                <a:cubicBezTo>
                  <a:pt x="132739" y="195463"/>
                  <a:pt x="171030" y="181796"/>
                  <a:pt x="171030" y="164922"/>
                </a:cubicBezTo>
                <a:lnTo>
                  <a:pt x="171030" y="139649"/>
                </a:lnTo>
                <a:cubicBezTo>
                  <a:pt x="165380" y="143390"/>
                  <a:pt x="158890" y="146406"/>
                  <a:pt x="152133" y="148811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2" name="Text 9"/>
          <p:cNvSpPr/>
          <p:nvPr/>
        </p:nvSpPr>
        <p:spPr>
          <a:xfrm>
            <a:off x="2084429" y="4862856"/>
            <a:ext cx="2329267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88501" y="5156050"/>
            <a:ext cx="2321122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6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cleaning, aggregation, and transformation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70619" y="4015850"/>
            <a:ext cx="2646894" cy="1726589"/>
          </a:xfrm>
          <a:custGeom>
            <a:avLst/>
            <a:gdLst/>
            <a:ahLst/>
            <a:cxnLst/>
            <a:rect l="l" t="t" r="r" b="b"/>
            <a:pathLst>
              <a:path w="2646894" h="1726589">
                <a:moveTo>
                  <a:pt x="0" y="0"/>
                </a:moveTo>
                <a:lnTo>
                  <a:pt x="2646894" y="0"/>
                </a:lnTo>
                <a:lnTo>
                  <a:pt x="2646894" y="1726589"/>
                </a:lnTo>
                <a:lnTo>
                  <a:pt x="0" y="1726589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834772" y="4211313"/>
            <a:ext cx="521234" cy="521234"/>
          </a:xfrm>
          <a:custGeom>
            <a:avLst/>
            <a:gdLst/>
            <a:ahLst/>
            <a:cxnLst/>
            <a:rect l="l" t="t" r="r" b="b"/>
            <a:pathLst>
              <a:path w="521234" h="521234">
                <a:moveTo>
                  <a:pt x="260617" y="0"/>
                </a:moveTo>
                <a:lnTo>
                  <a:pt x="260617" y="0"/>
                </a:lnTo>
                <a:cubicBezTo>
                  <a:pt x="404456" y="0"/>
                  <a:pt x="521234" y="116779"/>
                  <a:pt x="521234" y="260617"/>
                </a:cubicBezTo>
                <a:lnTo>
                  <a:pt x="521234" y="260617"/>
                </a:lnTo>
                <a:cubicBezTo>
                  <a:pt x="521234" y="404456"/>
                  <a:pt x="404456" y="521234"/>
                  <a:pt x="260617" y="521234"/>
                </a:cubicBezTo>
                <a:lnTo>
                  <a:pt x="260617" y="521234"/>
                </a:lnTo>
                <a:cubicBezTo>
                  <a:pt x="116779" y="521234"/>
                  <a:pt x="0" y="404456"/>
                  <a:pt x="0" y="260617"/>
                </a:cubicBezTo>
                <a:lnTo>
                  <a:pt x="0" y="260617"/>
                </a:lnTo>
                <a:cubicBezTo>
                  <a:pt x="0" y="116779"/>
                  <a:pt x="116779" y="0"/>
                  <a:pt x="260617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5441" y="4374199"/>
            <a:ext cx="219896" cy="195463"/>
          </a:xfrm>
          <a:custGeom>
            <a:avLst/>
            <a:gdLst/>
            <a:ahLst/>
            <a:cxnLst/>
            <a:rect l="l" t="t" r="r" b="b"/>
            <a:pathLst>
              <a:path w="219896" h="195463">
                <a:moveTo>
                  <a:pt x="195616" y="91623"/>
                </a:moveTo>
                <a:lnTo>
                  <a:pt x="128425" y="91623"/>
                </a:lnTo>
                <a:cubicBezTo>
                  <a:pt x="121668" y="91623"/>
                  <a:pt x="116209" y="86164"/>
                  <a:pt x="116209" y="79407"/>
                </a:cubicBezTo>
                <a:lnTo>
                  <a:pt x="116209" y="12216"/>
                </a:lnTo>
                <a:cubicBezTo>
                  <a:pt x="116209" y="5459"/>
                  <a:pt x="121706" y="-76"/>
                  <a:pt x="128387" y="802"/>
                </a:cubicBezTo>
                <a:cubicBezTo>
                  <a:pt x="169236" y="6223"/>
                  <a:pt x="201609" y="38596"/>
                  <a:pt x="207030" y="79445"/>
                </a:cubicBezTo>
                <a:cubicBezTo>
                  <a:pt x="207908" y="86126"/>
                  <a:pt x="202373" y="91623"/>
                  <a:pt x="195616" y="91623"/>
                </a:cubicBezTo>
                <a:close/>
                <a:moveTo>
                  <a:pt x="84981" y="14202"/>
                </a:moveTo>
                <a:cubicBezTo>
                  <a:pt x="91890" y="12751"/>
                  <a:pt x="97884" y="18401"/>
                  <a:pt x="97884" y="25464"/>
                </a:cubicBezTo>
                <a:lnTo>
                  <a:pt x="97884" y="100786"/>
                </a:lnTo>
                <a:cubicBezTo>
                  <a:pt x="97884" y="102923"/>
                  <a:pt x="98648" y="104985"/>
                  <a:pt x="99984" y="106627"/>
                </a:cubicBezTo>
                <a:lnTo>
                  <a:pt x="150415" y="167480"/>
                </a:lnTo>
                <a:cubicBezTo>
                  <a:pt x="154881" y="172863"/>
                  <a:pt x="153927" y="180994"/>
                  <a:pt x="147781" y="184315"/>
                </a:cubicBezTo>
                <a:cubicBezTo>
                  <a:pt x="134763" y="191416"/>
                  <a:pt x="119836" y="195463"/>
                  <a:pt x="103992" y="195463"/>
                </a:cubicBezTo>
                <a:cubicBezTo>
                  <a:pt x="53409" y="195463"/>
                  <a:pt x="12369" y="154423"/>
                  <a:pt x="12369" y="103840"/>
                </a:cubicBezTo>
                <a:cubicBezTo>
                  <a:pt x="12369" y="59746"/>
                  <a:pt x="43483" y="22944"/>
                  <a:pt x="84981" y="14202"/>
                </a:cubicBezTo>
                <a:close/>
                <a:moveTo>
                  <a:pt x="182407" y="109948"/>
                </a:moveTo>
                <a:lnTo>
                  <a:pt x="206839" y="109948"/>
                </a:lnTo>
                <a:cubicBezTo>
                  <a:pt x="213902" y="109948"/>
                  <a:pt x="219552" y="115942"/>
                  <a:pt x="218102" y="122852"/>
                </a:cubicBezTo>
                <a:cubicBezTo>
                  <a:pt x="214208" y="141329"/>
                  <a:pt x="204740" y="157745"/>
                  <a:pt x="191531" y="170267"/>
                </a:cubicBezTo>
                <a:cubicBezTo>
                  <a:pt x="186835" y="174733"/>
                  <a:pt x="179467" y="173779"/>
                  <a:pt x="175344" y="168778"/>
                </a:cubicBezTo>
                <a:lnTo>
                  <a:pt x="143123" y="129952"/>
                </a:lnTo>
                <a:cubicBezTo>
                  <a:pt x="136519" y="121973"/>
                  <a:pt x="142207" y="109948"/>
                  <a:pt x="152515" y="109948"/>
                </a:cubicBezTo>
                <a:lnTo>
                  <a:pt x="182368" y="109948"/>
                </a:ln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17" name="Text 14"/>
          <p:cNvSpPr/>
          <p:nvPr/>
        </p:nvSpPr>
        <p:spPr>
          <a:xfrm>
            <a:off x="4929433" y="4862856"/>
            <a:ext cx="2329267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33505" y="5156050"/>
            <a:ext cx="2321122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6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 and analytical reports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15725" y="4015850"/>
            <a:ext cx="2646894" cy="1726589"/>
          </a:xfrm>
          <a:custGeom>
            <a:avLst/>
            <a:gdLst/>
            <a:ahLst/>
            <a:cxnLst/>
            <a:rect l="l" t="t" r="r" b="b"/>
            <a:pathLst>
              <a:path w="2646894" h="1726589">
                <a:moveTo>
                  <a:pt x="0" y="0"/>
                </a:moveTo>
                <a:lnTo>
                  <a:pt x="2646894" y="0"/>
                </a:lnTo>
                <a:lnTo>
                  <a:pt x="2646894" y="1726589"/>
                </a:lnTo>
                <a:lnTo>
                  <a:pt x="0" y="1726589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679878" y="4211313"/>
            <a:ext cx="521234" cy="521234"/>
          </a:xfrm>
          <a:custGeom>
            <a:avLst/>
            <a:gdLst/>
            <a:ahLst/>
            <a:cxnLst/>
            <a:rect l="l" t="t" r="r" b="b"/>
            <a:pathLst>
              <a:path w="521234" h="521234">
                <a:moveTo>
                  <a:pt x="260617" y="0"/>
                </a:moveTo>
                <a:lnTo>
                  <a:pt x="260617" y="0"/>
                </a:lnTo>
                <a:cubicBezTo>
                  <a:pt x="404456" y="0"/>
                  <a:pt x="521234" y="116779"/>
                  <a:pt x="521234" y="260617"/>
                </a:cubicBezTo>
                <a:lnTo>
                  <a:pt x="521234" y="260617"/>
                </a:lnTo>
                <a:cubicBezTo>
                  <a:pt x="521234" y="404456"/>
                  <a:pt x="404456" y="521234"/>
                  <a:pt x="260617" y="521234"/>
                </a:cubicBezTo>
                <a:lnTo>
                  <a:pt x="260617" y="521234"/>
                </a:lnTo>
                <a:cubicBezTo>
                  <a:pt x="116779" y="521234"/>
                  <a:pt x="0" y="404456"/>
                  <a:pt x="0" y="260617"/>
                </a:cubicBezTo>
                <a:lnTo>
                  <a:pt x="0" y="260617"/>
                </a:lnTo>
                <a:cubicBezTo>
                  <a:pt x="0" y="116779"/>
                  <a:pt x="116779" y="0"/>
                  <a:pt x="260617" y="0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1" name="Shape 18"/>
          <p:cNvSpPr/>
          <p:nvPr/>
        </p:nvSpPr>
        <p:spPr>
          <a:xfrm>
            <a:off x="8867197" y="4374199"/>
            <a:ext cx="146597" cy="195463"/>
          </a:xfrm>
          <a:custGeom>
            <a:avLst/>
            <a:gdLst/>
            <a:ahLst/>
            <a:cxnLst/>
            <a:rect l="l" t="t" r="r" b="b"/>
            <a:pathLst>
              <a:path w="146597" h="195463">
                <a:moveTo>
                  <a:pt x="111819" y="146597"/>
                </a:moveTo>
                <a:cubicBezTo>
                  <a:pt x="114605" y="138084"/>
                  <a:pt x="120179" y="130372"/>
                  <a:pt x="126478" y="123730"/>
                </a:cubicBezTo>
                <a:cubicBezTo>
                  <a:pt x="138962" y="110597"/>
                  <a:pt x="146597" y="92845"/>
                  <a:pt x="146597" y="73299"/>
                </a:cubicBezTo>
                <a:cubicBezTo>
                  <a:pt x="146597" y="32832"/>
                  <a:pt x="113766" y="0"/>
                  <a:pt x="73299" y="0"/>
                </a:cubicBezTo>
                <a:cubicBezTo>
                  <a:pt x="32832" y="0"/>
                  <a:pt x="0" y="32832"/>
                  <a:pt x="0" y="73299"/>
                </a:cubicBezTo>
                <a:cubicBezTo>
                  <a:pt x="0" y="92845"/>
                  <a:pt x="7635" y="110597"/>
                  <a:pt x="20119" y="123730"/>
                </a:cubicBezTo>
                <a:cubicBezTo>
                  <a:pt x="26418" y="130372"/>
                  <a:pt x="32030" y="138084"/>
                  <a:pt x="34779" y="146597"/>
                </a:cubicBezTo>
                <a:lnTo>
                  <a:pt x="111780" y="146597"/>
                </a:lnTo>
                <a:close/>
                <a:moveTo>
                  <a:pt x="109948" y="164922"/>
                </a:moveTo>
                <a:lnTo>
                  <a:pt x="36649" y="164922"/>
                </a:lnTo>
                <a:lnTo>
                  <a:pt x="36649" y="171030"/>
                </a:lnTo>
                <a:cubicBezTo>
                  <a:pt x="36649" y="187904"/>
                  <a:pt x="50316" y="201571"/>
                  <a:pt x="67190" y="201571"/>
                </a:cubicBezTo>
                <a:lnTo>
                  <a:pt x="79407" y="201571"/>
                </a:lnTo>
                <a:cubicBezTo>
                  <a:pt x="96281" y="201571"/>
                  <a:pt x="109948" y="187904"/>
                  <a:pt x="109948" y="171030"/>
                </a:cubicBezTo>
                <a:lnTo>
                  <a:pt x="109948" y="164922"/>
                </a:lnTo>
                <a:close/>
                <a:moveTo>
                  <a:pt x="70244" y="42758"/>
                </a:moveTo>
                <a:cubicBezTo>
                  <a:pt x="55050" y="42758"/>
                  <a:pt x="42758" y="55050"/>
                  <a:pt x="42758" y="70244"/>
                </a:cubicBezTo>
                <a:cubicBezTo>
                  <a:pt x="42758" y="75322"/>
                  <a:pt x="38673" y="79407"/>
                  <a:pt x="33595" y="79407"/>
                </a:cubicBezTo>
                <a:cubicBezTo>
                  <a:pt x="28518" y="79407"/>
                  <a:pt x="24433" y="75322"/>
                  <a:pt x="24433" y="70244"/>
                </a:cubicBezTo>
                <a:cubicBezTo>
                  <a:pt x="24433" y="44934"/>
                  <a:pt x="44934" y="24433"/>
                  <a:pt x="70244" y="24433"/>
                </a:cubicBezTo>
                <a:cubicBezTo>
                  <a:pt x="75322" y="24433"/>
                  <a:pt x="79407" y="28518"/>
                  <a:pt x="79407" y="33595"/>
                </a:cubicBezTo>
                <a:cubicBezTo>
                  <a:pt x="79407" y="38673"/>
                  <a:pt x="75322" y="42758"/>
                  <a:pt x="70244" y="42758"/>
                </a:cubicBezTo>
                <a:close/>
              </a:path>
            </a:pathLst>
          </a:custGeom>
          <a:solidFill>
            <a:srgbClr val="F5F3F0"/>
          </a:solidFill>
          <a:ln/>
        </p:spPr>
      </p:sp>
      <p:sp>
        <p:nvSpPr>
          <p:cNvPr id="22" name="Text 19"/>
          <p:cNvSpPr/>
          <p:nvPr/>
        </p:nvSpPr>
        <p:spPr>
          <a:xfrm>
            <a:off x="7774538" y="4862856"/>
            <a:ext cx="2329267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Generation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8610" y="5156050"/>
            <a:ext cx="2321122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6" dirty="0">
                <a:solidFill>
                  <a:srgbClr val="F5F3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recommendations for strategic decisions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146020" y="5876827"/>
            <a:ext cx="7899960" cy="79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83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analysis highlights category performance, outlet segmentation, and temporal trends to support strategic decision-making. </a:t>
            </a:r>
            <a:pPr algn="ctr">
              <a:lnSpc>
                <a:spcPct val="140000"/>
              </a:lnSpc>
            </a:pPr>
            <a:r>
              <a:rPr lang="en-US" sz="1283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analytical improvement</a:t>
            </a:r>
            <a:pPr algn="ctr">
              <a:lnSpc>
                <a:spcPct val="140000"/>
              </a:lnSpc>
            </a:pPr>
            <a:r>
              <a:rPr lang="en-US" sz="1283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283" b="1" dirty="0">
                <a:solidFill>
                  <a:srgbClr val="C75D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retail optimization</a:t>
            </a:r>
            <a:pPr algn="ctr">
              <a:lnSpc>
                <a:spcPct val="140000"/>
              </a:lnSpc>
            </a:pPr>
            <a:r>
              <a:rPr lang="en-US" sz="1283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drive Blinkit's competitive advantage.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54444" y="7725574"/>
            <a:ext cx="195463" cy="195463"/>
          </a:xfrm>
          <a:custGeom>
            <a:avLst/>
            <a:gdLst/>
            <a:ahLst/>
            <a:cxnLst/>
            <a:rect l="l" t="t" r="r" b="b"/>
            <a:pathLst>
              <a:path w="195463" h="195463">
                <a:moveTo>
                  <a:pt x="12216" y="12216"/>
                </a:moveTo>
                <a:cubicBezTo>
                  <a:pt x="18974" y="12216"/>
                  <a:pt x="24433" y="17676"/>
                  <a:pt x="24433" y="24433"/>
                </a:cubicBezTo>
                <a:lnTo>
                  <a:pt x="24433" y="152705"/>
                </a:lnTo>
                <a:cubicBezTo>
                  <a:pt x="24433" y="156065"/>
                  <a:pt x="27182" y="158814"/>
                  <a:pt x="30541" y="158814"/>
                </a:cubicBezTo>
                <a:lnTo>
                  <a:pt x="183246" y="158814"/>
                </a:lnTo>
                <a:cubicBezTo>
                  <a:pt x="190004" y="158814"/>
                  <a:pt x="195463" y="164273"/>
                  <a:pt x="195463" y="171030"/>
                </a:cubicBezTo>
                <a:cubicBezTo>
                  <a:pt x="195463" y="177787"/>
                  <a:pt x="190004" y="183246"/>
                  <a:pt x="183246" y="183246"/>
                </a:cubicBezTo>
                <a:lnTo>
                  <a:pt x="30541" y="183246"/>
                </a:lnTo>
                <a:cubicBezTo>
                  <a:pt x="13667" y="183246"/>
                  <a:pt x="0" y="169579"/>
                  <a:pt x="0" y="152705"/>
                </a:cubicBezTo>
                <a:lnTo>
                  <a:pt x="0" y="24433"/>
                </a:lnTo>
                <a:cubicBezTo>
                  <a:pt x="0" y="17676"/>
                  <a:pt x="5459" y="12216"/>
                  <a:pt x="12216" y="12216"/>
                </a:cubicBezTo>
                <a:close/>
                <a:moveTo>
                  <a:pt x="48866" y="36649"/>
                </a:moveTo>
                <a:cubicBezTo>
                  <a:pt x="48866" y="29892"/>
                  <a:pt x="54325" y="24433"/>
                  <a:pt x="61082" y="24433"/>
                </a:cubicBezTo>
                <a:lnTo>
                  <a:pt x="134381" y="24433"/>
                </a:lnTo>
                <a:cubicBezTo>
                  <a:pt x="141138" y="24433"/>
                  <a:pt x="146597" y="29892"/>
                  <a:pt x="146597" y="36649"/>
                </a:cubicBezTo>
                <a:cubicBezTo>
                  <a:pt x="146597" y="43407"/>
                  <a:pt x="141138" y="48866"/>
                  <a:pt x="134381" y="48866"/>
                </a:cubicBezTo>
                <a:lnTo>
                  <a:pt x="61082" y="48866"/>
                </a:lnTo>
                <a:cubicBezTo>
                  <a:pt x="54325" y="48866"/>
                  <a:pt x="48866" y="43407"/>
                  <a:pt x="48866" y="36649"/>
                </a:cubicBezTo>
                <a:close/>
                <a:moveTo>
                  <a:pt x="61082" y="67190"/>
                </a:moveTo>
                <a:lnTo>
                  <a:pt x="109948" y="67190"/>
                </a:lnTo>
                <a:cubicBezTo>
                  <a:pt x="116705" y="67190"/>
                  <a:pt x="122164" y="72650"/>
                  <a:pt x="122164" y="79407"/>
                </a:cubicBezTo>
                <a:cubicBezTo>
                  <a:pt x="122164" y="86164"/>
                  <a:pt x="116705" y="91623"/>
                  <a:pt x="109948" y="91623"/>
                </a:cubicBezTo>
                <a:lnTo>
                  <a:pt x="61082" y="91623"/>
                </a:lnTo>
                <a:cubicBezTo>
                  <a:pt x="54325" y="91623"/>
                  <a:pt x="48866" y="86164"/>
                  <a:pt x="48866" y="79407"/>
                </a:cubicBezTo>
                <a:cubicBezTo>
                  <a:pt x="48866" y="72650"/>
                  <a:pt x="54325" y="67190"/>
                  <a:pt x="61082" y="67190"/>
                </a:cubicBezTo>
                <a:close/>
                <a:moveTo>
                  <a:pt x="61082" y="109948"/>
                </a:moveTo>
                <a:lnTo>
                  <a:pt x="158814" y="109948"/>
                </a:lnTo>
                <a:cubicBezTo>
                  <a:pt x="165571" y="109948"/>
                  <a:pt x="171030" y="115407"/>
                  <a:pt x="171030" y="122164"/>
                </a:cubicBezTo>
                <a:cubicBezTo>
                  <a:pt x="171030" y="128922"/>
                  <a:pt x="165571" y="134381"/>
                  <a:pt x="158814" y="134381"/>
                </a:cubicBezTo>
                <a:lnTo>
                  <a:pt x="61082" y="134381"/>
                </a:lnTo>
                <a:cubicBezTo>
                  <a:pt x="54325" y="134381"/>
                  <a:pt x="48866" y="128922"/>
                  <a:pt x="48866" y="122164"/>
                </a:cubicBezTo>
                <a:cubicBezTo>
                  <a:pt x="48866" y="115407"/>
                  <a:pt x="54325" y="109948"/>
                  <a:pt x="61082" y="109948"/>
                </a:cubicBez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6" name="Text 23"/>
          <p:cNvSpPr/>
          <p:nvPr/>
        </p:nvSpPr>
        <p:spPr>
          <a:xfrm>
            <a:off x="3935422" y="7709285"/>
            <a:ext cx="119721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Analysis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355379" y="7725574"/>
            <a:ext cx="8144" cy="195463"/>
          </a:xfrm>
          <a:custGeom>
            <a:avLst/>
            <a:gdLst/>
            <a:ahLst/>
            <a:cxnLst/>
            <a:rect l="l" t="t" r="r" b="b"/>
            <a:pathLst>
              <a:path w="8144" h="195463">
                <a:moveTo>
                  <a:pt x="0" y="0"/>
                </a:moveTo>
                <a:lnTo>
                  <a:pt x="8144" y="0"/>
                </a:lnTo>
                <a:lnTo>
                  <a:pt x="8144" y="195463"/>
                </a:lnTo>
                <a:lnTo>
                  <a:pt x="0" y="195463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3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660790" y="7725574"/>
            <a:ext cx="171030" cy="195463"/>
          </a:xfrm>
          <a:custGeom>
            <a:avLst/>
            <a:gdLst/>
            <a:ahLst/>
            <a:cxnLst/>
            <a:rect l="l" t="t" r="r" b="b"/>
            <a:pathLst>
              <a:path w="171030" h="195463">
                <a:moveTo>
                  <a:pt x="48866" y="0"/>
                </a:moveTo>
                <a:cubicBezTo>
                  <a:pt x="42109" y="0"/>
                  <a:pt x="36649" y="5459"/>
                  <a:pt x="36649" y="12216"/>
                </a:cubicBezTo>
                <a:lnTo>
                  <a:pt x="36649" y="24433"/>
                </a:lnTo>
                <a:lnTo>
                  <a:pt x="24433" y="24433"/>
                </a:lnTo>
                <a:cubicBezTo>
                  <a:pt x="10957" y="24433"/>
                  <a:pt x="0" y="35389"/>
                  <a:pt x="0" y="48866"/>
                </a:cubicBezTo>
                <a:lnTo>
                  <a:pt x="0" y="67190"/>
                </a:lnTo>
                <a:lnTo>
                  <a:pt x="171030" y="67190"/>
                </a:lnTo>
                <a:lnTo>
                  <a:pt x="171030" y="48866"/>
                </a:lnTo>
                <a:cubicBezTo>
                  <a:pt x="171030" y="35389"/>
                  <a:pt x="160073" y="24433"/>
                  <a:pt x="146597" y="24433"/>
                </a:cubicBezTo>
                <a:lnTo>
                  <a:pt x="134381" y="24433"/>
                </a:lnTo>
                <a:lnTo>
                  <a:pt x="134381" y="12216"/>
                </a:lnTo>
                <a:cubicBezTo>
                  <a:pt x="134381" y="5459"/>
                  <a:pt x="128922" y="0"/>
                  <a:pt x="122164" y="0"/>
                </a:cubicBezTo>
                <a:cubicBezTo>
                  <a:pt x="115407" y="0"/>
                  <a:pt x="109948" y="5459"/>
                  <a:pt x="109948" y="12216"/>
                </a:cubicBezTo>
                <a:lnTo>
                  <a:pt x="109948" y="24433"/>
                </a:lnTo>
                <a:lnTo>
                  <a:pt x="61082" y="24433"/>
                </a:lnTo>
                <a:lnTo>
                  <a:pt x="61082" y="12216"/>
                </a:lnTo>
                <a:cubicBezTo>
                  <a:pt x="61082" y="5459"/>
                  <a:pt x="55623" y="0"/>
                  <a:pt x="48866" y="0"/>
                </a:cubicBezTo>
                <a:close/>
                <a:moveTo>
                  <a:pt x="0" y="85515"/>
                </a:moveTo>
                <a:lnTo>
                  <a:pt x="0" y="158814"/>
                </a:lnTo>
                <a:cubicBezTo>
                  <a:pt x="0" y="172290"/>
                  <a:pt x="10957" y="183246"/>
                  <a:pt x="24433" y="183246"/>
                </a:cubicBezTo>
                <a:lnTo>
                  <a:pt x="146597" y="183246"/>
                </a:lnTo>
                <a:cubicBezTo>
                  <a:pt x="160073" y="183246"/>
                  <a:pt x="171030" y="172290"/>
                  <a:pt x="171030" y="158814"/>
                </a:cubicBezTo>
                <a:lnTo>
                  <a:pt x="171030" y="85515"/>
                </a:lnTo>
                <a:lnTo>
                  <a:pt x="0" y="85515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29" name="Text 26"/>
          <p:cNvSpPr/>
          <p:nvPr/>
        </p:nvSpPr>
        <p:spPr>
          <a:xfrm>
            <a:off x="5929551" y="7709285"/>
            <a:ext cx="90401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2025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59978" y="7725574"/>
            <a:ext cx="8144" cy="195463"/>
          </a:xfrm>
          <a:custGeom>
            <a:avLst/>
            <a:gdLst/>
            <a:ahLst/>
            <a:cxnLst/>
            <a:rect l="l" t="t" r="r" b="b"/>
            <a:pathLst>
              <a:path w="8144" h="195463">
                <a:moveTo>
                  <a:pt x="0" y="0"/>
                </a:moveTo>
                <a:lnTo>
                  <a:pt x="8144" y="0"/>
                </a:lnTo>
                <a:lnTo>
                  <a:pt x="8144" y="195463"/>
                </a:lnTo>
                <a:lnTo>
                  <a:pt x="0" y="195463"/>
                </a:lnTo>
                <a:lnTo>
                  <a:pt x="0" y="0"/>
                </a:lnTo>
                <a:close/>
              </a:path>
            </a:pathLst>
          </a:custGeom>
          <a:solidFill>
            <a:srgbClr val="F5F3F0">
              <a:alpha val="3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365389" y="7725574"/>
            <a:ext cx="171030" cy="195463"/>
          </a:xfrm>
          <a:custGeom>
            <a:avLst/>
            <a:gdLst/>
            <a:ahLst/>
            <a:cxnLst/>
            <a:rect l="l" t="t" r="r" b="b"/>
            <a:pathLst>
              <a:path w="171030" h="195463">
                <a:moveTo>
                  <a:pt x="85515" y="94677"/>
                </a:moveTo>
                <a:cubicBezTo>
                  <a:pt x="110799" y="94677"/>
                  <a:pt x="131327" y="74150"/>
                  <a:pt x="131327" y="48866"/>
                </a:cubicBezTo>
                <a:cubicBezTo>
                  <a:pt x="131327" y="23582"/>
                  <a:pt x="110799" y="3054"/>
                  <a:pt x="85515" y="3054"/>
                </a:cubicBezTo>
                <a:cubicBezTo>
                  <a:pt x="60231" y="3054"/>
                  <a:pt x="39703" y="23582"/>
                  <a:pt x="39703" y="48866"/>
                </a:cubicBezTo>
                <a:cubicBezTo>
                  <a:pt x="39703" y="74150"/>
                  <a:pt x="60231" y="94677"/>
                  <a:pt x="85515" y="94677"/>
                </a:cubicBezTo>
                <a:close/>
                <a:moveTo>
                  <a:pt x="74177" y="116056"/>
                </a:moveTo>
                <a:cubicBezTo>
                  <a:pt x="36573" y="116056"/>
                  <a:pt x="6108" y="146521"/>
                  <a:pt x="6108" y="184125"/>
                </a:cubicBezTo>
                <a:cubicBezTo>
                  <a:pt x="6108" y="190385"/>
                  <a:pt x="11186" y="195463"/>
                  <a:pt x="17447" y="195463"/>
                </a:cubicBezTo>
                <a:lnTo>
                  <a:pt x="153583" y="195463"/>
                </a:lnTo>
                <a:cubicBezTo>
                  <a:pt x="159844" y="195463"/>
                  <a:pt x="164922" y="190385"/>
                  <a:pt x="164922" y="184125"/>
                </a:cubicBezTo>
                <a:cubicBezTo>
                  <a:pt x="164922" y="146521"/>
                  <a:pt x="134457" y="116056"/>
                  <a:pt x="96853" y="116056"/>
                </a:cubicBezTo>
                <a:lnTo>
                  <a:pt x="74177" y="116056"/>
                </a:lnTo>
                <a:close/>
              </a:path>
            </a:pathLst>
          </a:custGeom>
          <a:solidFill>
            <a:srgbClr val="C75D48"/>
          </a:solidFill>
          <a:ln/>
        </p:spPr>
      </p:sp>
      <p:sp>
        <p:nvSpPr>
          <p:cNvPr id="32" name="Text 29"/>
          <p:cNvSpPr/>
          <p:nvPr/>
        </p:nvSpPr>
        <p:spPr>
          <a:xfrm>
            <a:off x="7634151" y="7709285"/>
            <a:ext cx="96102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Hathim Manaf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046220" y="6141277"/>
            <a:ext cx="282227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Sales Analysis</dc:title>
  <dc:subject>Blinkit Sales Analysis</dc:subject>
  <dc:creator>Kimi</dc:creator>
  <cp:lastModifiedBy>Kimi</cp:lastModifiedBy>
  <cp:revision>1</cp:revision>
  <dcterms:created xsi:type="dcterms:W3CDTF">2026-01-23T13:23:06Z</dcterms:created>
  <dcterms:modified xsi:type="dcterms:W3CDTF">2026-01-23T13:23:06Z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{"Label":"Blinkit Sales Analysis","ContentProducer":"001191110108MACG2KBH8F10000","ProduceID":"19beae42-c842-82c5-8000-000096d67740","ReservedCode1":"","ContentPropagator":"001191110108MACG2KBH8F20000","PropagateID":"19beae42-c842-82c5-8000-000096d67740","ReservedCode2":""}</vt:lpwstr>
  </property>
</Properties>
</file>